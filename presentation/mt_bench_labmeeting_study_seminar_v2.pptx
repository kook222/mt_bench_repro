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 발표는 두 가지를 동시에 하려는 자리입니다.</a:t>
            </a:r>
          </a:p>
          <a:p>
            <a:r>
              <a:t>첫째는 베이스 논문인 MT-Bench/Chatbot Arena 논문이 정확히 무엇을 제안했는지 다시 이해하는 논문 스터디이고,</a:t>
            </a:r>
          </a:p>
          <a:p>
            <a:r>
              <a:t>둘째는 제가 그 위에서 어떤 재현과 확장을 했는지를 보여드리는 랩미팅입니다.</a:t>
            </a:r>
          </a:p>
          <a:p/>
          <a:p>
            <a:r>
              <a:t>그래서 발표 구조도 의도적으로 두 층으로 나눴습니다. 먼저 원 논문이 왜 등장했는지,</a:t>
            </a:r>
          </a:p>
          <a:p>
            <a:r>
              <a:t>MT-Bench와 LLM-as-a-Judge가 어떤 문제를 풀려고 했는지 설명한 다음,</a:t>
            </a:r>
          </a:p>
          <a:p>
            <a:r>
              <a:t>그다음부터는 제 Git 저장소 기준으로 phase별 실험을 따라가겠습니다.</a:t>
            </a:r>
          </a:p>
          <a:p/>
          <a:p>
            <a:r>
              <a:t>오늘의 핵심 메시지는 세 가지입니다.</a:t>
            </a:r>
          </a:p>
          <a:p>
            <a:r>
              <a:t>첫째, 오픈소스 judge도 크기를 키우면 꽤 일관된 평가자가 될 수 있습니다.</a:t>
            </a:r>
          </a:p>
          <a:p>
            <a:r>
              <a:t>둘째, 다만 inconsistency가 줄어드는 것과 공정성이 높아지는 것은 같은 말이 아닙니다.</a:t>
            </a:r>
          </a:p>
          <a:p>
            <a:r>
              <a:t>셋째, 문항 수를 줄이는 문제는 same-set에서는 40문항이 강하지만,</a:t>
            </a:r>
          </a:p>
          <a:p>
            <a:r>
              <a:t>반복 hold-out으로 보면 60문항이 더 안전한 운영점이라는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사실상 청중의 집중을 정렬하는 슬라이드입니다.</a:t>
            </a:r>
          </a:p>
          <a:p>
            <a:r>
              <a:t>교수님이나 심사위원이 가장 불편해하는 건 발표자가 논문 설명과 자기 결과를 뒤섞어버리는 경우입니다.</a:t>
            </a:r>
          </a:p>
          <a:p>
            <a:r>
              <a:t>그래서 저는 먼저 베이스 논문을 독립적으로 설명하고, 그다음에 제 실험을 얹는 구조로 가겠습니다.</a:t>
            </a:r>
          </a:p>
          <a:p/>
          <a:p>
            <a:r>
              <a:t>1부에서는 원 논문이 왜 기존 벤치마크를 문제 삼았는지, MT-Bench와 Chatbot Arena를 왜 만들었는지,</a:t>
            </a:r>
          </a:p>
          <a:p>
            <a:r>
              <a:t>그리고 GPT-4 judge를 어떻게 검증했는지를 짚겠습니다.</a:t>
            </a:r>
          </a:p>
          <a:p>
            <a:r>
              <a:t>2부에서는 제 Git 저장소 관점에서 파이프라인을 설명합니다. 어떤 코드가 있고, 어떤 phase가 있고,</a:t>
            </a:r>
          </a:p>
          <a:p>
            <a:r>
              <a:t>어디까지가 재현이고 어디부터가 확장인지 분리해서 말씀드리겠습니다.</a:t>
            </a:r>
          </a:p>
          <a:p>
            <a:r>
              <a:t>3부에서는 결과 해석과 결론입니다. 특히 same-set 결과와 repeated hold-out 결과를 분리해서 읽는 법,</a:t>
            </a:r>
          </a:p>
          <a:p>
            <a:r>
              <a:t>그리고 제가 이 연구를 어디까지 주장하고 어디서부터는 주장하지 않는지까지 솔직하게 정리하겠습니다.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 논문은 아주 명확한 문제의식에서 출발합니다.</a:t>
            </a:r>
          </a:p>
          <a:p>
            <a:r>
              <a:t>기존 LLM 벤치마크, 예를 들어 MMLU나 HELM류는 모델의 핵심 능력을 보긴 하지만,</a:t>
            </a:r>
          </a:p>
          <a:p>
            <a:r>
              <a:t>사용자가 실제로 좋아하는 대화형 응답 품질과는 어긋나는 경우가 많다는 겁니다.</a:t>
            </a:r>
          </a:p>
          <a:p/>
          <a:p>
            <a:r>
              <a:t>예를 들어 instruction following, multi-turn consistency, 답변의 유용성 같은 건</a:t>
            </a:r>
          </a:p>
          <a:p>
            <a:r>
              <a:t>정답이 하나로 떨어지는 객관식 점수만으로는 잘 측정되지 않습니다.</a:t>
            </a:r>
          </a:p>
          <a:p>
            <a:r>
              <a:t>그렇다고 사람 평가만 계속 하자니 비용과 시간이 너무 큽니다.</a:t>
            </a:r>
          </a:p>
          <a:p/>
          <a:p>
            <a:r>
              <a:t>그래서 이 논문은 강한 LLM, 당시에는 GPT-4를 judge로 써서</a:t>
            </a:r>
          </a:p>
          <a:p>
            <a:r>
              <a:t>인간 선호를 근사할 수 있는지 체계적으로 보자고 합니다.</a:t>
            </a:r>
          </a:p>
          <a:p>
            <a:r>
              <a:t>즉 질문 자체가 “LLM이 다른 LLM을 채점해도 되나?”가 아니라,</a:t>
            </a:r>
          </a:p>
          <a:p>
            <a:r>
              <a:t>“그 판단이 인간 선호와 어느 정도까지 맞느냐”에 가깝습니다.</a:t>
            </a:r>
          </a:p>
          <a:p/>
          <a:p>
            <a:r>
              <a:t>이때 만든 핵심 자산이 MT-Bench와 Chatbot Arena입니다.</a:t>
            </a:r>
          </a:p>
          <a:p>
            <a:r>
              <a:t>MT-Bench는 8개 카테고리의 80문항 multi-turn benchmark이고,</a:t>
            </a:r>
          </a:p>
          <a:p>
            <a:r>
              <a:t>Arena는 실제 사용자가 익명으로 두 모델 중 더 나은 답변에 투표하는 플랫폼입니다.</a:t>
            </a:r>
          </a:p>
          <a:p>
            <a:r>
              <a:t>즉 원 논문은 benchmark 하나를 제안한 게 아니라,</a:t>
            </a:r>
          </a:p>
          <a:p>
            <a:r>
              <a:t>controlled benchmark와 wild preference data를 동시에 만든 논문입니다.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원 논문에서 우리가 기억해야 할 프로토콜과 핵심 수치를 한 번에 정리하는 슬라이드입니다.</a:t>
            </a:r>
          </a:p>
          <a:p>
            <a:r>
              <a:t>발표에서 여기까지가 사실상 논문 스터디 파트의 핵심입니다.</a:t>
            </a:r>
          </a:p>
          <a:p/>
          <a:p>
            <a:r>
              <a:t>첫째, MT-Bench 점수와 Arena human preference가 높은 상관을 보였다는 점.</a:t>
            </a:r>
          </a:p>
          <a:p>
            <a:r>
              <a:t>이게 원 논문이 영향력을 얻은 가장 큰 이유입니다.</a:t>
            </a:r>
          </a:p>
          <a:p>
            <a:r>
              <a:t>둘째, single-answer grading과 pairwise ranking이 대체로 수렴한다는 점.</a:t>
            </a:r>
          </a:p>
          <a:p>
            <a:r>
              <a:t>셋째, hard category에서 모델 간 차이가 더 크게 드러난다는 점입니다.</a:t>
            </a:r>
          </a:p>
          <a:p/>
          <a:p>
            <a:r>
              <a:t>그런데 이 세 결론을 곧바로 ‘judge는 믿어도 된다’로 읽으면 안 됩니다.</a:t>
            </a:r>
          </a:p>
          <a:p>
            <a:r>
              <a:t>논문도 bias를 아주 분명히 분석했고, 특히 position bias와 verbosity bias를 숨기지 않았습니다.</a:t>
            </a:r>
          </a:p>
          <a:p>
            <a:r>
              <a:t>즉 원 논문은 perfect judge를 선언한 게 아니라, usable surrogate를 제안한 겁니다.</a:t>
            </a:r>
          </a:p>
          <a:p/>
          <a:p>
            <a:r>
              <a:t>이 발표에서 제 실험은 바로 이 usable surrogate라는 표현을 오픈소스 judge 맥락에서 다시 묻는 작업입니다.</a:t>
            </a:r>
          </a:p>
          <a:p>
            <a:r>
              <a:t>즉, GPT-4에서는 usable했는데 Qwen/InternLM/GPT-4o-mini의 조합에서는 어디까지 usable한가를 보는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베이스 논문 설명과 제 실험 설명 사이의 브리지입니다.</a:t>
            </a:r>
          </a:p>
          <a:p>
            <a:r>
              <a:t>청중 입장에서는 여기서 ‘그래서 도대체 어디까지가 재현이고, 어디부터가 새로운 분석이냐’를 알고 싶어합니다.</a:t>
            </a:r>
          </a:p>
          <a:p/>
          <a:p>
            <a:r>
              <a:t>그대로 가져온 요소는 명확합니다.</a:t>
            </a:r>
          </a:p>
          <a:p>
            <a:r>
              <a:t>MT-Bench 80문항, single-grade, pairwise, reference-guided grading이라는 세 가지 judge 프로토콜,</a:t>
            </a:r>
          </a:p>
          <a:p>
            <a:r>
              <a:t>그리고 conservative한 pairwise 해석 철학은 전부 원 논문에서 그대로 이어받았습니다.</a:t>
            </a:r>
          </a:p>
          <a:p/>
          <a:p>
            <a:r>
              <a:t>바꾼 부분도 분명합니다.</a:t>
            </a:r>
          </a:p>
          <a:p>
            <a:r>
              <a:t>judge를 GPT-4 하나로 고정하지 않고, 오픈소스 Qwen/InternLM과 외부 API judge인 GPT-4o-mini까지 붙였습니다.</a:t>
            </a:r>
          </a:p>
          <a:p>
            <a:r>
              <a:t>그리고 결과를 논문 표 수준이 아니라 raw JSONL, aggregated CSV, figure까지 모두 저장해서</a:t>
            </a:r>
          </a:p>
          <a:p>
            <a:r>
              <a:t>다시 계산 가능한 형태로 만들었습니다.</a:t>
            </a:r>
          </a:p>
          <a:p/>
          <a:p>
            <a:r>
              <a:t>마지막으로 확장한 질문이 있습니다.</a:t>
            </a:r>
          </a:p>
          <a:p>
            <a:r>
              <a:t>judge scaling, residual position bias, abstain ensemble, tinyMT-Bench, exhaustive hold-out은</a:t>
            </a:r>
          </a:p>
          <a:p>
            <a:r>
              <a:t>원 논문이 직접 답하지 않았던 질문들입니다.</a:t>
            </a:r>
          </a:p>
          <a:p>
            <a:r>
              <a:t>즉 제 작업은 재현으로 시작하지만, 발표의 후반부는 재현 결과 위에 얹은 실증 확장이라고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결과보다도 재현성에 관한 슬라이드입니다.</a:t>
            </a:r>
          </a:p>
          <a:p>
            <a:r>
              <a:t>심사나 랩미팅에서 자주 받는 질문이 “그래서 이건 한 번 돌린 실험인가, 아니면 다시 재현 가능한가?”입니다.</a:t>
            </a:r>
          </a:p>
          <a:p/>
          <a:p>
            <a:r>
              <a:t>제 저장소는 그 점을 의식해서 구성했습니다.</a:t>
            </a:r>
          </a:p>
          <a:p>
            <a:r>
              <a:t>src 안에는 judge client, prompt, aggregation, CLI가 있고,</a:t>
            </a:r>
          </a:p>
          <a:p>
            <a:r>
              <a:t>scripts 안에는 generation, judge 실행, phase별 분석, 발표용 재집계가 있습니다.</a:t>
            </a:r>
          </a:p>
          <a:p>
            <a:r>
              <a:t>data는 raw answer와 judgment, summary csv를 분리해 놓았고,</a:t>
            </a:r>
          </a:p>
          <a:p>
            <a:r>
              <a:t>figures는 논문과 발표에 직접 들어가는 그림을 다시 생성할 수 있게 관리했습니다.</a:t>
            </a:r>
          </a:p>
          <a:p/>
          <a:p>
            <a:r>
              <a:t>즉 이 repo는 결과를 예쁘게 모아둔 폴더가 아니라,</a:t>
            </a:r>
          </a:p>
          <a:p>
            <a:r>
              <a:t>질문 생성부터 평가, 집계, figure, 원고까지 연결되는 end-to-end 실험 환경입니다.</a:t>
            </a:r>
          </a:p>
          <a:p>
            <a:r>
              <a:t>나중에 마지막 슬라이드에서 다시 보겠지만,</a:t>
            </a:r>
          </a:p>
          <a:p>
            <a:r>
              <a:t>이 구조 덕분에 Phase 6 hold-out도 추가 GPU 없이 재분석만으로 강화할 수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발표 이후를 위한 안내서입니다.</a:t>
            </a:r>
          </a:p>
          <a:p>
            <a:r>
              <a:t>랩미팅이 끝나면 보통 교수님이나 동료가 저장소를 직접 열어보게 되는데,</a:t>
            </a:r>
          </a:p>
          <a:p>
            <a:r>
              <a:t>그때 어디부터 봐야 하는지 모르면 좋은 repo도 금방 피곤해집니다.</a:t>
            </a:r>
          </a:p>
          <a:p/>
          <a:p>
            <a:r>
              <a:t>그래서 저는 산출물을 읽는 경로를 일부러 단순하게 만들었습니다.</a:t>
            </a:r>
          </a:p>
          <a:p>
            <a:r>
              <a:t>README는 서사와 핵심 메시지, data는 raw answer와 judgment, summary CSV,</a:t>
            </a:r>
          </a:p>
          <a:p>
            <a:r>
              <a:t>figures는 발표와 논문에 들어가는 시각화, paper는 원고와 PDF,</a:t>
            </a:r>
          </a:p>
          <a:p>
            <a:r>
              <a:t>presentation은 오늘 발표 파일과 노트를 담습니다.</a:t>
            </a:r>
          </a:p>
          <a:p/>
          <a:p>
            <a:r>
              <a:t>실제로 검증이 필요할 때는 결론 문장 하나에서 출발해서</a:t>
            </a:r>
          </a:p>
          <a:p>
            <a:r>
              <a:t>해당 figure, 그 figure를 만든 CSV, 마지막으로 raw judgment JSONL까지 역으로 따라가면 됩니다.</a:t>
            </a:r>
          </a:p>
          <a:p>
            <a:r>
              <a:t>이건 단순 정리 습관이 아니라 연구 신뢰도를 높이는 설계라고 생각합니다.</a:t>
            </a:r>
          </a:p>
          <a:p/>
          <a:p>
            <a:r>
              <a:t>발표에서 이 슬라이드를 짧게라도 넣는 이유는,</a:t>
            </a:r>
          </a:p>
          <a:p>
            <a:r>
              <a:t>제 작업이 단순히 ‘결과가 좋다’가 아니라 ‘다시 확인 가능하다’는 점을 보여주기 위해서입니다.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발표 전체의 지도 역할을 합니다.</a:t>
            </a:r>
          </a:p>
          <a:p>
            <a:r>
              <a:t>Phase를 숫자로만 나열하면 지루해지기 쉬운데, 각 phase의 존재 이유를 기억해 두시면 뒤 슬라이드가 훨씬 잘 들어옵니다.</a:t>
            </a:r>
          </a:p>
          <a:p/>
          <a:p>
            <a:r>
              <a:t>Phase 1은 self-judge bias를 직접 확인하는 단계입니다.</a:t>
            </a:r>
          </a:p>
          <a:p>
            <a:r>
              <a:t>Phase 2는 외부 14B judge로 예비 sanity check를 하는 단계고,</a:t>
            </a:r>
          </a:p>
          <a:p>
            <a:r>
              <a:t>여기까지는 말 그대로 파이프라인이 제대로 도는지, 큰 그림이 맞는지 보는 준비운동입니다.</a:t>
            </a:r>
          </a:p>
          <a:p/>
          <a:p>
            <a:r>
              <a:t>진짜 메인은 Phase 3입니다. Qwen 7B, 14B, 32B를 같은 family 안에서 비교하면서</a:t>
            </a:r>
          </a:p>
          <a:p>
            <a:r>
              <a:t>judge scaling을 관찰합니다. Phase 4와 5는 여기서 나온 결과가 Qwen 고유 현상이 아닌지 보는 보조 검증입니다.</a:t>
            </a:r>
          </a:p>
          <a:p>
            <a:r>
              <a:t>마지막 Phase 6은 문항 축소 결과를 hold-out 모델에서도 다시 보는 단계입니다.</a:t>
            </a:r>
          </a:p>
          <a:p/>
          <a:p>
            <a:r>
              <a:t>이 발표에서는 Phase 3를 중심축으로 두고,</a:t>
            </a:r>
          </a:p>
          <a:p>
            <a:r>
              <a:t>Phase 4~6이 그 주장을 어디까지 보강하고 어디서부터는 한계를 드러내는지를 보여드리겠습니다.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1과 2는 메인 결과로 쓰기보다는,</a:t>
            </a:r>
          </a:p>
          <a:p>
            <a:r>
              <a:t>왜 이후의 실험이 필요한지를 보여주는 출발점입니다.</a:t>
            </a:r>
          </a:p>
          <a:p/>
          <a:p>
            <a:r>
              <a:t>먼저 self-judge를 해보면 Qwen2.5-7B가 자기 자신이나 유사 강점이 있는 카테고리를 높게 주는 경향이 드러납니다.</a:t>
            </a:r>
          </a:p>
          <a:p>
            <a:r>
              <a:t>특히 Math, Coding 쪽이 전형적입니다.</a:t>
            </a:r>
          </a:p>
          <a:p>
            <a:r>
              <a:t>이건 LLM-as-a-Judge를 쓸 때 가장 먼저 피해야 할 함정 중 하나입니다.</a:t>
            </a:r>
          </a:p>
          <a:p/>
          <a:p>
            <a:r>
              <a:t>그래서 외부 judge를 도입한 게 Phase 2입니다.</a:t>
            </a:r>
          </a:p>
          <a:p>
            <a:r>
              <a:t>그런데 외부 judge를 쓰는 것만으로 문제가 끝나지는 않습니다.</a:t>
            </a:r>
          </a:p>
          <a:p>
            <a:r>
              <a:t>서열은 어느 정도 정리되지만, pairwise inconsistency 자체는 여전히 큽니다.</a:t>
            </a:r>
          </a:p>
          <a:p>
            <a:r>
              <a:t>즉 “self-judge만 아니면 된다”가 아니라,</a:t>
            </a:r>
          </a:p>
          <a:p>
            <a:r>
              <a:t>judge의 크기, 아키텍처, prompt 안정성까지 같이 봐야 한다는 교훈을 줍니다.</a:t>
            </a:r>
          </a:p>
          <a:p/>
          <a:p>
            <a:r>
              <a:t>이 슬라이드의 결론은 단순합니다.</a:t>
            </a:r>
          </a:p>
          <a:p>
            <a:r>
              <a:t>Phase 1–2는 메인 claim이 아니라, 메인 실험을 설계하게 만든 문제 제기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발표의 중심입니다.</a:t>
            </a:r>
          </a:p>
          <a:p>
            <a:r>
              <a:t>제가 가장 강하게 주장할 수 있는 건 여기서 나온 same-family scaling 결과입니다.</a:t>
            </a:r>
          </a:p>
          <a:p/>
          <a:p>
            <a:r>
              <a:t>핵심 수치는 아주 단순합니다.</a:t>
            </a:r>
          </a:p>
          <a:p>
            <a:r>
              <a:t>Qwen judge를 7B에서 14B, 다시 32B로 키우면 pairwise inconsistency가 78.75%에서 32.86%까지 단조 감소합니다.</a:t>
            </a:r>
          </a:p>
          <a:p>
            <a:r>
              <a:t>이건 굉장히 큰 변화입니다.</a:t>
            </a:r>
          </a:p>
          <a:p>
            <a:r>
              <a:t>동시에 single-grade 점수 범위도 더 넓어지기 때문에 모델 간 차이를 구분하는 능력도 좋아집니다.</a:t>
            </a:r>
          </a:p>
          <a:p/>
          <a:p>
            <a:r>
              <a:t>다만 여기서 중요한 건 주장 수위를 지키는 겁니다.</a:t>
            </a:r>
          </a:p>
          <a:p>
            <a:r>
              <a:t>이건 `모든 judge에서 스케일링 법칙이 성립한다`가 아닙니다.</a:t>
            </a:r>
          </a:p>
          <a:p>
            <a:r>
              <a:t>정확히는 `Qwen2.5 동일 패밀리에서는 judge가 커질수록 inconsistency가 줄었다`는 empirical trend입니다.</a:t>
            </a:r>
          </a:p>
          <a:p/>
          <a:p>
            <a:r>
              <a:t>저는 발표에서도 이 표현을 일부러 보수적으로 쓰고 있습니다.</a:t>
            </a:r>
          </a:p>
          <a:p>
            <a:r>
              <a:t>왜냐하면 이 한 슬라이드가 아무리 강해도, 같은 family의 세 점만 갖고 universal law처럼 말하면 바로 공격 포인트가 되기 때문입니다.</a:t>
            </a:r>
          </a:p>
          <a:p>
            <a:r>
              <a:t>그래서 뒤의 Phase 4와 5는 이 메인 슬라이드를 보조하는 역할로 보시면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pairwise 결과와 single-grade 결과를 분리해서 읽게 해주는 슬라이드입니다.</a:t>
            </a:r>
          </a:p>
          <a:p>
            <a:r>
              <a:t>앞 슬라이드에서는 judge가 커질수록 inconsistency가 줄어든다는 점을 봤고,</a:t>
            </a:r>
          </a:p>
          <a:p>
            <a:r>
              <a:t>이 슬라이드에서는 그러면 모델 서열 자체는 얼마나 흔들리는지를 따로 봅니다.</a:t>
            </a:r>
          </a:p>
          <a:p/>
          <a:p>
            <a:r>
              <a:t>핵심은 생각보다 single-grade rank는 꽤 안정적이라는 점입니다.</a:t>
            </a:r>
          </a:p>
          <a:p>
            <a:r>
              <a:t>judge 7B, 14B, 32B를 바꿔도 상위권과 하위권의 큰 흐름은 유지됩니다.</a:t>
            </a:r>
          </a:p>
          <a:p>
            <a:r>
              <a:t>즉 작은 judge가 완전히 쓸모없는 게 아니라, broad rank sanity check 정도는 할 수 있다는 뜻입니다.</a:t>
            </a:r>
          </a:p>
          <a:p/>
          <a:p>
            <a:r>
              <a:t>문제는 거기서 멈추면 안 된다는 겁니다.</a:t>
            </a:r>
          </a:p>
          <a:p>
            <a:r>
              <a:t>single-grade broad rank가 유지된다고 해서 pairwise verdict 품질까지 좋은 것은 아닙니다.</a:t>
            </a:r>
          </a:p>
          <a:p>
            <a:r>
              <a:t>그래서 제가 이 발표 내내 single-grade rank consistency와 pairwise decision reliability를 분리해서 말하고 있습니다.</a:t>
            </a:r>
          </a:p>
          <a:p/>
          <a:p>
            <a:r>
              <a:t>이 슬라이드는 그 구분을 청중에게 명확히 남기는 역할을 합니다.</a:t>
            </a:r>
          </a:p>
          <a:p>
            <a:r>
              <a:t>그리고 뒤의 InternLM, GPT-4o-mini 슬라이드도 사실 이 프레임으로 읽는 게 맞습니다.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개인적으로 가장 흥미로운 결과입니다.</a:t>
            </a:r>
          </a:p>
          <a:p>
            <a:r>
              <a:t>많은 사람이 judge가 커지면 그냥 더 좋아진다고 생각하기 쉬운데,</a:t>
            </a:r>
          </a:p>
          <a:p>
            <a:r>
              <a:t>제가 본 건 조금 다릅니다.</a:t>
            </a:r>
          </a:p>
          <a:p/>
          <a:p>
            <a:r>
              <a:t>전체 inconsistency는 줄어듭니다. 그런데 남아 있는 불일치만 떼어 놓고 보면,</a:t>
            </a:r>
          </a:p>
          <a:p>
            <a:r>
              <a:t>그 대부분이 first-position bias와 연결됩니다.</a:t>
            </a:r>
          </a:p>
          <a:p>
            <a:r>
              <a:t>즉 작은 judge는 여기저기서 흔들리지만,</a:t>
            </a:r>
          </a:p>
          <a:p>
            <a:r>
              <a:t>큰 judge는 흔들리는 경우 자체는 줄어들되 남는 흔들림이 순서 민감성으로 집중된다는 뜻입니다.</a:t>
            </a:r>
          </a:p>
          <a:p/>
          <a:p>
            <a:r>
              <a:t>이건 해석상 중요한 포인트입니다.</a:t>
            </a:r>
          </a:p>
          <a:p>
            <a:r>
              <a:t>‘더 큰 judge = 더 공정한 judge’가 아니라,</a:t>
            </a:r>
          </a:p>
          <a:p>
            <a:r>
              <a:t>‘더 큰 judge = 더 일관된 judge, 하지만 남은 불일치의 구조는 더 편향적일 수 있음’입니다.</a:t>
            </a:r>
          </a:p>
          <a:p/>
          <a:p>
            <a:r>
              <a:t>오른쪽의 문항 변별도 결과는 다음 슬라이드들의 bridge입니다.</a:t>
            </a:r>
          </a:p>
          <a:p>
            <a:r>
              <a:t>Math, Coding, Reasoning에서 model score standard deviation이 크다는 건,</a:t>
            </a:r>
          </a:p>
          <a:p>
            <a:r>
              <a:t>이 문항들이 모델 서열을 가르는 데 더 유용하다는 의미입니다.</a:t>
            </a:r>
          </a:p>
          <a:p>
            <a:r>
              <a:t>즉 tinyMT-Bench는 갑자기 등장한 아이디어가 아니라,</a:t>
            </a:r>
          </a:p>
          <a:p>
            <a:r>
              <a:t>이 슬라이드의 변별도 분석에서 자연스럽게 이어진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실무적으로는 이 슬라이드가 제일 즉답형입니다.</a:t>
            </a:r>
          </a:p>
          <a:p>
            <a:r>
              <a:t>많은 사람이 작은 judge 여러 개를 합치면 큰 judge 하나보다 나아질 거라고 기대합니다.</a:t>
            </a:r>
          </a:p>
          <a:p>
            <a:r>
              <a:t>그런데 제 결과는 그렇지 않다고 말합니다.</a:t>
            </a:r>
          </a:p>
          <a:p/>
          <a:p>
            <a:r>
              <a:t>단순 다수결은 오히려 더 나빠집니다.</a:t>
            </a:r>
          </a:p>
          <a:p>
            <a:r>
              <a:t>왜냐하면 7B의 noisy한 inconsistent 표가 앙상블에 그대로 유입되기 때문입니다.</a:t>
            </a:r>
          </a:p>
          <a:p>
            <a:r>
              <a:t>이건 ensemble이 wisdom of crowds가 되려면 crowd 자체가 최소한의 품질을 가져야 한다는 걸 보여줍니다.</a:t>
            </a:r>
          </a:p>
          <a:p/>
          <a:p>
            <a:r>
              <a:t>반대로 abstain 방식은 좋았습니다.</a:t>
            </a:r>
          </a:p>
          <a:p>
            <a:r>
              <a:t>inconsistent를 억지로 표로 세지 않고 기권으로 처리하면,</a:t>
            </a:r>
          </a:p>
          <a:p>
            <a:r>
              <a:t>결정적인 표가 있는 경우에만 winner를 선언하게 되고,</a:t>
            </a:r>
          </a:p>
          <a:p>
            <a:r>
              <a:t>결국 inconsistency가 24.70%까지 내려갑니다.</a:t>
            </a:r>
          </a:p>
          <a:p/>
          <a:p>
            <a:r>
              <a:t>이 결과는 학술적으로도 흥미롭지만,</a:t>
            </a:r>
          </a:p>
          <a:p>
            <a:r>
              <a:t>실제로 judge system을 설계하는 입장에서는 더 유용합니다.</a:t>
            </a:r>
          </a:p>
          <a:p>
            <a:r>
              <a:t>즉 ‘모델 여러 개를 붙일 거면 voting rule부터 다시 설계하라’는 교훈을 줍니다.</a:t>
            </a:r>
          </a:p>
          <a:p>
            <a:r>
              <a:t>발표에서는 이 슬라이드를 practical takeaway로 강조하겠습니다.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4는 일부러 좋은 결과와 나쁜 결과를 같이 보여주는 슬라이드입니다.</a:t>
            </a:r>
          </a:p>
          <a:p>
            <a:r>
              <a:t>왜냐하면 이게 오히려 발표 전체의 신뢰도를 높이기 때문입니다.</a:t>
            </a:r>
          </a:p>
          <a:p/>
          <a:p>
            <a:r>
              <a:t>InternLM2.5-20B는 생각보다 괜찮습니다.</a:t>
            </a:r>
          </a:p>
          <a:p>
            <a:r>
              <a:t>Qwen32와 Spearman rho가 0.893이기 때문에,</a:t>
            </a:r>
          </a:p>
          <a:p>
            <a:r>
              <a:t>적어도 seen-7 수준에서는 ‘모델 서열의 큰 흐름’이 유지된다고 말할 수 있습니다.</a:t>
            </a:r>
          </a:p>
          <a:p/>
          <a:p>
            <a:r>
              <a:t>하지만 7B는 다릅니다.</a:t>
            </a:r>
          </a:p>
          <a:p>
            <a:r>
              <a:t>InternLM2.5-7B는 pairwise verdict format을 안정적으로 따르지 못해서,</a:t>
            </a:r>
          </a:p>
          <a:p>
            <a:r>
              <a:t>전체 record의 72.6%가 사실상 error로 남았습니다.</a:t>
            </a:r>
          </a:p>
          <a:p>
            <a:r>
              <a:t>이건 단순 파서 버그가 아니라, 작은 judge가 pairwise verdict prompt를 안정적으로 수행하지 못한 사례로 읽는 게 맞습니다.</a:t>
            </a:r>
          </a:p>
          <a:p/>
          <a:p>
            <a:r>
              <a:t>이 슬라이드에서 청중이 기억해야 할 건 하나입니다.</a:t>
            </a:r>
          </a:p>
          <a:p>
            <a:r>
              <a:t>cross-family 결과를 보여주는 건 중요하지만,</a:t>
            </a:r>
          </a:p>
          <a:p>
            <a:r>
              <a:t>그 자체가 곧 높은 품질을 의미하지는 않습니다.</a:t>
            </a:r>
          </a:p>
          <a:p>
            <a:r>
              <a:t>특히 작은 open-weight judge를 pairwise judge로 쓸 때는 ‘모델 크기’와 ‘verdict format compliance’를 반드시 같이 봐야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5는 제 발표에서 외적 타당성을 가장 강하게 받쳐주는 슬라이드입니다.</a:t>
            </a:r>
          </a:p>
          <a:p>
            <a:r>
              <a:t>GPT-4o-mini는 full GPT-4는 아니지만, 적어도 외부 API judge라는 기준점 역할은 충분히 합니다.</a:t>
            </a:r>
          </a:p>
          <a:p/>
          <a:p>
            <a:r>
              <a:t>여기서 중요한 숫자는 Qwen32와의 rank agreement입니다.</a:t>
            </a:r>
          </a:p>
          <a:p>
            <a:r>
              <a:t>Spearman 0.964, Kendall tau 0.905면 seen-7 모델 서열은 거의 같다고 봐도 됩니다.</a:t>
            </a:r>
          </a:p>
          <a:p>
            <a:r>
              <a:t>그리고 pairwise inconsistency도 34% 정도라 Qwen32와 사실상 비슷한 수준입니다.</a:t>
            </a:r>
          </a:p>
          <a:p/>
          <a:p>
            <a:r>
              <a:t>이 결과가 왜 중요하냐면,</a:t>
            </a:r>
          </a:p>
          <a:p>
            <a:r>
              <a:t>이제 저는 Qwen32 main result를 단순히 ‘Qwen family 안에서만 그럴 수 있다’고만 말하지 않아도 되기 때문입니다.</a:t>
            </a:r>
          </a:p>
          <a:p>
            <a:r>
              <a:t>적어도 외부 judge 하나를 붙였을 때 큰 서열 패턴은 유지된다는 걸 보였습니다.</a:t>
            </a:r>
          </a:p>
          <a:p/>
          <a:p>
            <a:r>
              <a:t>다만 여기도 해석을 분리해야 합니다.</a:t>
            </a:r>
          </a:p>
          <a:p>
            <a:r>
              <a:t>rank pattern consistency와 question-level decision consistency는 다릅니다.</a:t>
            </a:r>
          </a:p>
          <a:p>
            <a:r>
              <a:t>exact pairwise agreement는 0.58 수준이기 때문에,</a:t>
            </a:r>
          </a:p>
          <a:p>
            <a:r>
              <a:t>두 judge가 각 질문마다 똑같이 판단한다고 말하면 과장입니다.</a:t>
            </a:r>
          </a:p>
          <a:p>
            <a:r>
              <a:t>이 슬라이드의 메시지는 ‘외부 기준점에서도 큰 흐름은 유지된다’입니다.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여러 judge 결과를 실제 의사결정 문장으로 바꾸는 슬라이드입니다.</a:t>
            </a:r>
          </a:p>
          <a:p>
            <a:r>
              <a:t>개별 phase를 따로 보면 정보가 많은 대신, 청중은 결국 ‘그래서 무엇을 쓰면 되는데?’를 묻습니다.</a:t>
            </a:r>
          </a:p>
          <a:p/>
          <a:p>
            <a:r>
              <a:t>제 답은 비교적 분명합니다.</a:t>
            </a:r>
          </a:p>
          <a:p>
            <a:r>
              <a:t>메인 연구 결과를 만들 때는 32B급 judge가 필요합니다.</a:t>
            </a:r>
          </a:p>
          <a:p>
            <a:r>
              <a:t>그리고 그 결과가 완전히 family-specific artifact가 아닌지 보려면</a:t>
            </a:r>
          </a:p>
          <a:p>
            <a:r>
              <a:t>InternLM20B나 GPT-4o-mini 같은 보조 judge를 붙이는 게 좋습니다.</a:t>
            </a:r>
          </a:p>
          <a:p/>
          <a:p>
            <a:r>
              <a:t>반대로 InternLM7B는 이 발표에서 일부러 숨기지 않은 실패 사례입니다.</a:t>
            </a:r>
          </a:p>
          <a:p>
            <a:r>
              <a:t>single-grade 서열 확인은 가능하지만, pairwise verdict format 자체가 안정적이지 않아서</a:t>
            </a:r>
          </a:p>
          <a:p>
            <a:r>
              <a:t>메인 judge로 쓰면 안 됩니다.</a:t>
            </a:r>
          </a:p>
          <a:p/>
          <a:p>
            <a:r>
              <a:t>즉 이 슬라이드는 모델 비교 결과이면서 동시에 judge selection guideline입니다.</a:t>
            </a:r>
          </a:p>
          <a:p>
            <a:r>
              <a:t>랩미팅에서는 이 practical takeaway가 꽤 중요하다고 생각합니다.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문항 축소 결과의 출발점입니다.</a:t>
            </a:r>
          </a:p>
          <a:p>
            <a:r>
              <a:t>same-set이라는 건, 문항을 고를 때 쓴 모델 집합과 검증할 때 쓴 모델 집합이 같은 경우입니다.</a:t>
            </a:r>
          </a:p>
          <a:p>
            <a:r>
              <a:t>이 설정에서는 Top-Disc-40이 full-80 ranking을 완전히 보존했습니다.</a:t>
            </a:r>
          </a:p>
          <a:p/>
          <a:p>
            <a:r>
              <a:t>그래서 초기에는 아주 매력적인 결과처럼 보입니다.</a:t>
            </a:r>
          </a:p>
          <a:p>
            <a:r>
              <a:t>80문항을 40문항으로 줄이면 비용을 절반으로 줄이면서도 순위는 그대로니까요.</a:t>
            </a:r>
          </a:p>
          <a:p>
            <a:r>
              <a:t>Top-Disc-25도 꽤 좋지만 0.964라는 건 실제로는 1개 순위 역전에 해당합니다.</a:t>
            </a:r>
          </a:p>
          <a:p/>
          <a:p>
            <a:r>
              <a:t>다만 제가 same-set upper bound라는 표현을 계속 쓰는 이유는,</a:t>
            </a:r>
          </a:p>
          <a:p>
            <a:r>
              <a:t>이 결과가 선택과 검증을 같은 모델 집합에서 했기 때문입니다.</a:t>
            </a:r>
          </a:p>
          <a:p>
            <a:r>
              <a:t>즉 좋은 결과 자체는 사실이지만,</a:t>
            </a:r>
          </a:p>
          <a:p>
            <a:r>
              <a:t>이걸 곧바로 외부 일반화로 읽으면 안 됩니다.</a:t>
            </a:r>
          </a:p>
          <a:p/>
          <a:p>
            <a:r>
              <a:t>그래서 다음 슬라이드가 중요합니다.</a:t>
            </a:r>
          </a:p>
          <a:p>
            <a:r>
              <a:t>same-set에서는 40문항이 예쁘게 나오지만,</a:t>
            </a:r>
          </a:p>
          <a:p>
            <a:r>
              <a:t>hold-out으로 가면 메시지가 조금 달라집니다.</a:t>
            </a:r>
          </a:p>
          <a:p>
            <a:r>
              <a:t>그리고 그 차이를 정직하게 보여주는 게 이 발표의 중요한 미덕이라고 생각합니다.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이번 작업에서 가장 크게 업그레이드된 부분입니다.</a:t>
            </a:r>
          </a:p>
          <a:p>
            <a:r>
              <a:t>처음엔 single split hold-out만 있었는데, 그걸로는 운 좋은 한 번이라는 비판을 피하기 어려웠습니다.</a:t>
            </a:r>
          </a:p>
          <a:p>
            <a:r>
              <a:t>그래서 현재는 11개 모델 풀에서 4개를 test로 고르는 모든 조합, 즉 330개 split을 전부 돌렸습니다.</a:t>
            </a:r>
          </a:p>
          <a:p/>
          <a:p>
            <a:r>
              <a:t>각 split마다 dev 7로 문항 변별도를 다시 계산해서 Top-Disc를 뽑고,</a:t>
            </a:r>
          </a:p>
          <a:p>
            <a:r>
              <a:t>같은 N에 대해 random subset 200개도 같이 비교했습니다.</a:t>
            </a:r>
          </a:p>
          <a:p>
            <a:r>
              <a:t>즉 이건 더 이상 pilot이 아니라 distributional result입니다.</a:t>
            </a:r>
          </a:p>
          <a:p/>
          <a:p>
            <a:r>
              <a:t>결과를 보면 40문항도 충분히 강합니다.</a:t>
            </a:r>
          </a:p>
          <a:p>
            <a:r>
              <a:t>평균 rho가 세 judge 모두 random 평균보다 높고, split win rate도 78~86% 정도 나옵니다.</a:t>
            </a:r>
          </a:p>
          <a:p>
            <a:r>
              <a:t>하지만 발표에서 제가 더 강조하려는 건 60문항입니다.</a:t>
            </a:r>
          </a:p>
          <a:p>
            <a:r>
              <a:t>40문항은 same-set의 아름다운 upper bound이고,</a:t>
            </a:r>
          </a:p>
          <a:p>
            <a:r>
              <a:t>repeated hold-out까지 합치면 60문항이 더 안전한 cross-judge operating point로 보입니다.</a:t>
            </a:r>
          </a:p>
          <a:p/>
          <a:p>
            <a:r>
              <a:t>이 슬라이드 덕분에 이제 tinyMT-Bench를 단순 아이디어 수준이 아니라,</a:t>
            </a:r>
          </a:p>
          <a:p>
            <a:r>
              <a:t>상당히 방어 가능한 경험적 권고 수준까지 올릴 수 있게 됐습니다.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슬라이드는 사실 발표 전체의 tone을 결정합니다.</a:t>
            </a:r>
          </a:p>
          <a:p>
            <a:r>
              <a:t>결과가 아무리 좋아도 범위를 잘못 말하면 점수를 잃습니다.</a:t>
            </a:r>
          </a:p>
          <a:p/>
          <a:p>
            <a:r>
              <a:t>제가 지금 자신 있게 말할 수 있는 건 세 가지입니다.</a:t>
            </a:r>
          </a:p>
          <a:p>
            <a:r>
              <a:t>Qwen same-family에서는 judge가 커질수록 inconsistency가 줄었습니다.</a:t>
            </a:r>
          </a:p>
          <a:p>
            <a:r>
              <a:t>InternLM20B와 GPT-4o-mini를 붙여도 큰 서열은 유지됩니다.</a:t>
            </a:r>
          </a:p>
          <a:p>
            <a:r>
              <a:t>그리고 repeated hold-out 기준으로 보면 문항 축소는 60문항 정도가 가장 안전합니다.</a:t>
            </a:r>
          </a:p>
          <a:p/>
          <a:p>
            <a:r>
              <a:t>반대로 아직 조심해야 하는 것도 분명합니다.</a:t>
            </a:r>
          </a:p>
          <a:p>
            <a:r>
              <a:t>현재 model pool은 같은 세대의 7B–11B open-weight chat 모델에 치우쳐 있습니다.</a:t>
            </a:r>
          </a:p>
          <a:p>
            <a:r>
              <a:t>그래서 이 결과를 70B급 모델이나 code-specialist 모델, 혹은 multilingual setting까지</a:t>
            </a:r>
          </a:p>
          <a:p>
            <a:r>
              <a:t>바로 일반화해서 말하는 건 과장입니다.</a:t>
            </a:r>
          </a:p>
          <a:p/>
          <a:p>
            <a:r>
              <a:t>저는 이 슬라이드가 오히려 발표의 강점이라고 생각합니다.</a:t>
            </a:r>
          </a:p>
          <a:p>
            <a:r>
              <a:t>왜냐하면 청중은 ‘모든 걸 다 안다’고 말하는 발표보다,</a:t>
            </a:r>
          </a:p>
          <a:p>
            <a:r>
              <a:t>‘여기까지는 강하고, 여기서부터는 아직 열린 문제다’라고 말하는 발표를 더 신뢰하기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슬라이드에서는 세 문장만 남기겠습니다.</a:t>
            </a:r>
          </a:p>
          <a:p/>
          <a:p>
            <a:r>
              <a:t>첫째, 베이스 논문은 GPT-4 judge가 인간 선호를 근사할 수 있다는 문을 열었습니다.</a:t>
            </a:r>
          </a:p>
          <a:p>
            <a:r>
              <a:t>둘째, 저는 그 문을 오픈소스 judge 쪽으로 옮겨 보면서,</a:t>
            </a:r>
          </a:p>
          <a:p>
            <a:r>
              <a:t>무엇이 실제로 믿을 만하고 무엇은 아직 조심해야 하는지 정리했습니다.</a:t>
            </a:r>
          </a:p>
          <a:p>
            <a:r>
              <a:t>셋째, 이 저장소는 결과표만 있는 게 아니라 raw judgment부터 figure, paper, 그리고 오늘 발표자료까지 재생성 가능한 연구 자산으로 정리했습니다.</a:t>
            </a:r>
          </a:p>
          <a:p/>
          <a:p>
            <a:r>
              <a:t>발표 이후 질문이 들어오면 보통 세 갈래일 겁니다.</a:t>
            </a:r>
          </a:p>
          <a:p>
            <a:r>
              <a:t>왜 32B냐, 왜 60문항이냐, 그리고 왜 이 결과를 더 넓게 일반화하지 않느냐.</a:t>
            </a:r>
          </a:p>
          <a:p>
            <a:r>
              <a:t>이 슬라이드는 그 질문들에 대한 짧은 답변이기도 합니다.</a:t>
            </a:r>
          </a:p>
          <a:p/>
          <a:p>
            <a:r>
              <a:t>제 답은 이렇습니다.</a:t>
            </a:r>
          </a:p>
          <a:p>
            <a:r>
              <a:t>32B는 현재 실험 범위에서 가장 좋은 open-weight judge였고,</a:t>
            </a:r>
          </a:p>
          <a:p>
            <a:r>
              <a:t>60문항은 repeated hold-out에서 가장 안전한 운영점이었고,</a:t>
            </a:r>
          </a:p>
          <a:p>
            <a:r>
              <a:t>그 이상의 일반화는 지금 당장 주장하지 않는 것이 더 학문적으로 정직합니다.</a:t>
            </a:r>
          </a:p>
          <a:p/>
          <a:p>
            <a:r>
              <a:t>이상으로 발표를 마치고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822960"/>
            <a:ext cx="4053535" cy="6035040"/>
          </a:xfrm>
          <a:prstGeom prst="rect">
            <a:avLst/>
          </a:prstGeom>
          <a:solidFill>
            <a:srgbClr val="F3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7040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100" b="1">
                <a:solidFill>
                  <a:srgbClr val="13283A"/>
                </a:solidFill>
                <a:latin typeface="Apple SD Gothic Neo"/>
              </a:rPr>
              <a:t>오픈소스 LLM-as-a-Judge의
신뢰도는 어디까지 믿을 수 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651760"/>
            <a:ext cx="65836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B45C45"/>
                </a:solidFill>
                <a:latin typeface="Apple SD Gothic Neo"/>
              </a:rPr>
              <a:t>MT-Bench 논문 스터디 + 재현 실험 + Git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154680"/>
            <a:ext cx="690372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>원 논문을 먼저 해설한 뒤, 제가 같은 프로토콜을 어떻게 오픈소스 judge 실험으로 확장했는지
Phase 1–6 결과와 저장소 구조까지 같이 설명하는 랩미팅 발표입니다.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00600"/>
            <a:ext cx="1993392" cy="960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0584" rIns="100584" tIns="100584" bIns="100584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4901184"/>
            <a:ext cx="658368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928616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메인 judge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93792"/>
            <a:ext cx="17190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3283A"/>
                </a:solidFill>
                <a:latin typeface="Apple SD Gothic Neo"/>
              </a:rPr>
              <a:t>Qwen 7B · 14B · 32B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4800600"/>
            <a:ext cx="1993392" cy="960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0584" rIns="100584" tIns="100584" bIns="100584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08376" y="4901184"/>
            <a:ext cx="658368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4928616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보조 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5193792"/>
            <a:ext cx="17190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3283A"/>
                </a:solidFill>
                <a:latin typeface="Apple SD Gothic Neo"/>
              </a:rPr>
              <a:t>InternLM20B · GPT-4o-mini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4800600"/>
            <a:ext cx="1993392" cy="9601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0584" rIns="100584" tIns="100584" bIns="100584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48656" y="4901184"/>
            <a:ext cx="658368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4928616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hold-out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5193792"/>
            <a:ext cx="17190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3283A"/>
                </a:solidFill>
                <a:latin typeface="Apple SD Gothic Neo"/>
              </a:rPr>
              <a:t>330 splits · 66K random draws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1887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13283A"/>
                </a:solidFill>
                <a:latin typeface="Apple SD Gothic Neo"/>
              </a:rPr>
              <a:t>오늘 발표에서 답할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27632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베이스 논문은 무엇을 제안했고 왜 중요했는가?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내 재현 코드는 어디까지 원문을 따라갔고 어디서 확장했는가?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오픈소스 judge를 실제로 믿어도 되는가?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비용을 줄이면서도 순위를 얼마나 보존할 수 있는가?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59612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36454F"/>
                </a:solidFill>
                <a:latin typeface="Apple SD Gothic Neo"/>
              </a:rPr>
              <a:t>박승현
CLINK Lab, Pusan National University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오늘 발표의 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298448"/>
            <a:ext cx="109728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46304" rIns="146304" tIns="146304" bIns="14630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>
                <a:solidFill>
                  <a:srgbClr val="36454F"/>
                </a:solidFill>
                <a:latin typeface="Apple SD Gothic Neo"/>
              </a:defRPr>
            </a:pPr>
            <a:r>
              <a:t>• 1부: 베이스 논문이 해결하려는 문제와 핵심 기여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>
                <a:solidFill>
                  <a:srgbClr val="36454F"/>
                </a:solidFill>
                <a:latin typeface="Apple SD Gothic Neo"/>
              </a:defRPr>
            </a:pPr>
            <a:r>
              <a:t>• 2부: 내 재현 파이프라인과 Phase 1–6 실험 구조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>
                <a:solidFill>
                  <a:srgbClr val="36454F"/>
                </a:solidFill>
                <a:latin typeface="Apple SD Gothic Neo"/>
              </a:defRPr>
            </a:pPr>
            <a:r>
              <a:t>• 3부: 메인 결과, Git 정리 방식, 그리고 최종 해석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베이스 논문의 문제의식과 핵심 자산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623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기존 객관식 벤치마크는 open-ended, multi-turn 선호를 충분히 반영하지 못함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사람 선호를 직접 모으는 평가는 느리고 비싸서 반복 실험이 어려움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MT-Bench 80문항과 Chatbot Arena를 함께 만들어 controlled benchmark와 in-the-wild preference를 동시에 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298448"/>
            <a:ext cx="4709160" cy="658368"/>
          </a:xfrm>
          <a:prstGeom prst="rect">
            <a:avLst/>
          </a:prstGeom>
          <a:solidFill>
            <a:srgbClr val="13283A"/>
          </a:solidFill>
          <a:ln>
            <a:solidFill>
              <a:srgbClr val="13283A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</a:rPr>
              <a:t>Base paper question: “Can a strong LLM approximate human preference at scale?”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23774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0256" y="248716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0256" y="25420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MT-Bench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0256" y="27614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80문항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23774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9136" y="248716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25420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Arena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27614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30K 대화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547872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0256" y="3657600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371246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expert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93192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약 3K 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3547872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3657600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371246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질문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393192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human proxy?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베이스 논문의 judge 프로토콜과 핵심 수치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623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GPT-4 judge는 position, verbosity, self-enhancement bias 가능성을 함께 분석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MT-Bench에서 GPT-4 judge와 인간 expert의 non-tie agreement는 85%, 인간-인간은 81%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Chatbot Arena에서도 GPT-4와 crowd human의 non-tie agreement는 87%, GPT-4 single은 85%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MT-Bench score는 LLaMA-13B 2.61, Vicuna-13B 6.39, GPT-3.5 7.94, GPT-4 8.99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298448"/>
            <a:ext cx="4709160" cy="658368"/>
          </a:xfrm>
          <a:prstGeom prst="rect">
            <a:avLst/>
          </a:prstGeom>
          <a:solidFill>
            <a:srgbClr val="13283A"/>
          </a:solidFill>
          <a:ln>
            <a:solidFill>
              <a:srgbClr val="13283A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</a:rPr>
              <a:t>원 논문의 결론은 ‘GPT-4 judge가 완벽하다’가 아니라, ‘인간 선호를 실용적으로 근사할 수 있다’였습니다.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23774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0256" y="248716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0256" y="25420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MT-Bench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0256" y="27614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23774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9136" y="248716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25420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Human↔Human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27614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547872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0256" y="3657600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371246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Arena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93192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87%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3547872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3657600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371246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GPT-4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393192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8.99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무엇을 그대로 가져오고, 무엇을 바꾸며, 어떤 RQ를 세웠는가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BASE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5720"/>
            <a:ext cx="1005840" cy="20116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3283A"/>
                </a:solidFill>
                <a:latin typeface="Apple SD Gothic Neo"/>
              </a:rPr>
              <a:t>RQ1-4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5/20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5623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그대로 가져온 것: 80문항 MT-Bench, single/pairwise/reference 3종 채점 구조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바꾼 것: GPT-4 judge를 Qwen·InternLM·GPT-4o-mini로 대체하고 raw artifact를 전부 저장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RQ1: judge 크기와 reliability는 어떻게 바뀌는가?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RQ2: 더 큰 judge에서 남는 residual bias는 무엇인가?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RQ3: cross-family / external judge에서도 같은 broad rank가 유지되는가?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RQ4: 문항 수를 줄여도 hold-out 모델에서 서열을 보존할 수 있는가?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298448"/>
            <a:ext cx="4709160" cy="658368"/>
          </a:xfrm>
          <a:prstGeom prst="rect">
            <a:avLst/>
          </a:prstGeom>
          <a:solidFill>
            <a:srgbClr val="13283A"/>
          </a:solidFill>
          <a:ln>
            <a:solidFill>
              <a:srgbClr val="13283A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</a:rPr>
              <a:t>이 발표는 ‘원 논문을 흉내 낸 실험’이 아니라, ‘원 논문의 프로토콜을 재현 가능한 오픈소스 파이프라인으로 옮긴 작업’입니다.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3774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0256" y="248716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25420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6" y="27614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프로토콜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23774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89136" y="248716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25420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대체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9136" y="27614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오픈 judge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547872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0256" y="3657600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371246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393192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RQ1–RQ4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547872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3657600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89136" y="371246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393192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raw→paper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내 Git 저장소는 무엇을 재현 가능하게 만들었나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65836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B45C45"/>
                </a:solidFill>
                <a:latin typeface="Apple SD Gothic Neo"/>
              </a:rPr>
              <a:t>발표를 보고 저장소를 열었을 때 바로 검증 가능한 구조가 되도록 정리했습니다.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핵심 설계 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365760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JSONL append + resume로 중간 실패가 나도 완료분을 보존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pairwise는 AB/BA 두 방향을 모두 실행하고 불일치는 inconsistent로 처리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generation temperature 0.7, judge temperature 0.0으로 역할을 분리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raw judgment → aggregate CSV → figure → paper까지 한 체인으로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234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Repo 핵심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72768"/>
            <a:ext cx="29260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`src/mtbench_repro/` — client, prompts, aggregate, CLI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`scripts/` — generation, judge, phase 분석, 발표용 재집계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`data/` — answer / judgment / summary csv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`figures/` — 논문 및 발표 그림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`paper/`, `presentation/` — 원고와 발표 산출물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23444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3283A"/>
                </a:solidFill>
                <a:latin typeface="Apple SD Gothic Neo"/>
              </a:rPr>
              <a:t>검증 루프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1572768"/>
            <a:ext cx="38404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결론 문장 → figure → csv → raw jsonl로 역추적 가능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phase별 raw judgment와 summary csv를 분리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mock / real 결과 분리 및 reference 별도 집계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600">
                <a:solidFill>
                  <a:srgbClr val="36454F"/>
                </a:solidFill>
                <a:latin typeface="Apple SD Gothic Neo"/>
              </a:defRPr>
            </a:pPr>
            <a:r>
              <a:t>• 발표 자료와 대본까지 script 기반으로 재생성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Git에서 실제로 어디를 보면 무엇이 보이는가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62356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`README.md`는 전체 서사, `data/`는 raw judgment와 요약 CSV, `figures/`는 발표/논문 그림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`paper/`에는 blind/non-blind 원고와 PDF, `presentation/`에는 오늘 발표자료와 대본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800">
                <a:solidFill>
                  <a:srgbClr val="36454F"/>
                </a:solidFill>
                <a:latin typeface="Apple SD Gothic Neo"/>
              </a:defRPr>
            </a:pPr>
            <a:r>
              <a:t>• 질문이 생기면 ‘결론 → figure → csv → raw jsonl’ 순서로 역추적하면 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298448"/>
            <a:ext cx="4709160" cy="658368"/>
          </a:xfrm>
          <a:prstGeom prst="rect">
            <a:avLst/>
          </a:prstGeom>
          <a:solidFill>
            <a:srgbClr val="13283A"/>
          </a:solidFill>
          <a:ln>
            <a:solidFill>
              <a:srgbClr val="13283A"/>
            </a:solidFill>
          </a:ln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</a:rPr>
              <a:t>교수님이 저장소를 훑으실 때는 README만 보지 말고, 결과 figure 옆의 CSV와 raw judgment까지 바로 연결되도록 설계했습니다.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23774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0256" y="2487168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0256" y="25420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README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0256" y="27614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서사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2377440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9136" y="2487168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254203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9136" y="2761488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raw +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547872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0256" y="3657600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371246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figures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93192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발표/논문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3547872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3657600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371246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3931920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ppt + notes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Phase 1–6 전체 실험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713232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B45C45"/>
                </a:solidFill>
                <a:latin typeface="Apple SD Gothic Neo"/>
              </a:rPr>
              <a:t>Phase는 시간순 나열이 아니라, 신뢰도를 단계적으로 끌어올리는 구조로 설계했습니다.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0515600" cy="54864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37360"/>
            <a:ext cx="658368" cy="658368"/>
          </a:xfrm>
          <a:prstGeom prst="ellipse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420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Self-judge bias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1737360"/>
            <a:ext cx="658368" cy="658368"/>
          </a:xfrm>
          <a:prstGeom prst="ellipse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856232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1" y="25420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예비 비교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1737360"/>
            <a:ext cx="658368" cy="658368"/>
          </a:xfrm>
          <a:prstGeom prst="ellipse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856232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P3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25420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메인 scaling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1737360"/>
            <a:ext cx="658368" cy="658368"/>
          </a:xfrm>
          <a:prstGeom prst="ellipse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856232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25420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InternLM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1737360"/>
            <a:ext cx="658368" cy="658368"/>
          </a:xfrm>
          <a:prstGeom prst="ellipse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856232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P5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1" y="25420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GPT-4o-mini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0" y="1737360"/>
            <a:ext cx="658368" cy="658368"/>
          </a:xfrm>
          <a:prstGeom prst="ellipse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856232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</a:rPr>
              <a:t>P6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542032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13283A"/>
                </a:solidFill>
                <a:latin typeface="Apple SD Gothic Neo"/>
              </a:rPr>
              <a:t>330 split hold-out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2971800"/>
            <a:ext cx="1065276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1–2: self-judge 편향과 예비 외부 judge sanity check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3: 메인 same-family scaling 실험(Qwen 7B/14B/32B)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4–5: InternLM20B, GPT-4o-mini로 cross-family / external check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Phase 6: 11개 모델 풀에서 exhaustive leave-4-out hold-out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Phase 1–2: self-judge 편향과 예비 sanity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5720"/>
            <a:ext cx="1005840" cy="20116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3283A"/>
                </a:solidFill>
                <a:latin typeface="Apple SD Gothic Neo"/>
              </a:rPr>
              <a:t>Prelude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9/20</a:t>
            </a:r>
          </a:p>
        </p:txBody>
      </p:sp>
      <p:pic>
        <p:nvPicPr>
          <p:cNvPr id="7" name="Picture 6" descr="fig0_phase1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611880" cy="1783594"/>
          </a:xfrm>
          <a:prstGeom prst="rect">
            <a:avLst/>
          </a:prstGeom>
        </p:spPr>
      </p:pic>
      <p:pic>
        <p:nvPicPr>
          <p:cNvPr id="8" name="Picture 7" descr="fig2_overall_rank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298448"/>
            <a:ext cx="3611880" cy="14074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626864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bar chart: Phase 1 self-judge category scores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626864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ranking plot: 초기 overall ordering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298448"/>
            <a:ext cx="324612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Qwen2.5-7B self-judge는 overall 8.12인데 Math·Coding은 각각 8.80으로 튀어 오름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외부 14B judge 도입 후 서열은 안정화되지만 pairwise inconsistency는 여전히 높음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즉 ‘오픈소스 judge를 쓰자’보다 ‘어떤 judge를 어떻게 쓰나’가 더 중요함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Phase 3: Qwen same-family scaling이 보여준 메인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5720"/>
            <a:ext cx="1005840" cy="20116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3283A"/>
                </a:solidFill>
                <a:latin typeface="Apple SD Gothic Neo"/>
              </a:rPr>
              <a:t>RQ1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10/20</a:t>
            </a:r>
          </a:p>
        </p:txBody>
      </p:sp>
      <p:pic>
        <p:nvPicPr>
          <p:cNvPr id="7" name="Picture 6" descr="fig4_judg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7479792" cy="32209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8640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bar chart: judge scaling과 카테고리별 inconsistency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298448"/>
            <a:ext cx="324612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Pairwise inconsistency: 7B 78.75% → 14B 46.85% → 32B 32.86%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점수 범위도 0.84pt → 1.13pt → 1.47pt로 확대되어 변별력 증가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메인 claim은 `Qwen same-family empirical trend`로 제한해서 읽어야 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Phase 3 추가 확인: single-grade 서열은 얼마나 안정적인가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5720"/>
            <a:ext cx="1005840" cy="20116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3283A"/>
                </a:solidFill>
                <a:latin typeface="Apple SD Gothic Neo"/>
              </a:rPr>
              <a:t>RQ1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11/20</a:t>
            </a:r>
          </a:p>
        </p:txBody>
      </p:sp>
      <p:pic>
        <p:nvPicPr>
          <p:cNvPr id="7" name="Picture 6" descr="fig5_phase3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7479792" cy="33907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8640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Phase 3 single-grade 점수 분포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298448"/>
            <a:ext cx="324612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32B single-grade 기준 상위권은 gemma·Phi, 하위권은 SOLAR·Zephyr로 정리됨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Qwen judge 간 Spearman ρ는 0.750–0.821로 broad ranking이 유지되며, 7B↔14B bootstrap 95% CI는 [0.643, 0.964]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즉 judge 크기 차이는 ‘서열 자체’보다 ‘pairwise reliability’에서 더 크게 드러남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5522976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ρ 7↔14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0.821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2368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12096" y="5522976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12096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ρ 7↔32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0.786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23620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6345936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640080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ρ 14↔32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662025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0.750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Phase 3 심화: residual bias와 문항 변별도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5720"/>
            <a:ext cx="1005840" cy="20116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3283A"/>
                </a:solidFill>
                <a:latin typeface="Apple SD Gothic Neo"/>
              </a:rPr>
              <a:t>RQ2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12/20</a:t>
            </a:r>
          </a:p>
        </p:txBody>
      </p:sp>
      <p:pic>
        <p:nvPicPr>
          <p:cNvPr id="7" name="Picture 6" descr="fig11_position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611880" cy="1304330"/>
          </a:xfrm>
          <a:prstGeom prst="rect">
            <a:avLst/>
          </a:prstGeom>
        </p:spPr>
      </p:pic>
      <p:pic>
        <p:nvPicPr>
          <p:cNvPr id="8" name="Picture 7" descr="fig8_discrimin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298448"/>
            <a:ext cx="3611880" cy="29006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626864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bar chart: residual position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626864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bar chart: 문항 변별도 분포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298448"/>
            <a:ext cx="324612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32B judge의 남은 불일치 중 94.9%가 first-position win으로 연결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즉 judge가 커질수록 ‘남는 오류’는 위치 편향 중심으로 농축됨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문항 변별도는 Math·Coding·Reasoning에서 특히 높아 tinyMT의 근거가 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앙상블은 정말 큰 judge를 이길 수 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5720"/>
            <a:ext cx="1005840" cy="20116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3283A"/>
                </a:solidFill>
                <a:latin typeface="Apple SD Gothic Neo"/>
              </a:rPr>
              <a:t>RQ2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13/20</a:t>
            </a:r>
          </a:p>
        </p:txBody>
      </p:sp>
      <p:pic>
        <p:nvPicPr>
          <p:cNvPr id="7" name="Picture 6" descr="fig13_ensembl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7479792" cy="31835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8640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bar chart: 다수결 vs 기권 앙상블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298448"/>
            <a:ext cx="324612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단순 다수결 앙상블은 오히려 단일 32B보다 나쁨: 58.63% &gt; 32.86%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inconsistent를 기권 처리한 abstain ensemble은 24.70%로 가장 낮음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핵심 교훈: 저품질 judge를 그냥 합치면 평균이 아니라 오염이 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Phase 4: InternLM2.5는 무엇을 보여주고 무엇은 못 보여주는가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5720"/>
            <a:ext cx="1005840" cy="20116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3283A"/>
                </a:solidFill>
                <a:latin typeface="Apple SD Gothic Neo"/>
              </a:rPr>
              <a:t>RQ3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14/20</a:t>
            </a:r>
          </a:p>
        </p:txBody>
      </p:sp>
      <p:pic>
        <p:nvPicPr>
          <p:cNvPr id="7" name="Picture 6" descr="fig17_phase4_intern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7479792" cy="30284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8640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summary chart: Phase 4 InternLM judge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298448"/>
            <a:ext cx="324612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InternLM2.5-20B는 Qwen32와 Spearman ρ=0.893로 broad ranking을 유지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반면 InternLM2.5-7B pairwise는 winner=error가 72.6%로 실전 judge로 부적합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즉 ‘cross-family check는 됨’, 하지만 ‘아무 7B judge나 pairwise에 쓰면 안 됨’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Phase 5: GPT-4o-mini는 외부 기준점으로 충분한가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5720"/>
            <a:ext cx="1005840" cy="20116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3283A"/>
                </a:solidFill>
                <a:latin typeface="Apple SD Gothic Neo"/>
              </a:rPr>
              <a:t>RQ3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15/20</a:t>
            </a:r>
          </a:p>
        </p:txBody>
      </p:sp>
      <p:pic>
        <p:nvPicPr>
          <p:cNvPr id="7" name="Picture 6" descr="fig18_phase5_gpt4om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3611880" cy="1462392"/>
          </a:xfrm>
          <a:prstGeom prst="rect">
            <a:avLst/>
          </a:prstGeom>
        </p:spPr>
      </p:pic>
      <p:pic>
        <p:nvPicPr>
          <p:cNvPr id="8" name="Picture 7" descr="fig16_phase345_judge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298448"/>
            <a:ext cx="3611880" cy="25709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626864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summary chart: Phase 5 GPT-4o-mini 결과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626864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comparison chart: Phase 3/4/5 judge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298448"/>
            <a:ext cx="324612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Qwen32 ↔ GPT-4o-mini: Spearman ρ=0.964, Kendall τ=0.905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Pairwise inconsistency도 33.99%로 Qwen32의 32.86%와 매우 유사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즉 Qwen32 결과는 완전한 closed-source artifact는 아님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세 judge를 한 번에 비교하면 무엇이 남는가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5720"/>
            <a:ext cx="1005840" cy="20116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3283A"/>
                </a:solidFill>
                <a:latin typeface="Apple SD Gothic Neo"/>
              </a:rPr>
              <a:t>RQ3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16/20</a:t>
            </a:r>
          </a:p>
        </p:txBody>
      </p:sp>
      <p:pic>
        <p:nvPicPr>
          <p:cNvPr id="7" name="Picture 6" descr="fig16_phase345_judg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7479792" cy="53241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8640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comparison chart: Phase 3/4/5 judge 통합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298448"/>
            <a:ext cx="324612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Qwen32와 GPT-4o-mini는 rank agreement가 매우 높고, InternLM20B는 그보다 한 단계 낮은 보조 judge다.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InternLM7B는 single-grade sanity check는 가능하지만 pairwise judge로는 부적합하다.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실전 권고는 `연구용 메인 judge는 32B급`, `보조 sanity check는 InternLM20B / GPT-4o-mini`다.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5522976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Qwen32↔GPT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ρ=0.964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2368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12096" y="5522976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12096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Qwen32↔InternLM20B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ρ=0.893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23620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6345936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640080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GPT pairwise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662025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33.99%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623620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12096" y="6345936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640080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InternLM7B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2096" y="662025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72.6%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tinyMT-Bench same-set 결과: 왜 40문항이 강했는가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5720"/>
            <a:ext cx="1005840" cy="20116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3283A"/>
                </a:solidFill>
                <a:latin typeface="Apple SD Gothic Neo"/>
              </a:rPr>
              <a:t>RQ4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17/20</a:t>
            </a:r>
          </a:p>
        </p:txBody>
      </p:sp>
      <p:pic>
        <p:nvPicPr>
          <p:cNvPr id="7" name="Picture 6" descr="fig9_tiny_mt_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7479792" cy="26642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8640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line plot: same-set tinyMT-Bench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298448"/>
            <a:ext cx="324612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same-set 기준 Top-Disc-40은 ρ=1.000으로 full-80 ranking을 완전 보존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Top-Disc-25도 ρ=0.964로 강하지만, 1개 순위 역전이 발생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same-set에서는 40문항이 가장 설득력 있는 비용 절감 upper bound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330-split hold-out은 same-set 상한을 얼마나 바꾸는가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5720"/>
            <a:ext cx="1005840" cy="201168"/>
          </a:xfrm>
          <a:prstGeom prst="rect">
            <a:avLst/>
          </a:prstGeom>
          <a:solidFill>
            <a:srgbClr val="E9E5DB"/>
          </a:solidFill>
          <a:ln>
            <a:solidFill>
              <a:srgbClr val="E9E5DB"/>
            </a:solidFill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3283A"/>
                </a:solidFill>
                <a:latin typeface="Apple SD Gothic Neo"/>
              </a:rPr>
              <a:t>RQ4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18/20</a:t>
            </a:r>
          </a:p>
        </p:txBody>
      </p:sp>
      <p:pic>
        <p:nvPicPr>
          <p:cNvPr id="7" name="Picture 6" descr="fig15_tiny_mt_bench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7479792" cy="29162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86400"/>
            <a:ext cx="722376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0">
                <a:solidFill>
                  <a:srgbClr val="6D7780"/>
                </a:solidFill>
                <a:latin typeface="Apple SD Gothic Neo"/>
              </a:rPr>
              <a:t>line plot: repeated hold-out generalization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298448"/>
            <a:ext cx="3246120" cy="470916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28016" rIns="128016" tIns="128016" bIns="128016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11개 모델에서 leave-4-out hold-out 330 split, 각 N마다 random 200개 비교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Top-Disc-40 mean ρ: Qwen 0.968 [0.80, 1.00] / InternLM20B 0.922 [0.40, 1.00] / GPT-4o-mini 0.959 [0.80, 1.00]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Top-Disc-60 mean ρ: 0.998 [1.00, 1.00] / 0.995 [1.00, 1.00] / 0.972 [0.80, 1.00]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beats-random split rate는 40문항에서 80.6% / 78.5% / 85.5%, 60문항에서 75.8% / 95.8% / 81.2%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1700">
                <a:solidFill>
                  <a:srgbClr val="36454F"/>
                </a:solidFill>
                <a:latin typeface="Apple SD Gothic Neo"/>
              </a:defRPr>
            </a:pPr>
            <a:r>
              <a:t>• same-set의 아름다운 상한은 40문항이지만, cross-judge 운영점은 60문항이 더 안전함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그래서 이 연구에서 무엇을 믿고, 무엇은 아직 조심해야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19/20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B45C45"/>
                </a:solidFill>
                <a:latin typeface="Apple SD Gothic Neo"/>
              </a:rPr>
              <a:t>좋은 발표는 강한 결과를 크게 말하고, 약한 결과를 정확히 말합니다.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9728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46304" rIns="146304" tIns="146304" bIns="14630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>
                <a:solidFill>
                  <a:srgbClr val="36454F"/>
                </a:solidFill>
                <a:latin typeface="Apple SD Gothic Neo"/>
              </a:defRPr>
            </a:pPr>
            <a:r>
              <a:t>• 믿을 수 있는 것: Qwen same-family scaling trend, cross-family broad rank stability, repeated hold-out에서의 60문항 권고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>
                <a:solidFill>
                  <a:srgbClr val="36454F"/>
                </a:solidFill>
                <a:latin typeface="Apple SD Gothic Neo"/>
              </a:defRPr>
            </a:pPr>
            <a:r>
              <a:t>• 조심할 것: 11개 모델 풀은 7B–11B same-era chat 모델 중심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>
                <a:solidFill>
                  <a:srgbClr val="36454F"/>
                </a:solidFill>
                <a:latin typeface="Apple SD Gothic Neo"/>
              </a:defRPr>
            </a:pPr>
            <a:r>
              <a:t>• 운영 기준선: 60문항에서는 세 judge 모두 mean ρ≥0.97, 40문항은 judge에 따라 mean ρ≈0.92까지 내려감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>
                <a:solidFill>
                  <a:srgbClr val="36454F"/>
                </a:solidFill>
                <a:latin typeface="Apple SD Gothic Neo"/>
              </a:defRPr>
            </a:pPr>
            <a:r>
              <a:t>• 아직 열린 질문: 70B급, code-specialist, multilingual 환경까지도 같은가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522976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same-family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강함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0168" y="5522976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cross-family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보조 검증 완료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5522976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tinyMT hold-out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60문항 권고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522976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남은 과제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cross-scale / multilingual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3283A"/>
                </a:solidFill>
                <a:latin typeface="Apple SD Gothic Neo"/>
              </a:rPr>
              <a:t>최종 정리: 베이스 논문을 넘어, 오픈소스 judge를 실제 도구로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572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457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ple SD Gothic Neo"/>
              </a:rPr>
              <a:t>20/20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1">
                <a:solidFill>
                  <a:srgbClr val="B45C45"/>
                </a:solidFill>
                <a:latin typeface="Apple SD Gothic Neo"/>
              </a:rPr>
              <a:t>질문 받겠습니다.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10972800" cy="49834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46304" rIns="146304" tIns="146304" bIns="146304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>
                <a:solidFill>
                  <a:srgbClr val="36454F"/>
                </a:solidFill>
                <a:latin typeface="Apple SD Gothic Neo"/>
              </a:defRPr>
            </a:pPr>
            <a:r>
              <a:t>• 베이스 논문은 GPT-4 judge의 가능성을 열었고, 내 작업은 오픈소스 judge의 실전 신뢰도를 따졌다.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>
                <a:solidFill>
                  <a:srgbClr val="36454F"/>
                </a:solidFill>
                <a:latin typeface="Apple SD Gothic Neo"/>
              </a:defRPr>
            </a:pPr>
            <a:r>
              <a:t>• 메인 결과는 `32B open-weight judge + abstain ensemble + 60문항 운영점`이다.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defRPr sz="2000">
                <a:solidFill>
                  <a:srgbClr val="36454F"/>
                </a:solidFill>
                <a:latin typeface="Apple SD Gothic Neo"/>
              </a:defRPr>
            </a:pPr>
            <a:r>
              <a:t>• Git 저장소는 논문 결과뿐 아니라 raw judgment, figure, deck까지 다시 생성 가능하게 정리했다.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5522976"/>
            <a:ext cx="438912" cy="201168"/>
          </a:xfrm>
          <a:prstGeom prst="roundRect">
            <a:avLst/>
          </a:prstGeom>
          <a:solidFill>
            <a:srgbClr val="B4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32B judge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0168" y="5522976"/>
            <a:ext cx="438912" cy="201168"/>
          </a:xfrm>
          <a:prstGeom prst="roundRect">
            <a:avLst/>
          </a:prstGeom>
          <a:solidFill>
            <a:srgbClr val="60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보조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InternLM / 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5522976"/>
            <a:ext cx="438912" cy="201168"/>
          </a:xfrm>
          <a:prstGeom prst="roundRect">
            <a:avLst/>
          </a:prstGeom>
          <a:solidFill>
            <a:srgbClr val="C0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운영점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60문항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5413248"/>
            <a:ext cx="16459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E9E5DB"/>
            </a:solidFill>
          </a:ln>
        </p:spPr>
        <p:txBody>
          <a:bodyPr wrap="square" lIns="109728" rIns="109728" tIns="109728" bIns="109728" anchor="t">
            <a:spAutoFit/>
          </a:bodyPr>
          <a:lstStyle/>
          <a:p>
            <a:pPr algn="l"/>
            <a:r>
              <a:rPr sz="1800" b="0">
                <a:solidFill>
                  <a:srgbClr val="36454F"/>
                </a:solidFill>
                <a:latin typeface="Apple SD Gothic Neo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5522976"/>
            <a:ext cx="438912" cy="201168"/>
          </a:xfrm>
          <a:prstGeom prst="roundRect">
            <a:avLst/>
          </a:prstGeom>
          <a:solidFill>
            <a:srgbClr val="13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5128" y="557784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패키지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5797296"/>
            <a:ext cx="1426464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3283A"/>
                </a:solidFill>
                <a:latin typeface="Apple SD Gothic Neo"/>
              </a:rPr>
              <a:t>raw→deck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510528"/>
            <a:ext cx="11384280" cy="36576"/>
          </a:xfrm>
          <a:prstGeom prst="rect">
            <a:avLst/>
          </a:prstGeom>
          <a:solidFill>
            <a:srgbClr val="E9E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8686800" cy="1645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6D7780"/>
                </a:solidFill>
                <a:latin typeface="Apple SD Gothic Neo"/>
              </a:rPr>
              <a:t>MT-Bench base paper study + reproduction lab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