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발표를 논문 발표 파트와 내 실험 파트로 확실히 나누기 위해 넣었습니다.</a:t>
            </a:r>
          </a:p>
          <a:p>
            <a:r>
              <a:t>앞부분은 제 결과를 보여주기 위한 예고편이 아니라, 원 논문 자체를 독립된 대상으로 읽는 시간입니다.</a:t>
            </a:r>
          </a:p>
          <a:p/>
          <a:p>
            <a:r>
              <a:t>그래서 여기서는 원 논문이 어떤 문제를 풀고, MT-Bench와 Chatbot Arena를 어떻게 결합했고,</a:t>
            </a:r>
          </a:p>
          <a:p>
            <a:r>
              <a:t>judge prompt와 agreement 결과를 어떻게 설계했는지를 먼저 정리하겠습니다.</a:t>
            </a:r>
          </a:p>
          <a:p>
            <a:r>
              <a:t>이 기준이 있어야 뒤에서 제 재현 실험이 무엇을 그대로 가져오고 무엇을 바꿨는지가 더 선명하게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논문의 judge prompt를 설명하는 슬라이드입니다.</a:t>
            </a:r>
          </a:p>
          <a:p>
            <a:r>
              <a:t>중요한 점은 judge가 그냥 평가해 달라는 요청을 받는 것이 아니라,</a:t>
            </a:r>
          </a:p>
          <a:p>
            <a:r>
              <a:t>입력과 출력 형식이 상당히 엄격하게 제한된다는 것입니다.</a:t>
            </a:r>
          </a:p>
          <a:p/>
          <a:p>
            <a:r>
              <a:t>single prompt는 질문과 답변, 그리고 평가 기준을 주고 [[rating]] 형식의 점수를 남기게 합니다.</a:t>
            </a:r>
          </a:p>
          <a:p>
            <a:r>
              <a:t>pairwise는 두 답변을 비교시키고 [[A]], [[B]], [[C]]로 판단하게 합니다.</a:t>
            </a:r>
          </a:p>
          <a:p>
            <a:r>
              <a:t>turn2는 q2만 따로 넣지 않고 q1, a1, q2, a2를 함께 넣어 multi-turn 문맥을 유지합니다.</a:t>
            </a:r>
          </a:p>
          <a:p>
            <a:r>
              <a:t>수학과 코딩은 여기에 reference answer까지 추가합니다.</a:t>
            </a:r>
          </a:p>
          <a:p/>
          <a:p>
            <a:r>
              <a:t>즉 MT-Bench judge에서 핵심은 모델이 똑똑한지 여부만이 아니라,</a:t>
            </a:r>
          </a:p>
          <a:p>
            <a:r>
              <a:t>그 출력을 안정적으로 파싱하고 집계할 수 있게 만드는 프로토콜 설계라는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논문과 제 저장소 사이를 연결하는 가장 중요한 프로토콜 슬라이드입니다.</a:t>
            </a:r>
          </a:p>
          <a:p>
            <a:r>
              <a:t>청중이 여기서 judge가 실제로 무엇을 입력받고 무엇을 출력하는지 이해해야,</a:t>
            </a:r>
          </a:p>
          <a:p>
            <a:r>
              <a:t>뒤의 scaling과 abstain 결과도 설득력 있게 들립니다.</a:t>
            </a:r>
          </a:p>
          <a:p/>
          <a:p>
            <a:r>
              <a:t>첫 단계는 답변 생성입니다. 각 모델이 80문항 2-turn 답변을 만들고,</a:t>
            </a:r>
          </a:p>
          <a:p>
            <a:r>
              <a:t>여기에는 temperature 0.7을 둬서 응답 다양성을 허용합니다.</a:t>
            </a:r>
          </a:p>
          <a:p>
            <a:r>
              <a:t>두 번째 단계는 judge 호출입니다. judge는 반대로 temperature 0.0으로 고정해서</a:t>
            </a:r>
          </a:p>
          <a:p>
            <a:r>
              <a:t>평가 noise를 줄입니다.</a:t>
            </a:r>
          </a:p>
          <a:p/>
          <a:p>
            <a:r>
              <a:t>single-grade에서는 turn1과 turn2를 같은 방식으로 다루지 않습니다.</a:t>
            </a:r>
          </a:p>
          <a:p>
            <a:r>
              <a:t>turn2는 q1, a1, q2, a2를 함께 넣어 multi-turn context로 채점해야</a:t>
            </a:r>
          </a:p>
          <a:p>
            <a:r>
              <a:t>실제 MT-Bench 프로토콜과 맞습니다.</a:t>
            </a:r>
          </a:p>
          <a:p/>
          <a:p>
            <a:r>
              <a:t>pairwise에서는 AB와 BA를 둘 다 돌립니다.</a:t>
            </a:r>
          </a:p>
          <a:p>
            <a:r>
              <a:t>핵심은 두 번의 호출을 했다는 사실이 아니라, 그 둘을 합칠 때</a:t>
            </a:r>
          </a:p>
          <a:p>
            <a:r>
              <a:t>swap 뒤에도 같은 winner가 유지될 때만 채택한다는 점입니다.</a:t>
            </a:r>
          </a:p>
          <a:p>
            <a:r>
              <a:t>            즉 이 연구는 단순 prompt demo가 아니라, parse와 aggregate rule까지 포함한 protocol reproduction입니다.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의도적으로 호흡을 한번 끊는 역할을 합니다.</a:t>
            </a:r>
          </a:p>
          <a:p>
            <a:r>
              <a:t>앞 절반은 원 논문 리뷰였고, 여기부터는 제 연구 발표입니다.</a:t>
            </a:r>
          </a:p>
          <a:p>
            <a:r>
              <a:t>그래서 청중이 화면만 봐도 세션이 전환됐다는 걸 느끼게 하고 싶었습니다.</a:t>
            </a:r>
          </a:p>
          <a:p/>
          <a:p>
            <a:r>
              <a:t>짧게 말하면 앞 절반에서 만든 기준점을 이제 검증 대상으로 바꾸는 순간입니다.</a:t>
            </a:r>
          </a:p>
          <a:p>
            <a:r>
              <a:t>원 논문의 두 핵심 주장, 그리고 열린 질문을 들고 제 실험으로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 연구가 원 논문과 어떤 관계에 있는지 명확히 하는 슬라이드입니다.</a:t>
            </a:r>
          </a:p>
          <a:p>
            <a:r>
              <a:t>왼쪽은 제가 의도적으로 그대로 가져온 것들입니다.</a:t>
            </a:r>
          </a:p>
          <a:p>
            <a:r>
              <a:t>MT-Bench 80문항, single과 pairwise judge, AB/BA swap rule, reference-guided 채점 같은 핵심 프로토콜은 유지했습니다.</a:t>
            </a:r>
          </a:p>
          <a:p/>
          <a:p>
            <a:r>
              <a:t>오른쪽은 제가 추가한 부분입니다.</a:t>
            </a:r>
          </a:p>
          <a:p>
            <a:r>
              <a:t>judge family를 Qwen, InternLM, GPT-4o-mini로 넓혔고,</a:t>
            </a:r>
          </a:p>
          <a:p>
            <a:r>
              <a:t>self-judge부터 scaling, ensemble, hold-out까지 phase를 나눠서 검증했습니다.</a:t>
            </a:r>
          </a:p>
          <a:p>
            <a:r>
              <a:t>또 raw judgment와 aggregate 결과를 저장소에 남겨 재현 가능성도 강화했습니다.</a:t>
            </a:r>
          </a:p>
          <a:p/>
          <a:p>
            <a:r>
              <a:t>이 슬라이드의 목적은, 제 연구를 원 논문과 무관한 별도 프로젝트로 보지 않게 하는 것입니다.</a:t>
            </a:r>
          </a:p>
          <a:p>
            <a:r>
              <a:t>핵심 프로토콜은 이어받되, 검증 범위와 운영 질문을 더 넓힌 실험이라고 이해하시면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 실험이 실제로 어떻게 실행됐는지를 더 자세히 설명하는 슬라이드입니다.</a:t>
            </a:r>
          </a:p>
          <a:p>
            <a:r>
              <a:t>발표를 듣는 입장에서는 결과만 보는 것보다, 어떤 모델을 어떤 judge로 어떤 규칙 아래 돌렸는지 알아야 수치가 더 설득력 있게 보입니다.</a:t>
            </a:r>
          </a:p>
          <a:p/>
          <a:p>
            <a:r>
              <a:t>우선 generation과 judging의 temperature를 분리했습니다.</a:t>
            </a:r>
          </a:p>
          <a:p>
            <a:r>
              <a:t>generation은 0.7로 두고 답변 다양성을 확보했고, judge는 0.0으로 고정해 평가 noise를 줄였습니다.</a:t>
            </a:r>
          </a:p>
          <a:p>
            <a:r>
              <a:t>judge는 Qwen, InternLM, GPT-4o-mini로 나뉘고, single과 pairwise, reference를 단계별로 따로 실행했습니다.</a:t>
            </a:r>
          </a:p>
          <a:p/>
          <a:p>
            <a:r>
              <a:t>또 산출물도 raw judgment JSONL에서 끝나지 않고, aggregate CSV와 figure까지 연결했습니다.</a:t>
            </a:r>
          </a:p>
          <a:p>
            <a:r>
              <a:t>그래서 발표에서 보여드리는 숫자는 저장소에서 다시 따라가며 검증할 수 있습니다.</a:t>
            </a:r>
          </a:p>
          <a:p>
            <a:r>
              <a:t>이 슬라이드는 제 연구가 단순 실험 결과 요약이 아니라 재현 가능한 파이프라인이라는 점을 강조하는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divider 슬라이드에서 세션 전환은 이미 끝났습니다.</a:t>
            </a:r>
          </a:p>
          <a:p>
            <a:r>
              <a:t>이 슬라이드는 더 이상 전환을 선언하는 슬라이드가 아니라,</a:t>
            </a:r>
          </a:p>
          <a:p>
            <a:r>
              <a:t>뒤 절반 전체를 묶는 네 연구 질문을 정리하는 슬라이드입니다.</a:t>
            </a:r>
          </a:p>
          <a:p/>
          <a:p>
            <a:r>
              <a:t>뒤 절반을 들을 때는 네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작은 judge들을 합칠 때 어떤 집계 규칙이 더 나은가.</a:t>
            </a:r>
          </a:p>
          <a:p>
            <a:r>
              <a:t>마지막으로 문항 수를 줄여도 서열이 남는가.</a:t>
            </a:r>
          </a:p>
          <a:p/>
          <a:p>
            <a:r>
              <a:t>즉 이 슬라이드는 랩미팅 파트의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청중이 뒤의 결과를 phase log처럼 듣지 않도록 넣은 진행 순서 슬라이드입니다.</a:t>
            </a:r>
          </a:p>
          <a:p>
            <a:r>
              <a:t>실험이 어떤 순서로 쌓였는지 보여주면, 왜 각 phase가 필요한지 더 잘 이해됩니다.</a:t>
            </a:r>
          </a:p>
          <a:p/>
          <a:p>
            <a:r>
              <a:t>P1은 self-judge bias를 보는 기준선이고, P2는 외부 14B judge로 broad ranking sanity를 확인하는 단계입니다.</a:t>
            </a:r>
          </a:p>
          <a:p>
            <a:r>
              <a:t>이 두 단계는 문제 정의와 예비 검증 역할을 합니다.</a:t>
            </a:r>
          </a:p>
          <a:p/>
          <a:p>
            <a:r>
              <a:t>핵심은 P3입니다. Qwen 7B, 14B, 32B를 같은 family 안에서 비교해 judge scaling의 메인 결과를 얻습니다.</a:t>
            </a:r>
          </a:p>
          <a:p>
            <a:r>
              <a:t>이 P3 결과 위에서 RQ3인 ensemble design도 평가합니다.</a:t>
            </a:r>
          </a:p>
          <a:p>
            <a:r>
              <a:t>P4와 P5는 그 메인 결과를 보조 검증하는 단계입니다.</a:t>
            </a:r>
          </a:p>
          <a:p>
            <a:r>
              <a:t>InternLM은 cross-family, GPT-4o-mini는 external anchor입니다.</a:t>
            </a:r>
          </a:p>
          <a:p/>
          <a:p>
            <a:r>
              <a:t>마지막 P6는 question reduction을 같은 모델셋 안에서만 보지 않기 위해 넣은 단계입니다.</a:t>
            </a:r>
          </a:p>
          <a:p>
            <a:r>
              <a:t>            즉 Phase 6가 있어야 tinyMT-Bench 결과를 same-set upper bound와 repeated hold-out evidence로 분리해서 말할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4와 5를 보고 나면 많은 청중이 안심합니다.</a:t>
            </a:r>
          </a:p>
          <a:p>
            <a:r>
              <a:t>Qwen32와 InternLM20B, GPT-4o-mini가 대체로 비슷한 서열을 준다면</a:t>
            </a:r>
          </a:p>
          <a:p>
            <a:r>
              <a:t>이제 judge 문제는 거의 해결된 것처럼 느껴질 수 있습니다.</a:t>
            </a:r>
          </a:p>
          <a:p/>
          <a:p>
            <a:r>
              <a:t>하지만 바로 이 지점에서 한 걸음 더 들어가야 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즉 큰 흐름의 ranking validity와, 개별 질문 수준의 decision cleanliness는 다른 문제입니다.</a:t>
            </a:r>
          </a:p>
          <a:p>
            <a:r>
              <a:t>앙상블 결과도 같은 교훈을 줍니다.</a:t>
            </a:r>
          </a:p>
          <a:p>
            <a:r>
              <a:t>작은 judge를 그냥 다수결로 합치면 오히려 오염되고,</a:t>
            </a:r>
          </a:p>
          <a:p>
            <a:r>
              <a:t>abstain ensemble처럼 불확실성을 관리해야 오히려 더 좋아집니다.</a:t>
            </a:r>
          </a:p>
          <a:p/>
          <a:p>
            <a:r>
              <a:t>그래서 이 슬라이드는 judge 연구를 단순 모델 비교가 아니라</a:t>
            </a:r>
          </a:p>
          <a:p>
            <a:r>
              <a:t>evaluation system design 문제로 읽어야 한다는 메시지를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제가 이번 발표에서 꼭 분리해서 설명하고 싶은 부분입니다.</a:t>
            </a:r>
          </a:p>
          <a:p>
            <a:r>
              <a:t>많은 청중이 기권 설계를 보면 처음에는 보수적으로 포기한 것처럼 받아들입니다.</a:t>
            </a:r>
          </a:p>
          <a:p>
            <a:r>
              <a:t>하지만 실제로는 반대입니다. 이건 decision rule을 더 정교하게 만든 겁니다.</a:t>
            </a:r>
          </a:p>
          <a:p/>
          <a:p>
            <a:r>
              <a:t>pairwise 한 쌍에 대해 각 judge는 A, B, tie, inconsistent 중 하나를 냅니다.</a:t>
            </a:r>
          </a:p>
          <a:p>
            <a:r>
              <a:t>여기서 inconsistent는 세 번째 class라기보다, AB/BA swap이 충돌한 low-confidence signal입니다.</a:t>
            </a:r>
          </a:p>
          <a:p>
            <a:r>
              <a:t>그런데 다수결은 이걸 일반 표처럼 셉니다.</a:t>
            </a:r>
          </a:p>
          <a:p>
            <a:r>
              <a:t>그러면 [inconsistent, inconsistent, A] 같은 상황에서도 winner를 잃습니다.</a:t>
            </a:r>
          </a:p>
          <a:p/>
          <a:p>
            <a:r>
              <a:t>abstain은 다르게 봅니다.</a:t>
            </a:r>
          </a:p>
          <a:p>
            <a:r>
              <a:t>inconsistent를 vote가 아니라 기권으로 두고, 남은 decisive vote가 서로 충돌하지 않을 때만 winner를 선언합니다.</a:t>
            </a:r>
          </a:p>
          <a:p>
            <a:r>
              <a:t>그래서 [inconsistent, inconsistent, A]는 A로 복구되고,</a:t>
            </a:r>
          </a:p>
          <a:p>
            <a:r>
              <a:t>[A, B, inconsistent]는 여전히 inconsistent로 남습니다.</a:t>
            </a:r>
          </a:p>
          <a:p/>
          <a:p>
            <a:r>
              <a:t>즉 이 설계는 무조건 많이 판단하려는 것도 아니고, 무조건 보수적으로 포기하는 것도 아닙니다.</a:t>
            </a:r>
          </a:p>
          <a:p>
            <a:r>
              <a:t>낮은 품질 judge의 불확실한 표를 집계에서 분리해 measurement noise를 줄이는 방식입니다.</a:t>
            </a:r>
          </a:p>
          <a:p>
            <a:r>
              <a:t>604쌍이 복구되고 decisive rate도 올라간다는 숫자가 바로 그 설계적 의미를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RQ4로 넘어갑니다.</a:t>
            </a:r>
          </a:p>
          <a:p>
            <a:r>
              <a:t>여기서는 먼저 same-set 결과만 따로 보겠습니다.</a:t>
            </a:r>
          </a:p>
          <a:p/>
          <a:p>
            <a:r>
              <a:t>TopDisc-40은 동일 7개 모델 집합에서는 ρ=1.000입니다.</a:t>
            </a:r>
          </a:p>
          <a:p>
            <a:r>
              <a:t>그래서 얼핏 보면 80문항을 바로 40문항으로 줄여도 되는 것처럼 보입니다.</a:t>
            </a:r>
          </a:p>
          <a:p>
            <a:r>
              <a:t>하지만 바로 옆 random sensitivity를 보면 질문 수가 줄어들수록 분산이 커지고,</a:t>
            </a:r>
          </a:p>
          <a:p>
            <a:r>
              <a:t>mean과 worst-case가 다르다는 점이 드러납니다.</a:t>
            </a:r>
          </a:p>
          <a:p/>
          <a:p>
            <a:r>
              <a:t>그래서 이 슬라이드는 일부러 strong same-set result를 보여주되,</a:t>
            </a:r>
          </a:p>
          <a:p>
            <a:r>
              <a:t>동시에 이것이 upper bound라는 점을 같이 말하는 슬라이드입니다.</a:t>
            </a:r>
          </a:p>
          <a:p>
            <a:r>
              <a:t>즉 같은 모델셋 안에서는 40문항이 매우 강하지만,</a:t>
            </a:r>
          </a:p>
          <a:p>
            <a:r>
              <a:t>실제 운영점은 다음 슬라이드의 hold-out까지 보고 정해야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RQ4를 보수적으로 닫기 위한 두 번째 슬라이드입니다.</a:t>
            </a:r>
          </a:p>
          <a:p/>
          <a:p>
            <a:r>
              <a:t>첫 번째 축은 judge family입니다.</a:t>
            </a:r>
          </a:p>
          <a:p>
            <a:r>
              <a:t>InternLM20B와 GPT-4o-mini가 Qwen32와 broad ranking을 꽤 잘 맞춘다는 점은,</a:t>
            </a:r>
          </a:p>
          <a:p>
            <a:r>
              <a:t>Qwen 결과가 완전히 특이한 artifact는 아니라는 근거를 줍니다.</a:t>
            </a:r>
          </a:p>
          <a:p>
            <a:r>
              <a:t>하지만 pairwise exact agreement는 여전히 낮기 때문에,</a:t>
            </a:r>
          </a:p>
          <a:p>
            <a:r>
              <a:t>질문 수준의 cleanliness까지 같다고 말하면 안 됩니다.</a:t>
            </a:r>
          </a:p>
          <a:p/>
          <a:p>
            <a:r>
              <a:t>두 번째 축은 hold-out입니다.</a:t>
            </a:r>
          </a:p>
          <a:p>
            <a:r>
              <a:t>330개 split 반복 검증을 보면 40문항도 평균적으로 강하지만,</a:t>
            </a:r>
          </a:p>
          <a:p>
            <a:r>
              <a:t>세 judge 모두에서 가장 안전한 운영점은 60문항 쪽입니다.</a:t>
            </a:r>
          </a:p>
          <a:p/>
          <a:p>
            <a:r>
              <a:t>그래서 발표에서는 40문항을 headline으로 과장하지 않고,</a:t>
            </a:r>
          </a:p>
          <a:p>
            <a:r>
              <a:t>same-set upper bound와 repeated hold-out safe zone을 분리해서 말하는 것이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2부 전체를 닫아 주는 슬라이드입니다.</a:t>
            </a:r>
          </a:p>
          <a:p>
            <a:r>
              <a:t>2부가 phase 보고의 나열로 끝나면 연구 질문이 희미해집니다.</a:t>
            </a:r>
          </a:p>
          <a:p>
            <a:r>
              <a:t>그래서 처음 던진 RQ1부터 RQ4까지를 다시 불러와 답하는 방식으로 마무리합니다.</a:t>
            </a:r>
          </a:p>
          <a:p/>
          <a:p>
            <a:r>
              <a:t>RQ1에 대한 답은 가장 명확합니다.</a:t>
            </a:r>
          </a:p>
          <a:p>
            <a:r>
              <a:t>Qwen judge scaling 결과에서는 reliability 개선이 분명히 관찰됐습니다.</a:t>
            </a:r>
          </a:p>
          <a:p>
            <a:r>
              <a:t>RQ2에 대한 답도 선명합니다.</a:t>
            </a:r>
          </a:p>
          <a:p>
            <a:r>
              <a:t>남는 오류는 단순 noise가 아니라 순서 민감성과 format failure입니다.</a:t>
            </a:r>
          </a:p>
          <a:p/>
          <a:p>
            <a:r>
              <a:t>RQ3는 decision rule 문제였습니다.</a:t>
            </a:r>
          </a:p>
          <a:p>
            <a:r>
              <a:t>작은 judge를 그냥 다수결로 세면 안 되고, low-confidence vote를 기권으로 다뤄야 한다는 점이 드러났습니다.</a:t>
            </a:r>
          </a:p>
          <a:p/>
          <a:p>
            <a:r>
              <a:t>RQ4는 부분적으로만 예라고 답해야 정직합니다.</a:t>
            </a:r>
          </a:p>
          <a:p>
            <a:r>
              <a:t>40문항 headline만 남기면 과하고, same-set upper bound와 hold-out safe zone을 같이 말해야 합니다.</a:t>
            </a:r>
          </a:p>
          <a:p/>
          <a:p>
            <a:r>
              <a:t>이 슬라이드가 들어가면 2부가 phase 보고가 아니라</a:t>
            </a:r>
          </a:p>
          <a:p>
            <a:r>
              <a:t>네 개의 연구 질문에 대한 실험적 답변으로 닫히게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>
            <a:r>
              <a:t>특히 저장소는 phase 순서로 읽으면 오늘 발표의 2부와 같은 흐름이 다시 재생됩니다.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49808"/>
            <a:ext cx="5376672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700" b="1">
                <a:solidFill>
                  <a:srgbClr val="282C3A"/>
                </a:solidFill>
                <a:latin typeface="Apple SD Gothic Neo"/>
              </a:rPr>
              <a:t>Judging LLM-as-a-Judge
with MT-Bench
and Chatbot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48463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00" b="1">
                <a:solidFill>
                  <a:srgbClr val="A7614D"/>
                </a:solidFill>
                <a:latin typeface="Apple SD Gothic Neo"/>
              </a:rPr>
              <a:t>1부 논문 발표 / 2부 내 실험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5074920" cy="1078992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앞 절반은 MT-Bench / Chatbot Arena 원 논문을 읽고,
뒤 절반은 그 프로토콜을 내 저장소와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 SD Gothic Neo"/>
              </a:rPr>
              <a:t>핵심 질문: 이 논문의 strong-judge 메시지가 내 오픈소스 judge 재현 실험에서도 어디까지 유지되는가?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paper study + my reproduction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오늘 발표는 1부 논문 발표, 2부 내 실험입니다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실험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발표의 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judge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1부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1">
                <a:solidFill>
                  <a:srgbClr val="282C3A"/>
                </a:solidFill>
                <a:latin typeface="Apple SD Gothic Neo"/>
              </a:rPr>
              <a:t>1부. 논문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먼저 원 논문 자체를 하나의 완결된 주장으로 읽고, 그 다음에야 내 실험이 무엇을 더했는지 자연스럽게 볼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407" y="1371600"/>
            <a:ext cx="3432850" cy="2688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147" y="1371600"/>
            <a:ext cx="4963081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2048256"/>
            <a:ext cx="3584448" cy="2029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57984"/>
            <a:ext cx="34381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523744"/>
            <a:ext cx="3438144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4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9844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1-4. MT-Bench judge prompt는 어떤 형식으로 주어지는가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prompt의 입력 형식과 출력 토큰 규칙을 먼저 이해하게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judge는 자유 응답형 채점기가 아니라, 입력과 출력 형식을 강하게 통제한 평가 프로토콜입니다.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입력 prompt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single: question + answer + rubric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pairwise: question + answer A/B + 비교 지시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turn2: q1-a1-q2-a2를 모두 포함한 multi-turn context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math/coding: reference answer를 추가한 reference-guided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출력 형식과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single: [[rating]] 형태의 정수/점수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pairwise: [[A]], [[B]], [[C]]로 winner/tie 표시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parse 실패 시 single은 -1.0, pairwise는 error로 기록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즉 prompt engineering보다 output contract가 더 중요하다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1-5. judge 점수평가는 실제로 어떻게 흘러가는가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답변 생성부터 parse·aggregate까지 judge scoring flow를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저장소의 재현성 핵심은 prompt를 흉내 낸 것보다도, parse rule과 aggregation rule을 논문과 맞춘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1. 답변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각 모델이 80문항, 2-turn 답변을 생성합니다. generation은 temperature 0.7로 두어 응답 다양성을 확보합니다.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2. judge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turn1/turn2를 채점하고, pairwise는 AB와 BA 두 순서로 각각 judge를 호출합니다. judge는 temperature 0.0입니다.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3. 파싱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1–10 점수를 추출하고 실패 시 -1.0으로 기록합니다. pairwise는 A/B/tie/error를 추출합니다.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4. 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문항별 turn 평균을 모델 점수로, pairwise는 swap 뒤에도 일치할 때만 winner로 채택합니다.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generation 단계와 judge 단계의 temperature를 분리해, 답변 다양성과 평가 결정성을 서로 다른 층으로 관리한다.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single-grade는 turn1 독립 prompt와 turn2 multi-turn prompt를 따로 써서 turn2 맥락 손실을 막는다.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pairwise의 핵심은 winner를 한 번 맞히는 게 아니라, AB/BA swap 뒤에도 유지되는 winner만 채택하는 것이다.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55388"/>
            <a:ext cx="5230367" cy="2320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76400"/>
            <a:ext cx="5230368" cy="2078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1-7.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1-8.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800" b="1">
                <a:solidFill>
                  <a:srgbClr val="282C3A"/>
                </a:solidFill>
                <a:latin typeface="Apple SD Gothic Neo"/>
              </a:rPr>
              <a:t>2부. 내 실험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이제부터는 내 실험입니다. 원 논문의 프로토콜을 오픈소스 judge 실험으로 어떻게 재현하고 어디까지 확장했는지 보여드립니다.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2-1. 원 논문 프로토콜을 내 실험으로 어떻게 옮겼는가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내 실험이 원 논문을 어디까지 그대로 가져오고, 무엇을 바꿨는지 먼저 분리해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즉 내 실험은 원 논문을 단순 요약한 것이 아니라, judge 프로토콜은 유지하되 검증 축을 오픈소스 환경으로 확장한 실험입니다.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그대로 가져온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MT-Bench 80문항, 8개 카테고리, 2-turn 구성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single / pairwise / reference-guided judge mode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AB/BA swap 뒤 일치 winner만 채택하는 pairwise rule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math·coding에 reference-guided 채점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1975104"/>
            <a:ext cx="5449824" cy="437083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084832"/>
            <a:ext cx="52669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내가 바꾼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judge를 GPT-4 단일 축이 아니라 Qwen / InternLM / GPT-4o-mini로 확장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Phase 1–6 파이프라인으로 self-judge, scaling, ensemble, hold-out까지 분리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raw judgment JSONL, aggregate CSV, figure를 모두 저장소에 남김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same-set tinyMT뿐 아니라 repeated hold-out으로 운영점을 다시 검증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2-2. 내 실험 세팅과 산출물은 어떻게 구성했는가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모델, judge, temperature, 산출물 구조를 한 장에서 설명해 재현 흐름을 더 구체화한다.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뒤의 결과는 단순 표 몇 개가 아니라, generation → judge → aggregate → figure로 이어지는 파이프라인 전체에서 나온 값들입니다.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평가 대상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Phase 1–3의 seen set 7개 모델과, Phase 6 hold-out을 위한 unseen 확장 모델들을 사용했습니다.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judge 패밀리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Qwen 7B/14B/32B, InternLM 7B/20B, GPT-4o-mini를 judge로 사용해 same-family와 cross-family를 나눠 봤습니다.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실행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single은 점수, pairwise는 A/B/tie/error, reference는 math·coding 중심으로 별도 실행했습니다.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산출물 구조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data에는 raw JSONL과 CSV, figures에는 시각화, paper와 presentation에는 최종 해석을 남겼습니다.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generation과 judging을 분리해 generation은 temperature 0.7, judge는 temperature 0.0으로 고정했다.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출력은 answer JSONL, single/pairwise/reference judgment JSONL, aggregate CSV, figure까지 단계별로 저장했다.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발표에서 보이는 수치 하나하나는 모두 raw judgment → aggregate → figure 경로를 따라 다시 확인할 수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2-3. 내가 실제로 검증한 네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내 연구 파트를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phase 로그가 아니라 네 개의 연구 질문을 차례로 답하는 발표로 듣는 것이 가장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judge가 좋아진 뒤에도 남는 오류는 단순 noise인가, 아니면 순서 민감성과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ensemble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작은 judge 여러 개를 합칠 때, 다수결보다 더 나은 decision rule이 실제로 존재하는가?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RQ4. question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변별도 기반 subset으로 비용을 줄이면서도 모델 서열을 보존할 수 있는가?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뒤 절반은 phase log가 아니라 RQ1부터 RQ4까지의 답을 찾아가는 흐름으로 들으면 가장 자연스럽다.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2-4. 실험은 어떤 순서로 진행했는가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Phase 1부터 Phase 6까지의 실험 순서를 한 장에서 보여준다.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10149840" cy="54864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572768"/>
            <a:ext cx="658368" cy="658368"/>
          </a:xfrm>
          <a:prstGeom prst="ellipse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Self-judge</a:t>
            </a:r>
          </a:p>
        </p:txBody>
      </p:sp>
      <p:sp>
        <p:nvSpPr>
          <p:cNvPr id="14" name="Oval 13"/>
          <p:cNvSpPr/>
          <p:nvPr/>
        </p:nvSpPr>
        <p:spPr>
          <a:xfrm>
            <a:off x="2697480" y="1572768"/>
            <a:ext cx="658368" cy="658368"/>
          </a:xfrm>
          <a:prstGeom prst="ellipse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Sanity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572768"/>
            <a:ext cx="658368" cy="658368"/>
          </a:xfrm>
          <a:prstGeom prst="ellipse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InternLM</a:t>
            </a:r>
          </a:p>
        </p:txBody>
      </p:sp>
      <p:sp>
        <p:nvSpPr>
          <p:cNvPr id="23" name="Oval 22"/>
          <p:cNvSpPr/>
          <p:nvPr/>
        </p:nvSpPr>
        <p:spPr>
          <a:xfrm>
            <a:off x="8046720" y="1572768"/>
            <a:ext cx="658368" cy="658368"/>
          </a:xfrm>
          <a:prstGeom prst="ellipse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6" name="Oval 25"/>
          <p:cNvSpPr/>
          <p:nvPr/>
        </p:nvSpPr>
        <p:spPr>
          <a:xfrm>
            <a:off x="982980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Hold-out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07792"/>
            <a:ext cx="11155680" cy="28163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P1 self-judge 기준선으로 자기평가 편향을 확인하고, P2에서 외부 14B judge로 초기 sanity check를 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P3는 Qwen 7B/14B/32B를 이용한 메인 judge scaling 실험이고, 여기서 RQ1과 RQ2의 핵심 수치가 나온다.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P3의 출력 위에서 RQ3로 ensemble decision rule을 비교하고, P4·P5는 Qwen 결과가 family가 바뀌어도 크게 무너지지 않는지 점검한다.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P6는 11개 모델 풀의 repeated hold-out으로 RQ4, 즉 tinyMT-Bench subset의 운영 가능성을 same-set upper bound와 분리해 다시 본 단계다.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33872"/>
            <a:ext cx="11155680" cy="38404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500" b="1">
                <a:solidFill>
                  <a:srgbClr val="282C3A"/>
                </a:solidFill>
                <a:latin typeface="Apple SD Gothic Neo"/>
              </a:rPr>
              <a:t>즉 오늘 결과는 self-judge 확인 → main scaling → ensemble / cross-family 보강 → repeated hold-out 검증의 순서로 쌓아 올린 것입니다.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RQ1 준비.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24355"/>
            <a:ext cx="5230368" cy="25828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96737"/>
            <a:ext cx="5230367" cy="203806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RQ1을 제대로 보려면 먼저 self-judge 함정을 걷어내야 합니다. 이 슬라이드는 그 준비 단계입니다.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RQ1 답. Phase 3: Qwen judge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89633"/>
            <a:ext cx="5230368" cy="2252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530247"/>
            <a:ext cx="5230368" cy="23710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기반 judge scaling의 same-family empirical trend’로 읽는 것이 맞다.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RQ2. judge가 좋아진 뒤에도 남는 오류는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19/24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전체 서열과 질문 단위 결정이 분리된다는 점, 그리고 잔여 오류가 순서 민감하게 남는다는 점을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71367"/>
            <a:ext cx="5230368" cy="188880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02683"/>
            <a:ext cx="5230368" cy="22261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Order-sensitive residual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Qwen32, InternLM20B, GPT-4o-mini는 broad ranking은 대체로 맞지만, exact pairwise winner agreement는 0.50~0.58 수준에 머문다.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특히 Qwen32의 남은 불일치 중 94.93%가 first-position win으로 연결되어, 잔여 오류가 순서 민감한 사례에 집중된다는 점이 드러난다.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ranking validity와 question-level decision cleanliness는 분리해서 읽어야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596128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 명확합니다. judge가 좋아져도 남는 오류는 단순 노이즈가 아니라 순서 민감성과 운영 리스크의 형태로 남습니다.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RQ3. 왜 majority보다 abstain이 더 낫나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20/24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기권 설계를 결과표가 아니라 decision rule 자체로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각 judge는 pairwise 한 쌍에 대해 {A, B, tie, inconsistent} 중 하나를 남긴다. 여기서 inconsistent는 AB/BA swap이 충돌한 low-confidence case다.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다수결은 inconsistent도 하나의 표처럼 세기 때문에 [inconsistent, inconsistent, A] 같은 경우 winner를 잃고 noisy 7B가 aggregate를 오염시킨다.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abstain은 inconsistent를 기권으로 버리고, 남은 decisive vote가 충돌하지 않을 때만 winner를 선언한다.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실제로 604쌍(36%)이 inconsistent→winner로 복구되고, inconsistency는 58.63%→24.70%, decisive rate는 41.37%→75.30%로 개선된다.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RQ3의 답은 예입니다. 작은 judge를 그냥 다수결로 합치는 것보다, low-confidence vote를 기권으로 다루는 것이 훨씬 더 낫습니다.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Majority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58.63%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Abstain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24.70%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604쌍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Decisive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75.30%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200" b="1">
                <a:solidFill>
                  <a:srgbClr val="282C3A"/>
                </a:solidFill>
                <a:latin typeface="Apple SD Gothic Neo"/>
              </a:rPr>
              <a:t>RQ4-1. 문항을 줄여도 같은 모델셋에서는 서열이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21/24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tinyMT-Bench의 same-set upper bound와 random baseline을 함께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9_tiny_mt_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84242"/>
            <a:ext cx="5230368" cy="18630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7_qsiz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387" y="1371600"/>
            <a:ext cx="4186602" cy="268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same-set tinyMT-Bench upper bound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question count sensitivity of random subsets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TopDisc-40은 동일 7개 모델 집합에서 ρ=1.000, TopDisc-25는 ρ=0.964를 달성해 same-set upper bound로는 매우 강하다.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반면 random subset은 평균적으로는 좋아져도 분산이 커서, 30문항에서는 mean ρ≈0.95여도 worst-case는 여전히 흔들린다.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same-set 결과만 보면 40문항으로 절반 절감이 가능해 보이지만, 이 수치만으로 운영점을 확정하면 과감해진다.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TopDisc-40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Random 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mean ρ≈0.95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same-set upper bound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100" b="1">
                <a:solidFill>
                  <a:srgbClr val="282C3A"/>
                </a:solidFill>
                <a:latin typeface="Apple SD Gothic Neo"/>
              </a:rPr>
              <a:t>RQ4-2. hold-out과 다른 judge에서 안전한 운영점은 어디인가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22/24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cross-family judge sanity와 repeated hold-out 운영점을 함께 묶어 same-set 결과를 보수적으로 닫는다.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1" name="Picture 10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450" y="1371600"/>
            <a:ext cx="3776764" cy="2688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08776" y="1261872"/>
            <a:ext cx="5449824" cy="29077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pic>
        <p:nvPicPr>
          <p:cNvPr id="13" name="Picture 12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696161"/>
            <a:ext cx="5230368" cy="20392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and external judge 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279392"/>
            <a:ext cx="5449824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35424"/>
            <a:ext cx="1115568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InternLM20B는 Qwen32와 ρ=0.893, GPT-4o-mini는 ρ=0.964로 broad ranking pattern을 유지해 Qwen 결과가 완전한 family artifact는 아님을 보여준다.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다만 exact pairwise agreement는 0.50~0.58 수준이라 judge 간 broad consistency와 question-level cleanliness는 여전히 구분해야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Repeated hold-out 330 split에서는 40문항도 strong하지만, 세 judge 모두에서 가장 안전한 운영점은 60문항(mean ρ≈0.998 / 0.995 / 0.972)이다.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568756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2889504" y="568756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GPT-4o-mini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102352" y="568756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three-judge safe zone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557784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68756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33488" y="568756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92531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preliminary but strong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2-5. 네 연구 질문에 대한 현재 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23/24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2부에서 처음 던진 네 연구 질문에 대한 현재 답을 한 장에서 닫아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따라서 결론은 단순 재현 성공이 아니라, 오픈소스 judge를 어디까지 믿고 어디서부터 운영 규칙을 붙여야 하는지 실험적으로 말할 수 있게 되었다는 것입니다.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scaling은 개선되는가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예. Qwen judge scaling 결과에서는 7B → 14B → 32B로 갈수록 pairwise inconsistency가 뚜렷하게 줄었습니다.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048256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157984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남는 오류는 어떤 구조인가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450592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단순 noise가 아니라 순서 민감성과 format failure처럼 구조화됩니다. 그래서 ranking과 question-level cleanliness를 분리해야 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어떤 앙상블이 더 낫나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단순 majority보다 abstain이 낫습니다. inconsistent를 표로 세지 않을 때 더 많은 쌍을 더 깨끗하게 결정할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75888"/>
            <a:ext cx="5449824" cy="144475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785616"/>
            <a:ext cx="526694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RQ4. 문항을 줄여도 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078224"/>
            <a:ext cx="5266944" cy="8046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350" b="0">
                <a:solidFill>
                  <a:srgbClr val="363A48"/>
                </a:solidFill>
                <a:latin typeface="Apple SD Gothic Neo"/>
              </a:rPr>
              <a:t>부분적으로 예. same-set upper bound는 40문항에서 강하지만, repeated hold-out 기준 안전한 운영점은 60문항 쪽입니다.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500">
                <a:solidFill>
                  <a:srgbClr val="363A48"/>
                </a:solidFill>
                <a:latin typeface="Apple SD Gothic Neo"/>
              </a:defRPr>
            </a:pPr>
            <a:r>
              <a:t>• 즉 이 발표의 결론은 ‘오픈소스 judge도 충분하다’가 아니라, strong judge 메시지의 경계와 운영 규칙까지 같이 말할 수 있게 되었다는 데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norm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24/24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실험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norm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실험은 Phase 1–2 → Phase 3 → Phase 4–5 → Phase 6 순으로 읽으면 오늘 발표 흐름과 정확히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norm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norm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norm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norm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