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발표는 랩미팅 발표보다는 논문 스터디에 더 가깝게 구성했습니다.</a:t>
            </a:r>
          </a:p>
          <a:p>
            <a:r>
              <a:t>앞 절반은 Zheng et al.의 MT-Bench / Chatbot Arena 논문을 읽는 시간이 되고,</a:t>
            </a:r>
          </a:p>
          <a:p>
            <a:r>
              <a:t>뒤 절반은 제가 그 프로토콜을 오픈소스 judge 파이프라인으로 어떻게 옮겼는지 설명하는 구조입니다.</a:t>
            </a:r>
          </a:p>
          <a:p/>
          <a:p>
            <a:r>
              <a:t>따라서 이 발표를 들을 때 중요한 기준은 두 가지입니다.</a:t>
            </a:r>
          </a:p>
          <a:p>
            <a:r>
              <a:t>첫째, 원 논문이 실제로 무엇을 주장했는지 정확히 이해하는 것.</a:t>
            </a:r>
          </a:p>
          <a:p>
            <a:r>
              <a:t>둘째, 제 재현 실험이 그 주장 중 어떤 부분을 지지하고 어떤 부분을 보수적으로 다시 해석하는지 보는 것입니다.</a:t>
            </a:r>
          </a:p>
          <a:p/>
          <a:p>
            <a:r>
              <a:t>오늘의 최종 메시지는 간단합니다.</a:t>
            </a:r>
          </a:p>
          <a:p>
            <a:r>
              <a:t>MT-Bench는 여전히 좋은 benchmark이고, LLM-as-a-Judge는 유용한 접근입니다.</a:t>
            </a:r>
          </a:p>
          <a:p>
            <a:r>
              <a:t>다만 오픈소스 judge에서는 크기, 아키텍처, pairwise format 안정성, hold-out 일반화까지 함께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오늘 발표의 독해법을 정하는 슬라이드입니다.</a:t>
            </a:r>
          </a:p>
          <a:p>
            <a:r>
              <a:t>먼저 원 논문을 이해해야 뒤의 재현 실험이 단순 숫자 나열이 아니라는 점이 보입니다.</a:t>
            </a:r>
          </a:p>
          <a:p/>
          <a:p>
            <a:r>
              <a:t>발표는 목차를 나열하기보다 하나의 질문을 세 번 나눠 답하는 구조로 듣는 게 좋습니다.</a:t>
            </a:r>
          </a:p>
          <a:p>
            <a:r>
              <a:t>첫째, 원 논문의 주장이 정확히 무엇이었는가.</a:t>
            </a:r>
          </a:p>
          <a:p>
            <a:r>
              <a:t>둘째, 그 프로토콜을 오픈소스 judge 환경으로 옮기면 무엇이 달라지는가.</a:t>
            </a:r>
          </a:p>
          <a:p>
            <a:r>
              <a:t>셋째, 유지되는 결론과 더 이상 강하게 말하면 안 되는 결론은 무엇인가.</a:t>
            </a:r>
          </a:p>
          <a:p/>
          <a:p>
            <a:r>
              <a:t>발표가 끝나면 세 질문에 답할 수 있으면 됩니다.</a:t>
            </a:r>
          </a:p>
          <a:p>
            <a:r>
              <a:t>원 논문이 왜 중요했는가.</a:t>
            </a:r>
          </a:p>
          <a:p>
            <a:r>
              <a:t>내 저장소가 무엇을 재현 가능하게 만들었는가.</a:t>
            </a:r>
          </a:p>
          <a:p>
            <a:r>
              <a:t>그리고 오픈소스 judge를 실제로 어디까지 믿어도 되는가.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논문의 출발점은 매우 현실적입니다.</a:t>
            </a:r>
          </a:p>
          <a:p>
            <a:r>
              <a:t>대화형 모델을 평가하려면 open-ended 품질을 봐야 하는데, 기존 객관식 벤치마크는 그걸 충분히 담지 못합니다.</a:t>
            </a:r>
          </a:p>
          <a:p>
            <a:r>
              <a:t>그렇다고 사람 평가를 계속 붙이면 속도가 너무 느리고 비용이 큽니다.</a:t>
            </a:r>
          </a:p>
          <a:p/>
          <a:p>
            <a:r>
              <a:t>그래서 원 논문은 두 축을 동시에 만듭니다.</a:t>
            </a:r>
          </a:p>
          <a:p>
            <a:r>
              <a:t>하나는 controlled benchmark인 MT-Bench이고,</a:t>
            </a:r>
          </a:p>
          <a:p>
            <a:r>
              <a:t>다른 하나는 실제 사용자의 선호 데이터를 모으는 Chatbot Arena입니다.</a:t>
            </a:r>
          </a:p>
          <a:p/>
          <a:p>
            <a:r>
              <a:t>왼쪽 그림은 Arena의 실제 인터페이스입니다.</a:t>
            </a:r>
          </a:p>
          <a:p>
            <a:r>
              <a:t>사용자는 모델 이름을 모른 채 두 응답 중 더 나은 답변을 고릅니다.</a:t>
            </a:r>
          </a:p>
          <a:p>
            <a:r>
              <a:t>오른쪽 그림은 MT-Bench 점수와 Arena 승률의 관계를 보여줍니다.</a:t>
            </a:r>
          </a:p>
          <a:p>
            <a:r>
              <a:t>즉 원 논문은 benchmark와 in-the-wild preference를 따로따로 두지 않고,</a:t>
            </a:r>
          </a:p>
          <a:p>
            <a:r>
              <a:t>둘의 연결을 통해 judge의 타당성을 설득하려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MT-Bench와 Arena는 겉으로 보기엔 둘 다 평가 데이터처럼 보이지만 역할이 다릅니다.</a:t>
            </a:r>
          </a:p>
          <a:p>
            <a:r>
              <a:t>MT-Bench는 controlled benchmark입니다. 같은 질문 세트에 대해 여러 모델을 반복적으로 비교할 수 있고,</a:t>
            </a:r>
          </a:p>
          <a:p>
            <a:r>
              <a:t>category별 분석도 가능합니다.</a:t>
            </a:r>
          </a:p>
          <a:p/>
          <a:p>
            <a:r>
              <a:t>반면 Arena는 통제된 benchmark가 아니라 실제 사용자 환경입니다.</a:t>
            </a:r>
          </a:p>
          <a:p>
            <a:r>
              <a:t>질문도 자유롭고, 사용자는 두 답변을 블라인드로 비교합니다.</a:t>
            </a:r>
          </a:p>
          <a:p>
            <a:r>
              <a:t>이건 benchmark의 재현성은 떨어지지만 현실의 인간 선호를 훨씬 더 잘 반영합니다.</a:t>
            </a:r>
          </a:p>
          <a:p/>
          <a:p>
            <a:r>
              <a:t>원 논문이 강한 이유는 이 둘을 함께 사용했다는 점입니다.</a:t>
            </a:r>
          </a:p>
          <a:p>
            <a:r>
              <a:t>즉 MT-Bench 점수가 높으면 Arena 승률도 높다는 관계를 보이면서,</a:t>
            </a:r>
          </a:p>
          <a:p>
            <a:r>
              <a:t>benchmark 점수가 단순 인공적인 숫자가 아니라는 걸 설득합니다.</a:t>
            </a:r>
          </a:p>
          <a:p/>
          <a:p>
            <a:r>
              <a:t>이 발표 뒤쪽에서 제 재현 실험은 MT-Bench 쪽을 중심으로 따라갑니다.</a:t>
            </a:r>
          </a:p>
          <a:p>
            <a:r>
              <a:t>Arena 자체를 재현한 건 아니고, MT-Bench judge reliability를 더 자세히 캐보는 방향으로 확장했다고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발표 전체에서 아주 중요합니다.</a:t>
            </a:r>
          </a:p>
          <a:p>
            <a:r>
              <a:t>왜냐하면 뒤의 제 실험도 결국 같은 judge 프로토콜을 구현하고 있기 때문입니다.</a:t>
            </a:r>
          </a:p>
          <a:p/>
          <a:p>
            <a:r>
              <a:t>Single-answer grading은 0에서 10 사이 점수를 주는 방식이고,</a:t>
            </a:r>
          </a:p>
          <a:p>
            <a:r>
              <a:t>pairwise는 두 응답 중 winner를 직접 고르는 방식입니다.</a:t>
            </a:r>
          </a:p>
          <a:p>
            <a:r>
              <a:t>Reference-guided grading은 특히 수학과 코딩처럼 정답 기준이 필요한 문항에서 중요합니다.</a:t>
            </a:r>
          </a:p>
          <a:p/>
          <a:p>
            <a:r>
              <a:t>많은 사람이 원 논문을 읽으면서 GPT-4 judge가 그냥 채점기처럼 등장했다고 생각하는데,</a:t>
            </a:r>
          </a:p>
          <a:p>
            <a:r>
              <a:t>실제로는 prompt protocol이 꽤 정교합니다.</a:t>
            </a:r>
          </a:p>
          <a:p>
            <a:r>
              <a:t>그리고 저자들도 bias 문제를 적극적으로 분석합니다.</a:t>
            </a:r>
          </a:p>
          <a:p>
            <a:r>
              <a:t>verbosity bias, position bias, self-enhancement bias를 같이 본다는 점은</a:t>
            </a:r>
          </a:p>
          <a:p>
            <a:r>
              <a:t>원 논문이 생각보다 훨씬 신중한 paper라는 뜻입니다.</a:t>
            </a:r>
          </a:p>
          <a:p/>
          <a:p>
            <a:r>
              <a:t>이 점이 나중에 제 실험에서도 중요한 기준이 됩니다.</a:t>
            </a:r>
          </a:p>
          <a:p>
            <a:r>
              <a:t>즉 judge 성능을 볼 때 agreement만 보는 게 아니라, 남는 bias의 구조까지 같이 봐야 한다는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원 논문과 제 저장소 사이를 연결하는 가장 중요한 프로토콜 슬라이드입니다.</a:t>
            </a:r>
          </a:p>
          <a:p>
            <a:r>
              <a:t>청중이 여기서 judge가 실제로 무엇을 입력받고 무엇을 출력하는지 이해해야,</a:t>
            </a:r>
          </a:p>
          <a:p>
            <a:r>
              <a:t>뒤의 scaling과 abstain 결과도 설득력 있게 들립니다.</a:t>
            </a:r>
          </a:p>
          <a:p/>
          <a:p>
            <a:r>
              <a:t>첫 단계는 답변 생성입니다. 각 모델이 80문항 2-turn 답변을 만들고,</a:t>
            </a:r>
          </a:p>
          <a:p>
            <a:r>
              <a:t>여기에는 temperature 0.7을 둬서 응답 다양성을 허용합니다.</a:t>
            </a:r>
          </a:p>
          <a:p>
            <a:r>
              <a:t>두 번째 단계는 judge 호출입니다. judge는 반대로 temperature 0.0으로 고정해서</a:t>
            </a:r>
          </a:p>
          <a:p>
            <a:r>
              <a:t>평가 noise를 줄입니다.</a:t>
            </a:r>
          </a:p>
          <a:p/>
          <a:p>
            <a:r>
              <a:t>single-grade에서는 turn1과 turn2를 같은 방식으로 다루지 않습니다.</a:t>
            </a:r>
          </a:p>
          <a:p>
            <a:r>
              <a:t>turn2는 q1, a1, q2, a2를 함께 넣어 multi-turn context로 채점해야</a:t>
            </a:r>
          </a:p>
          <a:p>
            <a:r>
              <a:t>실제 MT-Bench 프로토콜과 맞습니다.</a:t>
            </a:r>
          </a:p>
          <a:p/>
          <a:p>
            <a:r>
              <a:t>pairwise에서는 AB와 BA를 둘 다 돌립니다.</a:t>
            </a:r>
          </a:p>
          <a:p>
            <a:r>
              <a:t>핵심은 두 번의 호출을 했다는 사실이 아니라, 그 둘을 합칠 때</a:t>
            </a:r>
          </a:p>
          <a:p>
            <a:r>
              <a:t>swap 뒤에도 같은 winner가 유지될 때만 채택한다는 점입니다.</a:t>
            </a:r>
          </a:p>
          <a:p>
            <a:r>
              <a:t>즉 이 연구는 단순 prompt demo가 아니라, parse와 aggregate rule까지 포함한 protocol reproduction입니다.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원 논문을 조금 더 공정하게 읽기 위해 넣었습니다.</a:t>
            </a:r>
          </a:p>
          <a:p>
            <a:r>
              <a:t>원 논문을 처음 읽는 사람에게는 이 슬라이드가 가장 중요합니다.</a:t>
            </a:r>
          </a:p>
          <a:p>
            <a:r>
              <a:t>이 논문이 실제로 주장한 핵심은 두 문장으로 요약할 수 있습니다.</a:t>
            </a:r>
          </a:p>
          <a:p/>
          <a:p>
            <a:r>
              <a:t>첫째, GPT-4 judge는 인간 expert와 꽤 잘 맞는다.</a:t>
            </a:r>
          </a:p>
          <a:p>
            <a:r>
              <a:t>둘째, MT-Bench 점수는 모델 품질 차이를 꽤 설득력 있게 서열화한다.</a:t>
            </a:r>
          </a:p>
          <a:p/>
          <a:p>
            <a:r>
              <a:t>왼쪽 Table 5가 첫 번째 주장이고, 오른쪽 Table 8이 두 번째 주장입니다.</a:t>
            </a:r>
          </a:p>
          <a:p>
            <a:r>
              <a:t>이 두 숫자가 붙으면서 LLM-as-a-Judge라는 메시지가 힘을 얻습니다.</a:t>
            </a:r>
          </a:p>
          <a:p/>
          <a:p>
            <a:r>
              <a:t>뒤쪽 제 재현 실험도 사실은 이 두 질문을 반복합니다.</a:t>
            </a:r>
          </a:p>
          <a:p>
            <a:r>
              <a:t>agreement가 오픈소스 judge에서도 유지되는가,</a:t>
            </a:r>
          </a:p>
          <a:p>
            <a:r>
              <a:t>그리고 서열이 여전히 설득력 있는가.</a:t>
            </a:r>
          </a:p>
          <a:p>
            <a:r>
              <a:t>이 슬라이드가 그 기준점입니다.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논문이 이 정도로 널리 인용된 이유는 결국 숫자가 강했기 때문입니다.</a:t>
            </a:r>
          </a:p>
          <a:p>
            <a:r>
              <a:t>하지만 좋은 paper study는 숫자만 반복하면 안 됩니다.</a:t>
            </a:r>
          </a:p>
          <a:p>
            <a:r>
              <a:t>원 논문은 꽤 인상적인 숫자를 보였지만,</a:t>
            </a:r>
          </a:p>
          <a:p>
            <a:r>
              <a:t>동시에 judge bias도 분석했습니다.</a:t>
            </a:r>
          </a:p>
          <a:p/>
          <a:p>
            <a:r>
              <a:t>특히 position bias와 verbosity bias를 별도 분석 대상으로 둔다는 점이 중요합니다.</a:t>
            </a:r>
          </a:p>
          <a:p>
            <a:r>
              <a:t>이건 저자들이 judge를 그냥 좋은 채점기로 본 게 아니라,</a:t>
            </a:r>
          </a:p>
          <a:p>
            <a:r>
              <a:t>편향을 가진 measurement system으로 봤다는 뜻입니다.</a:t>
            </a:r>
          </a:p>
          <a:p/>
          <a:p>
            <a:r>
              <a:t>이 관점이 제 재현 실험과 직접 이어집니다.</a:t>
            </a:r>
          </a:p>
          <a:p>
            <a:r>
              <a:t>저도 agreement 숫자만 반복하지 않고,</a:t>
            </a:r>
          </a:p>
          <a:p>
            <a:r>
              <a:t>Phase 3 이후에는 남는 오류가 어떤 편향 형태로 남는지 따로 분석합니다.</a:t>
            </a:r>
          </a:p>
          <a:p/>
          <a:p>
            <a:r>
              <a:t>그래서 이 슬라이드는 뒤쪽 residual bias 슬라이드의 이론적 다리 역할을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좋은 paper study는 찬양으로 끝나면 안 됩니다.</a:t>
            </a:r>
          </a:p>
          <a:p>
            <a:r>
              <a:t>그래서 여기서 원 논문이 남긴 열린 질문을 짚고 넘어가겠습니다.</a:t>
            </a:r>
          </a:p>
          <a:p/>
          <a:p>
            <a:r>
              <a:t>첫째, GPT-4 judge는 강력하지만 closed judge입니다.</a:t>
            </a:r>
          </a:p>
          <a:p>
            <a:r>
              <a:t>즉 비용과 버전 drift 문제가 남고, 시간이 지나면 같은 실험을 그대로 다시 하기가 어렵습니다.</a:t>
            </a:r>
          </a:p>
          <a:p>
            <a:r>
              <a:t>둘째, 논문은 bias를 분석했지만, 그 결론을 오픈소스 judge에 바로 옮길 수는 없습니다.</a:t>
            </a:r>
          </a:p>
          <a:p/>
          <a:p>
            <a:r>
              <a:t>제가 이 저장소에서 한 일은 이 열린 질문을 따라가는 것입니다.</a:t>
            </a:r>
          </a:p>
          <a:p>
            <a:r>
              <a:t>MT-Bench 80문항, single/pairwise/reference 프로토콜은 그대로 유지하되,</a:t>
            </a:r>
          </a:p>
          <a:p>
            <a:r>
              <a:t>judge를 Qwen, InternLM, GPT-4o-mini로 나눠서 다시 본 겁니다.</a:t>
            </a:r>
          </a:p>
          <a:p/>
          <a:p>
            <a:r>
              <a:t>즉 다음 섹션부터는 ‘원 논문을 얼마나 잘 이해했는가’가 아니라</a:t>
            </a:r>
          </a:p>
          <a:p>
            <a:r>
              <a:t>‘그 이해를 바탕으로 무엇을 재현했고 무엇을 추가로 알게 됐는가’로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의도적으로 호흡을 한번 끊는 역할을 합니다.</a:t>
            </a:r>
          </a:p>
          <a:p>
            <a:r>
              <a:t>앞 절반은 원 논문 리뷰였고, 여기부터는 제 연구 발표입니다.</a:t>
            </a:r>
          </a:p>
          <a:p>
            <a:r>
              <a:t>그래서 청중이 화면만 봐도 세션이 전환됐다는 걸 느끼게 하고 싶었습니다.</a:t>
            </a:r>
          </a:p>
          <a:p/>
          <a:p>
            <a:r>
              <a:t>짧게 말하면 앞 절반에서 만든 기준점을 이제 검증 대상으로 바꾸는 순간입니다.</a:t>
            </a:r>
          </a:p>
          <a:p>
            <a:r>
              <a:t>원 논문의 두 핵심 주장, 그리고 열린 질문을 들고 제 실험으로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여기부터는 의도적으로 분위기를 바꿉니다.</a:t>
            </a:r>
          </a:p>
          <a:p>
            <a:r>
              <a:t>divider 슬라이드에서 세션 전환은 이미 끝났습니다.</a:t>
            </a:r>
          </a:p>
          <a:p>
            <a:r>
              <a:t>이 슬라이드는 더 이상 전환을 선언하는 슬라이드가 아니라,</a:t>
            </a:r>
          </a:p>
          <a:p>
            <a:r>
              <a:t>뒤 절반 전체를 묶는 네 연구 질문을 정리하는 슬라이드입니다.</a:t>
            </a:r>
          </a:p>
          <a:p/>
          <a:p>
            <a:r>
              <a:t>뒤 절반을 들을 때는 네 질문만 기억하면 됩니다.</a:t>
            </a:r>
          </a:p>
          <a:p>
            <a:r>
              <a:t>judge scaling이 실제로 reliability를 개선하는가.</a:t>
            </a:r>
          </a:p>
          <a:p>
            <a:r>
              <a:t>개선 뒤 남는 오류는 어떤 구조인가.</a:t>
            </a:r>
          </a:p>
          <a:p>
            <a:r>
              <a:t>작은 judge들을 합칠 때 어떤 집계 규칙이 더 나은가.</a:t>
            </a:r>
          </a:p>
          <a:p>
            <a:r>
              <a:t>마지막으로 문항 수를 줄여도 서열이 남는가.</a:t>
            </a:r>
          </a:p>
          <a:p/>
          <a:p>
            <a:r>
              <a:t>즉 이 슬라이드는 랩미팅 파트의 문제 정의 슬라이드라고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청중이 뒤의 결과를 phase log처럼 듣지 않도록 넣은 진행 순서 슬라이드입니다.</a:t>
            </a:r>
          </a:p>
          <a:p>
            <a:r>
              <a:t>실험이 어떤 순서로 쌓였는지 보여주면, 왜 각 phase가 필요한지 더 잘 이해됩니다.</a:t>
            </a:r>
          </a:p>
          <a:p/>
          <a:p>
            <a:r>
              <a:t>P1은 self-judge bias를 보는 기준선이고, P2는 외부 14B judge로 broad ranking sanity를 확인하는 단계입니다.</a:t>
            </a:r>
          </a:p>
          <a:p>
            <a:r>
              <a:t>이 두 단계는 문제 정의와 예비 검증 역할을 합니다.</a:t>
            </a:r>
          </a:p>
          <a:p/>
          <a:p>
            <a:r>
              <a:t>핵심은 P3입니다. Qwen 7B, 14B, 32B를 같은 family 안에서 비교해 judge scaling의 메인 결과를 얻습니다.</a:t>
            </a:r>
          </a:p>
          <a:p>
            <a:r>
              <a:t>이 P3 결과 위에서 RQ3인 ensemble design도 평가합니다.</a:t>
            </a:r>
          </a:p>
          <a:p>
            <a:r>
              <a:t>P4와 P5는 그 메인 결과를 보조 검증하는 단계입니다.</a:t>
            </a:r>
          </a:p>
          <a:p>
            <a:r>
              <a:t>InternLM은 cross-family, GPT-4o-mini는 external anchor입니다.</a:t>
            </a:r>
          </a:p>
          <a:p/>
          <a:p>
            <a:r>
              <a:t>마지막 P6는 question reduction을 같은 모델셋 안에서만 보지 않기 위해 넣은 단계입니다.</a:t>
            </a:r>
          </a:p>
          <a:p>
            <a:r>
              <a:t>즉 Phase 6가 있어야 tinyMT-Bench 결과를 same-set upper bound와 repeated hold-out evidence로 분리해서 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1과 2는 본격 결과라기보다 문제 제기 단계입니다.</a:t>
            </a:r>
          </a:p>
          <a:p>
            <a:r>
              <a:t>Self-judge를 해보면 Qwen2.5-7B가 특히 Math와 Coding에서 높은 점수를 주는 경향이 드러납니다.</a:t>
            </a:r>
          </a:p>
          <a:p>
            <a:r>
              <a:t>즉 자신의 강점 영역을 과대평가할 가능성이 있습니다.</a:t>
            </a:r>
          </a:p>
          <a:p/>
          <a:p>
            <a:r>
              <a:t>그래서 외부 judge를 붙이지만, 거기서도 문제가 끝나지 않습니다.</a:t>
            </a:r>
          </a:p>
          <a:p>
            <a:r>
              <a:t>ranking은 어느 정도 정리되지만 pairwise inconsistency가 여전히 높습니다.</a:t>
            </a:r>
          </a:p>
          <a:p>
            <a:r>
              <a:t>이건 judge reliability 문제를 단순히 self-vs-external로 읽으면 안 된다는 뜻입니다.</a:t>
            </a:r>
          </a:p>
          <a:p/>
          <a:p>
            <a:r>
              <a:t>이 슬라이드의 역할은 뒤 메인 실험의 필요성을 만드는 것입니다.</a:t>
            </a:r>
          </a:p>
          <a:p>
            <a:r>
              <a:t>왜 32B 같은 더 큰 judge를 보고, 왜 cross-family와 hold-out까지 보게 되었는지 설명하는 출발점이라고 생각하시면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이번 재현 실험의 중심입니다.</a:t>
            </a:r>
          </a:p>
          <a:p>
            <a:r>
              <a:t>Qwen judge를 7B에서 14B, 32B로 키우면 pairwise inconsistency가 크게 줄어듭니다.</a:t>
            </a:r>
          </a:p>
          <a:p>
            <a:r>
              <a:t>그리고 score range도 넓어져서 모델 간 차이를 더 잘 구분합니다.</a:t>
            </a:r>
          </a:p>
          <a:p/>
          <a:p>
            <a:r>
              <a:t>이 결과는 꽤 강합니다. 하지만 표현은 조심해야 합니다.</a:t>
            </a:r>
          </a:p>
          <a:p>
            <a:r>
              <a:t>이건 universal scaling law가 아닙니다.</a:t>
            </a:r>
          </a:p>
          <a:p>
            <a:r>
              <a:t>정확하게는 Qwen2.5 동일 family 안에서 judge가 커질수록 reliability가 좋아졌다는 empirical trend입니다.</a:t>
            </a:r>
          </a:p>
          <a:p/>
          <a:p>
            <a:r>
              <a:t>저는 발표에서 이 보수적 framing을 일부러 유지할 겁니다.</a:t>
            </a:r>
          </a:p>
          <a:p>
            <a:r>
              <a:t>왜냐하면 뒤의 InternLM과 GPT-4o-mini가 이 메인 결과를 보조하긴 하지만,</a:t>
            </a:r>
          </a:p>
          <a:p>
            <a:r>
              <a:t>Phase 3 자체를 완전히 대체하진 않기 때문입니다.</a:t>
            </a:r>
          </a:p>
          <a:p/>
          <a:p>
            <a:r>
              <a:t>하지만 이 슬라이드를 그냥 ‘스케일링이 먹혔다’로 끝내면 재미가 없습니다.</a:t>
            </a:r>
          </a:p>
          <a:p>
            <a:r>
              <a:t>바로 다음 슬라이드에서 남는 오류의 구조를 보면,</a:t>
            </a:r>
          </a:p>
          <a:p>
            <a:r>
              <a:t>단순 개선 서사가 아니라 훨씬 더 흥미로운 이야기가 나오기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4와 5를 보고 나면 많은 청중이 안심합니다.</a:t>
            </a:r>
          </a:p>
          <a:p>
            <a:r>
              <a:t>Qwen32와 InternLM20B, GPT-4o-mini가 대체로 비슷한 서열을 준다면</a:t>
            </a:r>
          </a:p>
          <a:p>
            <a:r>
              <a:t>이제 judge 문제는 거의 해결된 것처럼 느껴질 수 있습니다.</a:t>
            </a:r>
          </a:p>
          <a:p/>
          <a:p>
            <a:r>
              <a:t>하지만 바로 이 지점에서 한 걸음 더 들어가야 합니다.</a:t>
            </a:r>
          </a:p>
          <a:p>
            <a:r>
              <a:t>32B judge는 전체 inconsistency는 많이 줄였지만,</a:t>
            </a:r>
          </a:p>
          <a:p>
            <a:r>
              <a:t>남아 있는 불일치는 거의 first-position bias와 연결됩니다.</a:t>
            </a:r>
          </a:p>
          <a:p/>
          <a:p>
            <a:r>
              <a:t>즉 큰 흐름의 ranking validity와, 개별 질문 수준의 decision cleanliness는 다른 문제입니다.</a:t>
            </a:r>
          </a:p>
          <a:p>
            <a:r>
              <a:t>앙상블 결과도 같은 교훈을 줍니다.</a:t>
            </a:r>
          </a:p>
          <a:p>
            <a:r>
              <a:t>작은 judge를 그냥 다수결로 합치면 오히려 오염되고,</a:t>
            </a:r>
          </a:p>
          <a:p>
            <a:r>
              <a:t>abstain ensemble처럼 불확실성을 관리해야 오히려 더 좋아집니다.</a:t>
            </a:r>
          </a:p>
          <a:p/>
          <a:p>
            <a:r>
              <a:t>그래서 이 슬라이드는 judge 연구를 단순 모델 비교가 아니라</a:t>
            </a:r>
          </a:p>
          <a:p>
            <a:r>
              <a:t>evaluation system design 문제로 읽어야 한다는 메시지를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제가 이번 발표에서 꼭 분리해서 설명하고 싶은 부분입니다.</a:t>
            </a:r>
          </a:p>
          <a:p>
            <a:r>
              <a:t>많은 청중이 기권 설계를 보면 처음에는 보수적으로 포기한 것처럼 받아들입니다.</a:t>
            </a:r>
          </a:p>
          <a:p>
            <a:r>
              <a:t>하지만 실제로는 반대입니다. 이건 decision rule을 더 정교하게 만든 겁니다.</a:t>
            </a:r>
          </a:p>
          <a:p/>
          <a:p>
            <a:r>
              <a:t>pairwise 한 쌍에 대해 각 judge는 A, B, tie, inconsistent 중 하나를 냅니다.</a:t>
            </a:r>
          </a:p>
          <a:p>
            <a:r>
              <a:t>여기서 inconsistent는 세 번째 class라기보다, AB/BA swap이 충돌한 low-confidence signal입니다.</a:t>
            </a:r>
          </a:p>
          <a:p>
            <a:r>
              <a:t>그런데 다수결은 이걸 일반 표처럼 셉니다.</a:t>
            </a:r>
          </a:p>
          <a:p>
            <a:r>
              <a:t>그러면 [inconsistent, inconsistent, A] 같은 상황에서도 winner를 잃습니다.</a:t>
            </a:r>
          </a:p>
          <a:p/>
          <a:p>
            <a:r>
              <a:t>abstain은 다르게 봅니다.</a:t>
            </a:r>
          </a:p>
          <a:p>
            <a:r>
              <a:t>inconsistent를 vote가 아니라 기권으로 두고, 남은 decisive vote가 서로 충돌하지 않을 때만 winner를 선언합니다.</a:t>
            </a:r>
          </a:p>
          <a:p>
            <a:r>
              <a:t>그래서 [inconsistent, inconsistent, A]는 A로 복구되고,</a:t>
            </a:r>
          </a:p>
          <a:p>
            <a:r>
              <a:t>[A, B, inconsistent]는 여전히 inconsistent로 남습니다.</a:t>
            </a:r>
          </a:p>
          <a:p/>
          <a:p>
            <a:r>
              <a:t>즉 이 설계는 무조건 많이 판단하려는 것도 아니고, 무조건 보수적으로 포기하는 것도 아닙니다.</a:t>
            </a:r>
          </a:p>
          <a:p>
            <a:r>
              <a:t>낮은 품질 judge의 불확실한 표를 집계에서 분리해 measurement noise를 줄이는 방식입니다.</a:t>
            </a:r>
          </a:p>
          <a:p>
            <a:r>
              <a:t>604쌍이 복구되고 decisive rate도 올라간다는 숫자가 바로 그 설계적 의미를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RQ4로 넘어갑니다.</a:t>
            </a:r>
          </a:p>
          <a:p>
            <a:r>
              <a:t>여기서는 먼저 same-set 결과만 따로 보겠습니다.</a:t>
            </a:r>
          </a:p>
          <a:p/>
          <a:p>
            <a:r>
              <a:t>TopDisc-40은 동일 7개 모델 집합에서는 ρ=1.000입니다.</a:t>
            </a:r>
          </a:p>
          <a:p>
            <a:r>
              <a:t>그래서 얼핏 보면 80문항을 바로 40문항으로 줄여도 되는 것처럼 보입니다.</a:t>
            </a:r>
          </a:p>
          <a:p>
            <a:r>
              <a:t>하지만 바로 옆 random sensitivity를 보면 질문 수가 줄어들수록 분산이 커지고,</a:t>
            </a:r>
          </a:p>
          <a:p>
            <a:r>
              <a:t>mean과 worst-case가 다르다는 점이 드러납니다.</a:t>
            </a:r>
          </a:p>
          <a:p/>
          <a:p>
            <a:r>
              <a:t>그래서 이 슬라이드는 일부러 strong same-set result를 보여주되,</a:t>
            </a:r>
          </a:p>
          <a:p>
            <a:r>
              <a:t>동시에 이것이 upper bound라는 점을 같이 말하는 슬라이드입니다.</a:t>
            </a:r>
          </a:p>
          <a:p>
            <a:r>
              <a:t>즉 같은 모델셋 안에서는 40문항이 매우 강하지만,</a:t>
            </a:r>
          </a:p>
          <a:p>
            <a:r>
              <a:t>실제 운영점은 다음 슬라이드의 hold-out까지 보고 정해야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RQ4를 보수적으로 닫기 위한 두 번째 슬라이드입니다.</a:t>
            </a:r>
          </a:p>
          <a:p/>
          <a:p>
            <a:r>
              <a:t>첫 번째 축은 judge family입니다.</a:t>
            </a:r>
          </a:p>
          <a:p>
            <a:r>
              <a:t>InternLM20B와 GPT-4o-mini가 Qwen32와 broad ranking을 꽤 잘 맞춘다는 점은,</a:t>
            </a:r>
          </a:p>
          <a:p>
            <a:r>
              <a:t>Qwen 결과가 완전히 특이한 artifact는 아니라는 근거를 줍니다.</a:t>
            </a:r>
          </a:p>
          <a:p>
            <a:r>
              <a:t>하지만 pairwise exact agreement는 여전히 낮기 때문에,</a:t>
            </a:r>
          </a:p>
          <a:p>
            <a:r>
              <a:t>질문 수준의 cleanliness까지 같다고 말하면 안 됩니다.</a:t>
            </a:r>
          </a:p>
          <a:p/>
          <a:p>
            <a:r>
              <a:t>두 번째 축은 hold-out입니다.</a:t>
            </a:r>
          </a:p>
          <a:p>
            <a:r>
              <a:t>330개 split 반복 검증을 보면 40문항도 평균적으로 강하지만,</a:t>
            </a:r>
          </a:p>
          <a:p>
            <a:r>
              <a:t>세 judge 모두에서 가장 안전한 운영점은 60문항 쪽입니다.</a:t>
            </a:r>
          </a:p>
          <a:p/>
          <a:p>
            <a:r>
              <a:t>그래서 발표에서는 40문항을 headline으로 과장하지 않고,</a:t>
            </a:r>
          </a:p>
          <a:p>
            <a:r>
              <a:t>same-set upper bound와 repeated hold-out safe zone을 분리해서 말하는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2부 전체를 닫아 주는 슬라이드입니다.</a:t>
            </a:r>
          </a:p>
          <a:p>
            <a:r>
              <a:t>2부가 phase 보고의 나열로 끝나면 연구 질문이 희미해집니다.</a:t>
            </a:r>
          </a:p>
          <a:p>
            <a:r>
              <a:t>그래서 처음 던진 RQ1부터 RQ4까지를 다시 불러와 답하는 방식으로 마무리합니다.</a:t>
            </a:r>
          </a:p>
          <a:p/>
          <a:p>
            <a:r>
              <a:t>RQ1에 대한 답은 가장 명확합니다.</a:t>
            </a:r>
          </a:p>
          <a:p>
            <a:r>
              <a:t>Qwen judge scaling 결과에서는 reliability 개선이 분명히 관찰됐습니다.</a:t>
            </a:r>
          </a:p>
          <a:p>
            <a:r>
              <a:t>RQ2에 대한 답도 선명합니다.</a:t>
            </a:r>
          </a:p>
          <a:p>
            <a:r>
              <a:t>남는 오류는 단순 noise가 아니라 순서 민감성과 format failure입니다.</a:t>
            </a:r>
          </a:p>
          <a:p/>
          <a:p>
            <a:r>
              <a:t>RQ3는 decision rule 문제였습니다.</a:t>
            </a:r>
          </a:p>
          <a:p>
            <a:r>
              <a:t>작은 judge를 그냥 다수결로 세면 안 되고, low-confidence vote를 기권으로 다뤄야 한다는 점이 드러났습니다.</a:t>
            </a:r>
          </a:p>
          <a:p/>
          <a:p>
            <a:r>
              <a:t>RQ4는 부분적으로만 예라고 답해야 정직합니다.</a:t>
            </a:r>
          </a:p>
          <a:p>
            <a:r>
              <a:t>40문항 headline만 남기면 과하고, same-set upper bound와 hold-out safe zone을 같이 말해야 합니다.</a:t>
            </a:r>
          </a:p>
          <a:p/>
          <a:p>
            <a:r>
              <a:t>이 슬라이드가 들어가면 2부가 phase 보고가 아니라</a:t>
            </a:r>
          </a:p>
          <a:p>
            <a:r>
              <a:t>네 개의 연구 질문에 대한 실험적 답변으로 닫히게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슬라이드는 발표를 마무리하면서 동시에 repo 안내를 하는 슬라이드입니다.</a:t>
            </a:r>
          </a:p>
          <a:p>
            <a:r>
              <a:t>교수님이 발표 후 저장소를 실제로 보신다면 어디부터 보면 되는지를 남기는 역할도 합니다.</a:t>
            </a:r>
          </a:p>
          <a:p/>
          <a:p>
            <a:r>
              <a:t>오늘 발표는 paper study였기 때문에, 발표가 끝나면 질문이 두 방향으로 나올 겁니다.</a:t>
            </a:r>
          </a:p>
          <a:p>
            <a:r>
              <a:t>원 논문 자체에 대한 질문과, 제 재현 실험에 대한 질문입니다.</a:t>
            </a:r>
          </a:p>
          <a:p>
            <a:r>
              <a:t>전자는 presentation과 paper를 보면 되고,</a:t>
            </a:r>
          </a:p>
          <a:p>
            <a:r>
              <a:t>후자는 README, figures, data를 따라가면 됩니다.</a:t>
            </a:r>
          </a:p>
          <a:p>
            <a:r>
              <a:t>특히 저장소는 phase 순서로 읽으면 오늘 발표의 2부와 같은 흐름이 다시 재생됩니다.</a:t>
            </a:r>
          </a:p>
          <a:p/>
          <a:p>
            <a:r>
              <a:t>이상으로 발표를 마치고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F7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72784" y="0"/>
            <a:ext cx="5916168" cy="6858000"/>
          </a:xfrm>
          <a:prstGeom prst="rect">
            <a:avLst/>
          </a:prstGeom>
          <a:solidFill>
            <a:srgbClr val="EF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02920"/>
            <a:ext cx="146304" cy="4983480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0528" y="658368"/>
            <a:ext cx="128016" cy="4480560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5742432"/>
            <a:ext cx="11045952" cy="749808"/>
          </a:xfrm>
          <a:prstGeom prst="rect">
            <a:avLst/>
          </a:prstGeom>
          <a:solidFill>
            <a:srgbClr val="28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786384"/>
            <a:ext cx="5303520" cy="1353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82C3A"/>
                </a:solidFill>
                <a:latin typeface="Apple SD Gothic Neo"/>
              </a:rPr>
              <a:t>MT-Bench / Chatbot Arena
논문 리뷰와 내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614D"/>
                </a:solidFill>
                <a:latin typeface="Apple SD Gothic Neo"/>
              </a:rPr>
              <a:t>1부 논문 리뷰, 2부 내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71216"/>
            <a:ext cx="5029200" cy="1234440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800" b="0">
                <a:solidFill>
                  <a:srgbClr val="363A48"/>
                </a:solidFill>
                <a:latin typeface="Apple SD Gothic Neo"/>
              </a:rPr>
              <a:t>앞 절반은 Zheng et al.의 베이스 논문을 읽는 시간입니다.
뒤 절반은 그 프로토콜을 제 저장소와 실험으로 어떻게 옮겼는지 설명합니다.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82296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586E"/>
                </a:solidFill>
                <a:latin typeface="Apple SD Gothic Neo"/>
              </a:rPr>
              <a:t>Base paper figures that anchor the talk</a:t>
            </a:r>
          </a:p>
        </p:txBody>
      </p:sp>
      <p:pic>
        <p:nvPicPr>
          <p:cNvPr id="11" name="Picture 10" descr="paper_chatbot_arena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188720"/>
            <a:ext cx="4800600" cy="3759449"/>
          </a:xfrm>
          <a:prstGeom prst="rect">
            <a:avLst/>
          </a:prstGeom>
        </p:spPr>
      </p:pic>
      <p:pic>
        <p:nvPicPr>
          <p:cNvPr id="12" name="Picture 11" descr="paper_table8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3858768"/>
            <a:ext cx="4160520" cy="16535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84848" y="3657600"/>
            <a:ext cx="47365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0767D"/>
                </a:solidFill>
                <a:latin typeface="Apple SD Gothic Neo"/>
              </a:rPr>
              <a:t>Original paper Figure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5486400"/>
            <a:ext cx="40416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0767D"/>
                </a:solidFill>
                <a:latin typeface="Apple SD Gothic Neo"/>
              </a:rPr>
              <a:t>Original paper Table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907024"/>
            <a:ext cx="104241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핵심 질문: strong judge LLM의 논문 메시지가 오픈소스 judge 실험으로 어디까지 이어지는가?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6236208"/>
            <a:ext cx="58521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EEEB"/>
                </a:solidFill>
                <a:latin typeface="Apple SD Gothic Neo"/>
              </a:rPr>
              <a:t>박승현 | CLINK Lab | 논문 리뷰 + 내 연구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오늘 발표는 1부 논문 리뷰, 2부 내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FE9E1"/>
          </a:solidFill>
          <a:ln>
            <a:solidFill>
              <a:srgbClr val="EFE9E1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2/20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MT-Bench paper study | base paper + reproduction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FE9E1"/>
          </a:solidFill>
          <a:ln>
            <a:solidFill>
              <a:srgbClr val="EFE9E1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20분 동안 어떤 질문을 어떤 순서로 볼지 먼저 정렬한다.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EFE9E1"/>
          </a:solidFill>
          <a:ln>
            <a:solidFill>
              <a:srgbClr val="EFE9E1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발표를 관통하는 질문: 원 논문의 85% judge-human agreement라는 메시지는 오픈소스 judge 환경에서도 어느 정도 유지되는가?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3584448" cy="202996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15798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5654E"/>
                </a:solidFill>
                <a:latin typeface="Apple SD Gothic Neo"/>
              </a:rPr>
              <a:t>1부. 논문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34381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A48"/>
                </a:solidFill>
                <a:latin typeface="Apple SD Gothic Neo"/>
              </a:rPr>
              <a:t>MT-Bench와 Chatbot Arena가 왜 같이 설계됐는지, 그리고 GPT-4 judge가 무엇을 설득했는지 먼저 읽습니다.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048256"/>
            <a:ext cx="3584448" cy="202996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15798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5654E"/>
                </a:solidFill>
                <a:latin typeface="Apple SD Gothic Neo"/>
              </a:rPr>
              <a:t>2부. 내 연구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523744"/>
            <a:ext cx="34381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A48"/>
                </a:solidFill>
                <a:latin typeface="Apple SD Gothic Neo"/>
              </a:rPr>
              <a:t>같은 judge protocol을 제 저장소에서 Qwen · InternLM · GPT-4o-mini 조합으로 옮긴 방식을 설명합니다.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048256"/>
            <a:ext cx="3584448" cy="202996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15798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B5654E"/>
                </a:solidFill>
                <a:latin typeface="Apple SD Gothic Neo"/>
              </a:rPr>
              <a:t>발표의 최종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523744"/>
            <a:ext cx="34381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A48"/>
                </a:solidFill>
                <a:latin typeface="Apple SD Gothic Neo"/>
              </a:rPr>
              <a:t>judge scaling, cross-family sanity, repeated hold-out을 순서대로 보며 어디까지 믿을 수 있는지 정리합니다.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1-1. 왜 MT-Bench가 필요했는가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3/20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원 논문이 기존 벤치마크의 어떤 한계를 문제 삼았는지 잡는다.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paper_chatbot_arena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407" y="1371600"/>
            <a:ext cx="3432850" cy="2688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paper_mtbench_winrate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147" y="1371600"/>
            <a:ext cx="4963081" cy="2688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Original paper Figure 19: Chatbot Arena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Original paper Figure 3: MT-Bench 평균 승률 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객관식/단답형 중심 벤치마크는 open-ended, multi-turn 대화 품질을 충분히 반영하지 못한다.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사람 선호를 직접 모으는 평가는 비싸고 느려서 반복적인 모델 개발 루프에 맞지 않는다.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그래서 원 논문은 ‘사람 선호를 근사하는 자동 judge’를 중심 문제로 세운다.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원 논문의 문제의식은 ‘새 benchmark 하나 만들기’보다 ‘사람 평가를 대체할 실용적 judge 만들기’에 더 가깝습니다.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1-2. MT-Bench와 Chatbot Arena는 어떻게 역할을 나눴는가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4/20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MT-Bench와 Arena가 각각 무엇을 측정하고 어떻게 보완하는지 구조적으로 설명한다.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69951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MT-Bench는 8개 카테고리, 80문항의 multi-turn benchmark로 controlled comparison을 담당한다.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Chatbot Arena는 실제 사용자 pairwise preference를 통해 ecological validity를 제공한다.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즉 MT-Bench는 재현 가능성, Arena는 현실 적합성을 제공하는 쌍으로 설계되었다.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984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800" b="1">
                <a:solidFill>
                  <a:srgbClr val="282C3A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3931920" cy="417880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1847088"/>
            <a:ext cx="3566160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논문의 힘은 MT-Bench 하나가 아니라, benchmark와 crowd preference를 함께 설계했다는 데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5" y="3419856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3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MT-Bench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5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80문항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5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838943" y="3419856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1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3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8개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5" y="4334256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3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Arena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5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익명 pairwise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5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838943" y="4334256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1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3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human preference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1-3. 원 논문은 judge를 어떻게 썼는가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5/20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single, pairwise, reference-guided라는 judge 프로토콜을 분명히 해 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원 논문의 결론은 ‘GPT-4가 완벽하다’가 아니라, ‘강한 judge가 인간 선호를 실용적으로 근사한다’입니다.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3584448" cy="202996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15798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Single-answer grading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34381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A48"/>
                </a:solidFill>
                <a:latin typeface="Apple SD Gothic Neo"/>
              </a:rPr>
              <a:t>답변 하나를 0–10 점수로 채점합니다. 서열 안정성과 카테고리별 score range를 보기 좋습니다.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048256"/>
            <a:ext cx="3584448" cy="202996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15798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Pairwise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523744"/>
            <a:ext cx="34381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A48"/>
                </a:solidFill>
                <a:latin typeface="Apple SD Gothic Neo"/>
              </a:rPr>
              <a:t>A/B 두 응답을 비교해 더 나은 답변을 고릅니다. 실제 사용자의 pairwise preference와 가장 닮은 setting입니다.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2048256"/>
            <a:ext cx="3584448" cy="202996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7304" y="2157984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Reference-guided grading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523744"/>
            <a:ext cx="3438144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63A48"/>
                </a:solidFill>
                <a:latin typeface="Apple SD Gothic Neo"/>
              </a:rPr>
              <a:t>수학·코딩처럼 정답 기준이 있는 경우 reference answer를 함께 주어 채점 근거를 강화합니다.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07408"/>
            <a:ext cx="1115568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논문은 이 세 judge mode를 동시에 운용하면서, 위치·장문·self-enhancement bias를 별도 분석 대상으로 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1-4. judge 점수평가는 실제로 어떻게 흘러가는가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6/20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답변 생성부터 parse·aggregate까지 judge scoring flow를 한 번에 보여준다.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이 저장소의 재현성 핵심은 prompt를 흉내 낸 것보다도, parse rule과 aggregation rule을 논문과 맞춘 데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57984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Step 1. 답변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2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각 모델이 80문항, 2-turn 답변을 생성합니다. generation은 temperature 0.7로 두어 응답 다양성을 확보합니다.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048256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157984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Step 2. judge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50592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single은 turn1/turn2를 채점하고, pairwise는 AB와 BA 두 순서로 각각 judge를 호출합니다. judge는 temperature 0.0입니다.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8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85616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Step 3. 파싱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4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single은 1–10 점수를 추출하고 실패 시 -1.0으로 기록합니다. pairwise는 A/B/tie/error를 추출합니다.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675888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785616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A7614D"/>
                </a:solidFill>
                <a:latin typeface="Apple SD Gothic Neo"/>
              </a:rPr>
              <a:t>Step 4. 집계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78224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single은 문항별 turn 평균을 모델 점수로, pairwise는 swap 뒤에도 일치할 때만 winner로 채택합니다.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85232"/>
            <a:ext cx="11155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00">
                <a:solidFill>
                  <a:srgbClr val="363A48"/>
                </a:solidFill>
                <a:latin typeface="Apple SD Gothic Neo"/>
              </a:defRPr>
            </a:pPr>
            <a:r>
              <a:t>• generation 단계와 judge 단계의 temperature를 분리해, 답변 다양성과 평가 결정성을 서로 다른 층으로 관리한다.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00">
                <a:solidFill>
                  <a:srgbClr val="363A48"/>
                </a:solidFill>
                <a:latin typeface="Apple SD Gothic Neo"/>
              </a:defRPr>
            </a:pPr>
            <a:r>
              <a:t>• single-grade는 turn1 독립 prompt와 turn2 multi-turn prompt를 따로 써서 turn2 맥락 손실을 막는다.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00">
                <a:solidFill>
                  <a:srgbClr val="363A48"/>
                </a:solidFill>
                <a:latin typeface="Apple SD Gothic Neo"/>
              </a:defRPr>
            </a:pPr>
            <a:r>
              <a:t>• pairwise의 핵심은 winner를 한 번 맞히는 게 아니라, AB/BA swap 뒤에도 유지되는 winner만 채택하는 것이다.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1-5. 원 논문의 두 핵심 주장은 무엇이었나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7/20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뒤 재현 실험의 기준점이 되는 원 논문의 핵심 claim 두 개를 먼저 또렷하게 세운다.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paper_mtbench_agreement_tabl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55388"/>
            <a:ext cx="5230367" cy="23207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paper_table8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76400"/>
            <a:ext cx="5230368" cy="2078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Original paper Table 5: judge-human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Original paper Table 8: MT-Bench model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핵심 주장 1: GPT-4 judge는 MT-Bench에서 인간 expert와 non-tie agreement 85%, human-human 81% 수준으로 맞는다.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핵심 주장 2: MT-Bench 점수는 GPT-4 8.99, GPT-3.5 7.94, Vicuna-13B 6.39, LLaMA-13B 2.61처럼 모델 품질 차이를 분명하게 서열화한다.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즉 원 논문은 ‘judge가 인간과 비슷하다’와 ‘점수가 모델 품질을 반영한다’를 동시에 주장한다.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뒤의 재현 실험은 결국 이 두 문장을 다시 묻는 작업입니다. agreement가 유지되는가, 그리고 서열이 설득력 있는가?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1-6. 원 논문은 bias를 무시하지 않았다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8/20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원 논문이 숫자만 좋은 게 아니라 judge 자체를 편향이 있는 시스템으로 다뤘다는 점을 짚는다.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493776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700" b="1">
                <a:solidFill>
                  <a:srgbClr val="282C3A"/>
                </a:solidFill>
                <a:latin typeface="Apple SD Gothic Neo"/>
              </a:rPr>
              <a:t>원 논문의 진짜 장점은 strong judge를 자랑한 데 있지 않고, judge를 measurement system으로 취급했다는 데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5449824" cy="437083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2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82C3A"/>
                </a:solidFill>
                <a:latin typeface="Apple SD Gothic Neo"/>
              </a:rPr>
              <a:t>원 논문이 직접 본 편향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2"/>
            <a:ext cx="5266944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position bias: 응답 순서가 바뀌면 winner가 달라질 수 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verbosity bias: 더 길고 장황한 답변이 유리해질 수 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self-enhancement bias: judge가 자기 패밀리 답변을 더 좋게 볼 수 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975104"/>
            <a:ext cx="5449824" cy="437083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084832"/>
            <a:ext cx="52669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82C3A"/>
                </a:solidFill>
                <a:latin typeface="Apple SD Gothic Neo"/>
              </a:rPr>
              <a:t>왜 내 재현과 이어지나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50592"/>
            <a:ext cx="5266944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agreement가 높아도 남는 오류 구조는 따로 봐야 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오픈소스 judge에서는 편향이 더 커지거나 다른 형태로 농축될 수 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그래서 Phase 3 이후에는 residual position bias와 format failure를 같이 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A76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1-7. 그런데 이 논문이 남긴 열린 질문도 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논문 리뷰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9/20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논문 리뷰 | base paper and original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원 논문을 비판적으로 읽고, 왜 내 재현 실험이 필요한지 자연스럽게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69951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judge가 강하다는 사실과 judge가 저렴하고 재현 가능하다는 사실은 다르다.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GPT-4는 강력하지만 폐쇄형 API라 비용, 버전 변화, 재현성 문제가 남는다.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bias를 분석했어도 ‘오픈소스 judge도 같은 수준까지 갈 수 있는가’는 아직 열려 있었다.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984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800" b="1">
                <a:solidFill>
                  <a:srgbClr val="282C3A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3931920" cy="4178808"/>
          </a:xfrm>
          <a:prstGeom prst="rect">
            <a:avLst/>
          </a:prstGeom>
          <a:solidFill>
            <a:srgbClr val="F0E8DF"/>
          </a:solidFill>
          <a:ln>
            <a:solidFill>
              <a:srgbClr val="F0E8DF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1847088"/>
            <a:ext cx="3566160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내 실험은 원 논문을 부정하는 게 아니라, 그 프로토콜을 오픈소스 환경으로 옮겼을 때 어디까지 유지되는지 묻는 작업입니다.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5" y="3419856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3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남은 질문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5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closed judge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5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838943" y="3419856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1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남은 질문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3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cost / reproducibility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5" y="4334256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3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남은 질문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5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open judge 가능?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5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838943" y="4334256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1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내 접근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3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faithful reproduction + extension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11556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87552"/>
            <a:ext cx="128016" cy="2880360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49640" y="1051560"/>
            <a:ext cx="265176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400" b="1">
                <a:solidFill>
                  <a:srgbClr val="DAD4CA"/>
                </a:solidFill>
                <a:latin typeface="Apple SD Gothic Neo"/>
              </a:rPr>
              <a:t>2부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005840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554480"/>
            <a:ext cx="6949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82C3A"/>
                </a:solidFill>
                <a:latin typeface="Apple SD Gothic Neo"/>
              </a:rPr>
              <a:t>2부. 내 연구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61488"/>
            <a:ext cx="6812280" cy="96012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282C3A"/>
                </a:solidFill>
                <a:latin typeface="Apple SD Gothic Neo"/>
              </a:rPr>
              <a:t>이제부터는 paper claim을 다시 읽는 것이 아니라, 그 claim을 내 judge 실험으로 어디까지 옮길 수 있었는지 보여드립니다.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38912"/>
            <a:ext cx="658368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2-1. 내가 실제로 검증한 네 연구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11/20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뒤 절반의 내 연구 파트를 연구 질문 단위로 묶어 놓고 듣게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이 뒤 절반은 phase 로그가 아니라 네 개의 연구 질문을 차례로 답하는 발표로 듣는 것이 가장 좋습니다.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57984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RQ1. judge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2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Qwen judge를 7B → 14B → 32B로 키우면 pairwise reliability가 실제로 단조 개선되는가?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048256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157984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RQ2. residual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50592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judge가 좋아진 뒤에도 남는 오류는 단순 noise인가, 아니면 순서 민감성과 format failure처럼 구조화되는가?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8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85616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RQ3. ensemble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4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작은 judge 여러 개를 합칠 때, 다수결보다 더 나은 decision rule이 실제로 존재하는가?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675888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785616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RQ4. question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78224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변별도 기반 subset으로 비용을 줄이면서도 모델 서열을 보존할 수 있는가?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85232"/>
            <a:ext cx="11155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00">
                <a:solidFill>
                  <a:srgbClr val="363A48"/>
                </a:solidFill>
                <a:latin typeface="Apple SD Gothic Neo"/>
              </a:defRPr>
            </a:pPr>
            <a:r>
              <a:t>• 즉 뒤 절반은 phase log가 아니라 RQ1부터 RQ4까지의 답을 찾아가는 흐름으로 들으면 가장 자연스럽다.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2-2. 실험은 어떤 순서로 진행했는가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12/20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Phase 1부터 Phase 6까지의 실험 순서를 한 장에서 보여준다.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20240"/>
            <a:ext cx="10149840" cy="54864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572768"/>
            <a:ext cx="658368" cy="658368"/>
          </a:xfrm>
          <a:prstGeom prst="ellipse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46504"/>
            <a:ext cx="6583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67712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82C3A"/>
                </a:solidFill>
                <a:latin typeface="Apple SD Gothic Neo"/>
              </a:rPr>
              <a:t>Self-judge</a:t>
            </a:r>
          </a:p>
        </p:txBody>
      </p:sp>
      <p:sp>
        <p:nvSpPr>
          <p:cNvPr id="14" name="Oval 13"/>
          <p:cNvSpPr/>
          <p:nvPr/>
        </p:nvSpPr>
        <p:spPr>
          <a:xfrm>
            <a:off x="2697480" y="1572768"/>
            <a:ext cx="658368" cy="658368"/>
          </a:xfrm>
          <a:prstGeom prst="ellipse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746504"/>
            <a:ext cx="6583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267712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82C3A"/>
                </a:solidFill>
                <a:latin typeface="Apple SD Gothic Neo"/>
              </a:rPr>
              <a:t>Sanity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1572768"/>
            <a:ext cx="658368" cy="658368"/>
          </a:xfrm>
          <a:prstGeom prst="ellipse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746504"/>
            <a:ext cx="6583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267712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82C3A"/>
                </a:solidFill>
                <a:latin typeface="Apple SD Gothic Neo"/>
              </a:rPr>
              <a:t>Scaling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1572768"/>
            <a:ext cx="658368" cy="658368"/>
          </a:xfrm>
          <a:prstGeom prst="ellipse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746504"/>
            <a:ext cx="6583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267712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82C3A"/>
                </a:solidFill>
                <a:latin typeface="Apple SD Gothic Neo"/>
              </a:rPr>
              <a:t>InternLM</a:t>
            </a:r>
          </a:p>
        </p:txBody>
      </p:sp>
      <p:sp>
        <p:nvSpPr>
          <p:cNvPr id="23" name="Oval 22"/>
          <p:cNvSpPr/>
          <p:nvPr/>
        </p:nvSpPr>
        <p:spPr>
          <a:xfrm>
            <a:off x="8046720" y="1572768"/>
            <a:ext cx="658368" cy="658368"/>
          </a:xfrm>
          <a:prstGeom prst="ellipse">
            <a:avLst/>
          </a:prstGeom>
          <a:solidFill>
            <a:srgbClr val="282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746504"/>
            <a:ext cx="6583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2267712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82C3A"/>
                </a:solidFill>
                <a:latin typeface="Apple SD Gothic Neo"/>
              </a:rPr>
              <a:t>GPT-4o-mini</a:t>
            </a:r>
          </a:p>
        </p:txBody>
      </p:sp>
      <p:sp>
        <p:nvSpPr>
          <p:cNvPr id="26" name="Oval 25"/>
          <p:cNvSpPr/>
          <p:nvPr/>
        </p:nvSpPr>
        <p:spPr>
          <a:xfrm>
            <a:off x="9829800" y="1572768"/>
            <a:ext cx="658368" cy="658368"/>
          </a:xfrm>
          <a:prstGeom prst="ellipse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746504"/>
            <a:ext cx="658368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2267712"/>
            <a:ext cx="9875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82C3A"/>
                </a:solidFill>
                <a:latin typeface="Apple SD Gothic Neo"/>
              </a:rPr>
              <a:t>Hold-out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907792"/>
            <a:ext cx="11155680" cy="28163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P1 self-judge 기준선으로 자기평가 편향을 확인하고, P2에서 외부 14B judge로 초기 sanity check를 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P3는 Qwen 7B/14B/32B를 이용한 메인 judge scaling 실험이고, 여기서 RQ1과 RQ2의 핵심 수치가 나온다.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P3의 출력 위에서 RQ3로 ensemble decision rule을 비교하고, P4·P5는 Qwen 결과가 family가 바뀌어도 크게 무너지지 않는지 점검한다.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700">
                <a:solidFill>
                  <a:srgbClr val="363A48"/>
                </a:solidFill>
                <a:latin typeface="Apple SD Gothic Neo"/>
              </a:defRPr>
            </a:pPr>
            <a:r>
              <a:t>• P6는 11개 모델 풀의 repeated hold-out으로 RQ4, 즉 tinyMT-Bench subset의 운영 가능성을 same-set upper bound와 분리해 다시 본 단계다.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33872"/>
            <a:ext cx="11155680" cy="38404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500" b="1">
                <a:solidFill>
                  <a:srgbClr val="282C3A"/>
                </a:solidFill>
                <a:latin typeface="Apple SD Gothic Neo"/>
              </a:rPr>
              <a:t>즉 오늘 결과는 self-judge 확인 → main scaling → ensemble / cross-family 보강 → repeated hold-out 검증의 순서로 쌓아 올린 것입니다.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RQ1 준비. Phase 1–2: 왜 self-judge를 믿으면 안 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13/20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메인 실험에 들어가기 전에 self-judge bias와 초기 sanity check를 짚는다.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fig0_phase1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24355"/>
            <a:ext cx="5230368" cy="2582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fig2_overall_ran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96737"/>
            <a:ext cx="5230367" cy="203806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Phase 1 self-judge category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초기 overall ordering sanity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원 논문은 strong judge의 가능성을 보였지만, 이 슬라이드는 오픈소스 self-judge로 가면 바로 어떤 함정이 생기는지 보여줍니다.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Qwen2.5-7B self-judge는 overall 8.12인데 Math·Coding은 각각 8.80으로 튀며 자기 강점을 과대평가한다.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외부 14B judge를 붙이면 broad ranking은 정리되지만, pairwise inconsistency 자체는 여전히 높다.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즉 문제는 ‘judge를 쓰느냐’가 아니라 ‘어떤 judge를 어떻게 쓰느냐’이다.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RQ1을 제대로 보려면 먼저 self-judge 함정을 걷어내야 합니다. 이 슬라이드는 그 준비 단계입니다.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RQ1 답. Phase 3: Qwen judge scaling이 메인 결과다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14/20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judge scaling이 reliability에 주는 효과를 가장 강하게 보여준다.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fig4_judg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89633"/>
            <a:ext cx="5230368" cy="22522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fig5_phase3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530247"/>
            <a:ext cx="5230368" cy="23710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Judge scaling과 카테고리별 inconsistency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Phase 3 single-grade 점수 분포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Pairwise inconsistency는 7B 78.75% → 14B 46.85% → 32B 32.86%로 단조 감소한다.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Single-grade score range도 0.84 → 1.12 → 1.48로 확대되어 모델 간 변별력이 커진다.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따라서 메인 결론은 ‘Qwen 기반 judge scaling의 same-family empirical trend’로 읽는 것이 맞다.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5687568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7B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78.75%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2889504" y="5687568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14B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46.85%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102352" y="5687568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32B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32.86%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5687568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핵심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same-family trend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RQ2. judge가 좋아진 뒤에도 남는 오류는 무엇인가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15/20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전체 서열과 질문 단위 결정이 분리된다는 점, 그리고 잔여 오류가 순서 민감하게 남는다는 점을 보여준다.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fig11_posi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71367"/>
            <a:ext cx="5230368" cy="18888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fig13_ensembl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02683"/>
            <a:ext cx="5230368" cy="22261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Order-sensitive residual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Majority vs abstain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Qwen32, InternLM20B, GPT-4o-mini는 broad ranking은 대체로 맞지만, exact pairwise winner agreement는 0.50~0.58 수준에 머문다.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특히 Qwen32의 남은 불일치 중 94.93%가 first-position win으로 연결되어, 잔여 오류가 순서 민감한 사례에 집중된다는 점이 드러난다.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즉 ranking validity와 question-level decision cleanliness는 분리해서 읽어야 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96128"/>
            <a:ext cx="11155680" cy="54864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RQ2의 답은 명확합니다. judge가 좋아져도 남는 오류는 단순 노이즈가 아니라 순서 민감성과 운영 리스크의 형태로 남습니다.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RQ3. 왜 majority보다 abstain이 더 낫나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16/20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기권 설계를 결과표가 아니라 decision rule 자체로 설명한다.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69951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각 judge는 pairwise 한 쌍에 대해 {A, B, tie, inconsistent} 중 하나를 남긴다. 여기서 inconsistent는 AB/BA swap이 충돌한 low-confidence case다.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다수결은 inconsistent도 하나의 표처럼 세기 때문에 [inconsistent, inconsistent, A] 같은 경우 winner를 잃고 noisy 7B가 aggregate를 오염시킨다.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abstain은 inconsistent를 기권으로 버리고, 남은 decisive vote가 충돌하지 않을 때만 winner를 선언한다.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실제로 604쌍(36%)이 inconsistent→winner로 복구되고, inconsistency는 58.63%→24.70%, decisive rate는 41.37%→75.30%로 개선된다.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984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800" b="1">
                <a:solidFill>
                  <a:srgbClr val="282C3A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3931920" cy="417880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1847088"/>
            <a:ext cx="3566160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RQ3의 답은 예입니다. 작은 judge를 그냥 다수결로 합치는 것보다, low-confidence vote를 기권으로 다루는 것이 훨씬 더 낫습니다.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5" y="3419856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3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Majority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5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58.63%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5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838943" y="3419856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1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Abstain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3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24.70%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5" y="4334256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3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Recovered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5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604쌍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5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838943" y="4334256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1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Decisive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3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75.30%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RQ4-1. 문항을 줄여도 같은 모델셋에서는 서열이 남는가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17/20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tinyMT-Bench의 same-set upper bound와 random baseline을 함께 보여준다.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fig9_tiny_mt_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784242"/>
            <a:ext cx="5230368" cy="18630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fig7_qsize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387" y="1371600"/>
            <a:ext cx="4186602" cy="2688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same-set tinyMT-Bench upper bound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question count sensitivity of random subsets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TopDisc-40은 동일 7개 모델 집합에서 ρ=1.000, TopDisc-25는 ρ=0.964를 달성해 same-set upper bound로는 매우 강하다.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반면 random subset은 평균적으로는 좋아져도 분산이 커서, 30문항에서는 mean ρ≈0.95여도 worst-case는 여전히 흔들린다.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즉 same-set 결과만 보면 40문항으로 절반 절감이 가능해 보이지만, 이 수치만으로 운영점을 확정하면 과감해진다.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5687568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TopDisc-25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ρ=0.964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2889504" y="5687568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TopDisc-40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ρ=1.000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102352" y="5687568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Random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mean ρ≈0.95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5687568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해석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same-set upper bound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RQ4-2. hold-out과 다른 judge에서 안전한 운영점은 어디인가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18/20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cross-family judge sanity와 repeated hold-out 운영점을 함께 묶어 same-set 결과를 보수적으로 닫는다.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1" name="Picture 10" descr="fig16_phase345_judg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50" y="1371600"/>
            <a:ext cx="3776764" cy="2688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1261872"/>
            <a:ext cx="5449824" cy="290779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pic>
        <p:nvPicPr>
          <p:cNvPr id="13" name="Picture 12" descr="fig15_tiny_mt_bench_gener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96161"/>
            <a:ext cx="5230368" cy="20392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Cross-family and external judge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4279392"/>
            <a:ext cx="5449824" cy="20116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ctr"/>
            <a:r>
              <a:rPr sz="1000" b="0">
                <a:solidFill>
                  <a:srgbClr val="70767D"/>
                </a:solidFill>
                <a:latin typeface="Apple SD Gothic Neo"/>
              </a:rPr>
              <a:t>330-split repeated hold-out generalization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35424"/>
            <a:ext cx="11155680" cy="135331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InternLM20B는 Qwen32와 ρ=0.893, GPT-4o-mini는 ρ=0.964로 broad ranking pattern을 유지해 Qwen 결과가 완전한 family artifact는 아님을 보여준다.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다만 exact pairwise agreement는 0.50~0.58 수준이라 judge 간 broad consistency와 question-level cleanliness는 여전히 구분해야 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600">
                <a:solidFill>
                  <a:srgbClr val="363A48"/>
                </a:solidFill>
                <a:latin typeface="Apple SD Gothic Neo"/>
              </a:defRPr>
            </a:pPr>
            <a:r>
              <a:t>• Repeated hold-out 330 split에서는 40문항도 strong하지만, 세 judge 모두에서 가장 안전한 운영점은 60문항(mean ρ≈0.998 / 0.995 / 0.972)이다.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5687568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InternLM20B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ρ=0.893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2889504" y="5687568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GPT-4o-mini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ρ=0.964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5102352" y="5687568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60문항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three-judge safe zone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5577840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5687568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33488" y="568756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해석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92531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preliminary but strong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2-3. 네 연구 질문에 대한 현재 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19/20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2부에서 처음 던진 네 연구 질문에 대한 현재 답을 한 장에서 닫아 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64008" rIns="64008" tIns="64008" bIns="64008" anchor="ctr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따라서 결론은 단순 재현 성공이 아니라, 오픈소스 judge를 어디까지 믿고 어디서부터 운영 규칙을 붙여야 하는지 실험적으로 말할 수 있게 되었다는 것입니다.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57984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RQ1. judge scaling은 개선되는가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50592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예. Qwen judge scaling 결과에서는 7B → 14B → 32B로 갈수록 pairwise inconsistency가 뚜렷하게 줄었습니다.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2048256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157984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RQ2. 남는 오류는 어떤 구조인가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50592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단순 noise가 아니라 순서 민감성과 format failure처럼 구조화됩니다. 그래서 ranking과 question-level cleanliness를 분리해야 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8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85616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RQ3. 어떤 앙상블이 더 낫나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78224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단순 majority보다 abstain이 낫습니다. inconsistent를 표로 세지 않을 때 더 많은 쌍을 더 깨끗하게 결정할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675888"/>
            <a:ext cx="5449824" cy="1444752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785616"/>
            <a:ext cx="52669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B586E"/>
                </a:solidFill>
                <a:latin typeface="Apple SD Gothic Neo"/>
              </a:rPr>
              <a:t>RQ4. 문항을 줄여도 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4078224"/>
            <a:ext cx="5266944" cy="8046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363A48"/>
                </a:solidFill>
                <a:latin typeface="Apple SD Gothic Neo"/>
              </a:rPr>
              <a:t>부분적으로 예. same-set upper bound는 40문항에서 강하지만, repeated hold-out 기준 안전한 운영점은 60문항 쪽입니다.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85232"/>
            <a:ext cx="111556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18872" rIns="118872" tIns="118872" bIns="118872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500">
                <a:solidFill>
                  <a:srgbClr val="363A48"/>
                </a:solidFill>
                <a:latin typeface="Apple SD Gothic Neo"/>
              </a:defRPr>
            </a:pPr>
            <a:r>
              <a:t>• 즉 이 발표의 결론은 ‘오픈소스 judge도 충분하다’가 아니라, strong judge 메시지의 경계와 운영 규칙까지 같이 말할 수 있게 되었다는 데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9184" y="384048"/>
            <a:ext cx="128016" cy="841248"/>
          </a:xfrm>
          <a:prstGeom prst="rect">
            <a:avLst/>
          </a:prstGeom>
          <a:solidFill>
            <a:srgbClr val="3B5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9184" y="182880"/>
            <a:ext cx="1138428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29184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82C3A"/>
                </a:solidFill>
                <a:latin typeface="Apple SD Gothic Neo"/>
              </a:rPr>
              <a:t>질문 전에: 저장소는 이렇게 읽으면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02336"/>
            <a:ext cx="1417320" cy="20116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82C3A"/>
                </a:solidFill>
                <a:latin typeface="Apple SD Gothic Neo"/>
              </a:rPr>
              <a:t>내 연구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420624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0767D"/>
                </a:solidFill>
                <a:latin typeface="Apple SD Gothic Neo"/>
              </a:rPr>
              <a:t>20/20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6419088"/>
            <a:ext cx="11201400" cy="36576"/>
          </a:xfrm>
          <a:prstGeom prst="rect">
            <a:avLst/>
          </a:prstGeom>
          <a:solidFill>
            <a:srgbClr val="DA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4663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70767D"/>
                </a:solidFill>
                <a:latin typeface="Apple SD Gothic Neo"/>
              </a:rPr>
              <a:t>내 연구 | reproduction and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94944"/>
            <a:ext cx="11292840" cy="365760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282C3A"/>
                </a:solidFill>
                <a:latin typeface="Apple SD Gothic Neo"/>
              </a:rPr>
              <a:t>이 슬라이드의 목적: 발표 후 repo를 실제로 볼 사람을 위해 마지막 안내를 남기고 Q&amp;A로 넘긴다.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69951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원 논문 설명은 `presentation/`의 deck와 notes, 재현 서사는 `README.md`, 원고는 `paper/`를 보면 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실험은 Phase 1–2 → Phase 3 → Phase 4–5 → Phase 6 순으로 읽으면 오늘 발표 흐름과 정확히 맞는다.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수치 검증은 `figures/` 옆 CSV와 `data/` raw judgment를 따라가면 된다.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defRPr sz="1800">
                <a:solidFill>
                  <a:srgbClr val="363A48"/>
                </a:solidFill>
                <a:latin typeface="Apple SD Gothic Neo"/>
              </a:defRPr>
            </a:pPr>
            <a:r>
              <a:t>• 즉 오늘 발표는 끝나도, repo 안에서 결론을 다시 확인할 수 있게 설계되어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984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64008" rIns="64008" tIns="64008" bIns="64008" anchor="t">
            <a:spAutoFit/>
          </a:bodyPr>
          <a:lstStyle/>
          <a:p>
            <a:pPr algn="l"/>
            <a:r>
              <a:rPr sz="1800" b="1">
                <a:solidFill>
                  <a:srgbClr val="282C3A"/>
                </a:solidFill>
                <a:latin typeface="Apple SD Gothic Neo"/>
              </a:rPr>
              <a:t>핵심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645920"/>
            <a:ext cx="3931920" cy="4178808"/>
          </a:xfrm>
          <a:prstGeom prst="rect">
            <a:avLst/>
          </a:prstGeom>
          <a:solidFill>
            <a:srgbClr val="E2EAEF"/>
          </a:solidFill>
          <a:ln>
            <a:solidFill>
              <a:srgbClr val="E2EAEF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1847088"/>
            <a:ext cx="3566160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82C3A"/>
                </a:solidFill>
                <a:latin typeface="Apple SD Gothic Neo"/>
              </a:rPr>
              <a:t>질문 받겠습니다.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5" y="3419856"/>
            <a:ext cx="502920" cy="182880"/>
          </a:xfrm>
          <a:prstGeom prst="rect">
            <a:avLst/>
          </a:prstGeom>
          <a:solidFill>
            <a:srgbClr val="375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0143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5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today's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5" y="33101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838943" y="3419856"/>
            <a:ext cx="502920" cy="182880"/>
          </a:xfrm>
          <a:prstGeom prst="rect">
            <a:avLst/>
          </a:prstGeom>
          <a:solidFill>
            <a:srgbClr val="B56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1" y="34198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README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38943" y="36576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991855" y="4334256"/>
            <a:ext cx="502920" cy="182880"/>
          </a:xfrm>
          <a:prstGeom prst="rect">
            <a:avLst/>
          </a:prstGeom>
          <a:solidFill>
            <a:srgbClr val="BF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3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5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5" y="4224528"/>
            <a:ext cx="2029968" cy="877824"/>
          </a:xfrm>
          <a:prstGeom prst="rect">
            <a:avLst/>
          </a:prstGeom>
          <a:solidFill>
            <a:srgbClr val="FFFFFF"/>
          </a:solidFill>
          <a:ln>
            <a:solidFill>
              <a:srgbClr val="DAD4CA"/>
            </a:solidFill>
          </a:ln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363A48"/>
                </a:solidFill>
                <a:latin typeface="Apple SD Gothic Neo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838943" y="4334256"/>
            <a:ext cx="502920" cy="182880"/>
          </a:xfrm>
          <a:prstGeom prst="rect">
            <a:avLst/>
          </a:prstGeom>
          <a:solidFill>
            <a:srgbClr val="668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1" y="433425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paper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3" y="457200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l"/>
            <a:r>
              <a:rPr sz="1900" b="1">
                <a:solidFill>
                  <a:srgbClr val="282C3A"/>
                </a:solidFill>
                <a:latin typeface="Apple SD Gothic Neo"/>
              </a:rPr>
              <a:t>final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