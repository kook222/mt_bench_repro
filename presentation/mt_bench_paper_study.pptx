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앞쪽이 논문 스터디였다면, 여기부터는 랩미팅이라고 생각하시면 됩니다.</a:t>
            </a:r>
          </a:p>
          <a:p>
            <a:r>
              <a:t>하지만 이때 파이프라인을 먼저 보여주면 분위기가 식습니다.</a:t>
            </a:r>
          </a:p>
          <a:p>
            <a:r>
              <a:t>그래서 이 슬라이드에서는 연구 질문만 던집니다.</a:t>
            </a:r>
          </a:p>
          <a:p/>
          <a:p>
            <a:r>
              <a:t>뒤 절반을 들을 때는 세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그리고 그 결론이 cross-family와 hold-out까지 가도 남는가.</a:t>
            </a:r>
          </a:p>
          <a:p/>
          <a:p>
            <a:r>
              <a:t>파이프라인은 그 다음 슬라이드에서 보여주고,</a:t>
            </a:r>
          </a:p>
          <a:p>
            <a:r>
              <a:t>이 슬라이드는 랩미팅의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저장소는 phase 중심으로 읽는 게 가장 좋습니다.</a:t>
            </a:r>
          </a:p>
          <a:p>
            <a:r>
              <a:t>Phase 1과 2는 준비운동이고, 진짜 메인은 Phase 3입니다.</a:t>
            </a:r>
          </a:p>
          <a:p>
            <a:r>
              <a:t>Qwen 7B/14B/32B를 같은 family에서 비교하면서 judge scaling을 관찰합니다.</a:t>
            </a:r>
          </a:p>
          <a:p/>
          <a:p>
            <a:r>
              <a:t>Phase 4와 5는 보조 검증입니다.</a:t>
            </a:r>
          </a:p>
          <a:p>
            <a:r>
              <a:t>InternLM20B와 GPT-4o-mini를 붙여서 Qwen에서 보인 broad rank pattern이 완전히 family-specific artifact인지 확인합니다.</a:t>
            </a:r>
          </a:p>
          <a:p>
            <a:r>
              <a:t>Phase 6은 tinyMT-Bench를 same-set 상한에만 머물지 않게 하려고,</a:t>
            </a:r>
          </a:p>
          <a:p>
            <a:r>
              <a:t>11개 모델 풀 전체에서 leave-4-out hold-out 330 split을 전부 돌린 단계입니다.</a:t>
            </a:r>
          </a:p>
          <a:p/>
          <a:p>
            <a:r>
              <a:t>저장소 구조도 phase를 따라가도록 만들었습니다.</a:t>
            </a:r>
          </a:p>
          <a:p>
            <a:r>
              <a:t>README에서 주장한 문장은 data의 CSV와 raw JSONL로 되짚어 볼 수 있게 구성했고,</a:t>
            </a:r>
          </a:p>
          <a:p>
            <a:r>
              <a:t>paper와 presentation도 같은 figure를 재사용합니다.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많은 발표가 inconsistency가 줄었다는 데서 멈추는데,</a:t>
            </a:r>
          </a:p>
          <a:p>
            <a:r>
              <a:t>저는 남는 오류의 구조까지 보는 게 더 중요하다고 생각합니다.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이건 의미가 큽니다.</a:t>
            </a:r>
          </a:p>
          <a:p>
            <a:r>
              <a:t>‘더 큰 judge = 더 공정한 judge’가 아니라,</a:t>
            </a:r>
          </a:p>
          <a:p>
            <a:r>
              <a:t>‘더 큰 judge = 더 일관적인 judge, 그러나 남는 오류는 특정 편향 형태로 집중될 수 있음’이기 때문입니다.</a:t>
            </a:r>
          </a:p>
          <a:p/>
          <a:p>
            <a:r>
              <a:t>앙상블 결과도 비슷한 교훈을 줍니다.</a:t>
            </a:r>
          </a:p>
          <a:p>
            <a:r>
              <a:t>작은 judge를 그냥 다수결로 합치면 오히려 오염됩니다.</a:t>
            </a:r>
          </a:p>
          <a:p>
            <a:r>
              <a:t>반면 abstain ensemble은 inconsistent 케이스를 기권 처리해서 훨씬 낫습니다.</a:t>
            </a:r>
          </a:p>
          <a:p/>
          <a:p>
            <a:r>
              <a:t>즉 이 슬라이드는 judge 연구를 모델 비교로만 읽으면 안 되고,</a:t>
            </a:r>
          </a:p>
          <a:p>
            <a:r>
              <a:t>evaluation system design 문제로도 읽어야 한다는 걸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Phase 3 메인 결과를 보조하는 슬라이드입니다.</a:t>
            </a:r>
          </a:p>
          <a:p>
            <a:r>
              <a:t>InternLM을 따로 분리한 이유는, 사용자 요청대로 Phase 4도 Phase 3처럼 독립적으로 읽히게 만들기 위해서입니다.</a:t>
            </a:r>
          </a:p>
          <a:p/>
          <a:p>
            <a:r>
              <a:t>20B 모델은 broad ranking을 꽤 잘 유지합니다.</a:t>
            </a:r>
          </a:p>
          <a:p>
            <a:r>
              <a:t>즉 Qwen32의 메인 서열이 완전히 family-specific artifact는 아니라는 보조 증거가 됩니다.</a:t>
            </a:r>
          </a:p>
          <a:p>
            <a:r>
              <a:t>하지만 pairwise inconsistency는 47.44%로 여전히 높아서,</a:t>
            </a:r>
          </a:p>
          <a:p>
            <a:r>
              <a:t>실제 운영 judge로는 더 noisy하다고 읽어야 합니다.</a:t>
            </a:r>
          </a:p>
          <a:p/>
          <a:p>
            <a:r>
              <a:t>그리고 7B의 실패는 매우 교육적입니다.</a:t>
            </a:r>
          </a:p>
          <a:p>
            <a:r>
              <a:t>이건 단순히 점수가 낮다는 수준이 아니라,</a:t>
            </a:r>
          </a:p>
          <a:p>
            <a:r>
              <a:t>pairwise verdict format을 안정적으로 못 지켜 파싱 가능한 winner를 자주 내지 못합니다.</a:t>
            </a:r>
          </a:p>
          <a:p/>
          <a:p>
            <a:r>
              <a:t>그래서 이 슬라이드의 결론은 명확합니다.</a:t>
            </a:r>
          </a:p>
          <a:p>
            <a:r>
              <a:t>InternLM20B는 cross-family sanity check로는 의미가 있지만,</a:t>
            </a:r>
          </a:p>
          <a:p>
            <a:r>
              <a:t>open-weight judge라면 아무거나 pairwise에 올릴 수 있다는 뜻은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5는 Phase 4와 다르게 외부 API judge를 붙인 결과입니다.</a:t>
            </a:r>
          </a:p>
          <a:p>
            <a:r>
              <a:t>저는 이 슬라이드를 일부러 별도로 뺐습니다.</a:t>
            </a:r>
          </a:p>
          <a:p>
            <a:r>
              <a:t>왜냐하면 GPT-4o-mini는 지금 저장소에서 가장 강한 external reference point이기 때문입니다.</a:t>
            </a:r>
          </a:p>
          <a:p/>
          <a:p>
            <a:r>
              <a:t>Qwen32와 Spearman 0.964, Kendall 0.905면 broad rank pattern은 거의 유지된다고 읽어도 됩니다.</a:t>
            </a:r>
          </a:p>
          <a:p>
            <a:r>
              <a:t>pairwise inconsistency도 33.99%로 Qwen32와 매우 가깝습니다.</a:t>
            </a:r>
          </a:p>
          <a:p/>
          <a:p>
            <a:r>
              <a:t>하지만 exact pairwise agreement가 0.580이라는 점은 꼭 같이 말해야 합니다.</a:t>
            </a:r>
          </a:p>
          <a:p>
            <a:r>
              <a:t>즉 “전체 서열의 큰 흐름은 잘 맞지만, 개별 질문 단위 판단까지 완전히 같진 않다”는 뜻입니다.</a:t>
            </a:r>
          </a:p>
          <a:p/>
          <a:p>
            <a:r>
              <a:t>그래서 이 슬라이드는 external validation의 가장 강한 근거이면서도,</a:t>
            </a:r>
          </a:p>
          <a:p>
            <a:r>
              <a:t>동시에 claim boundary를 가르쳐 주는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tinyMT-Bench는 제 발표에서 가장 조심스럽게 설명해야 하는 결과입니다.</a:t>
            </a:r>
          </a:p>
          <a:p>
            <a:r>
              <a:t>same-set에서는 Top-Disc-40이 정말 아름답게 나옵니다. full-80 ranking을 그대로 보존합니다.</a:t>
            </a:r>
          </a:p>
          <a:p>
            <a:r>
              <a:t>하지만 그건 선택과 검증이 같은 모델 집합에서 이뤄졌기 때문에 upper bound로 읽어야 합니다.</a:t>
            </a:r>
          </a:p>
          <a:p/>
          <a:p>
            <a:r>
              <a:t>그래서 repeated hold-out을 했습니다.</a:t>
            </a:r>
          </a:p>
          <a:p>
            <a:r>
              <a:t>11개 모델 중 4개를 test로 두는 모든 조합, 즉 330 split을 전부 돌렸고,</a:t>
            </a:r>
          </a:p>
          <a:p>
            <a:r>
              <a:t>각 split마다 random subset 200개와 Top-Disc를 비교했습니다.</a:t>
            </a:r>
          </a:p>
          <a:p/>
          <a:p>
            <a:r>
              <a:t>그 결과 40문항도 강하지만 judge에 따라 편차가 있습니다.</a:t>
            </a:r>
          </a:p>
          <a:p>
            <a:r>
              <a:t>반면 60문항은 세 judge 모두 mean rho가 0.97 이상으로 안정적입니다.</a:t>
            </a:r>
          </a:p>
          <a:p>
            <a:r>
              <a:t>그래서 이제는 ‘40문항이 항상 충분하다’보다</a:t>
            </a:r>
          </a:p>
          <a:p>
            <a:r>
              <a:t>‘same-set에서는 40문항이 upper bound이고, 운영점으로는 60문항이 더 안전하다’라고 말하는 게 맞습니다.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paper study 발표의 결론입니다.</a:t>
            </a:r>
          </a:p>
          <a:p>
            <a:r>
              <a:t>원 논문을 그대로 믿는 것도, 제 재현 결과를 과장하는 것도 둘 다 좋은 읽기 방식은 아닙니다.</a:t>
            </a:r>
          </a:p>
          <a:p/>
          <a:p>
            <a:r>
              <a:t>지금 자신 있게 말할 수 있는 건 세 가지입니다.</a:t>
            </a:r>
          </a:p>
          <a:p>
            <a:r>
              <a:t>Qwen same-family에서는 judge가 커질수록 reliability가 좋아집니다.</a:t>
            </a:r>
          </a:p>
          <a:p>
            <a:r>
              <a:t>GPT-4o-mini와 InternLM20B를 붙여도 broad rank pattern은 대체로 유지됩니다.</a:t>
            </a:r>
          </a:p>
          <a:p>
            <a:r>
              <a:t>그리고 repeated hold-out 기준으로 문항 축소는 60문항 정도가 가장 안전합니다.</a:t>
            </a:r>
          </a:p>
          <a:p/>
          <a:p>
            <a:r>
              <a:t>반대로 아직 조심해야 할 범위도 분명합니다.</a:t>
            </a:r>
          </a:p>
          <a:p>
            <a:r>
              <a:t>현재 모델 풀은 같은 세대의 중소형 chat 모델 중심입니다.</a:t>
            </a:r>
          </a:p>
          <a:p>
            <a:r>
              <a:t>그래서 이 결론을 70B급, 코딩 특화, 다국어 환경으로 곧바로 일반화하는 건 과합니다.</a:t>
            </a:r>
          </a:p>
          <a:p/>
          <a:p>
            <a:r>
              <a:t>이 슬라이드는 제 연구의 신뢰도를 높이는 슬라이드라고 생각합니다.</a:t>
            </a:r>
          </a:p>
          <a:p>
            <a:r>
              <a:t>왜냐하면 강한 결과와 claim boundary를 동시에 말해야 발표가 단단해지기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86384"/>
            <a:ext cx="530352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MT-Bench / Chatbot Arena
논문 스터디에서
내 재현 연구로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95728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7614D"/>
                </a:solidFill>
                <a:latin typeface="Apple SD Gothic Neo"/>
              </a:rPr>
              <a:t>Paper study first, lab meeting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1216"/>
            <a:ext cx="5029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0">
                <a:solidFill>
                  <a:srgbClr val="363A48"/>
                </a:solidFill>
                <a:latin typeface="Apple SD Gothic Neo"/>
              </a:rPr>
              <a:t>앞 절반은 Zheng et al.의 베이스 논문을 읽는 시간입니다.
뒤 절반은 그 프로토콜을 제 저장소와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 SD Gothic Neo"/>
              </a:rPr>
              <a:t>핵심 질문: strong judge LLM의 논문 메시지가 오픈소스 judge 실험으로 어디까지 이어지는가?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Paper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오늘 발표는 두 개의 세션처럼 들으면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Part A. 내 베이스 논문 읽기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Part B. 내 랩미팅: 프로토콜 이식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Part C. 내 연구의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same-family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pic>
        <p:nvPicPr>
          <p:cNvPr id="10" name="Picture 9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4282192"/>
          </a:xfrm>
          <a:prstGeom prst="rect">
            <a:avLst/>
          </a:prstGeom>
        </p:spPr>
      </p:pic>
      <p:pic>
        <p:nvPicPr>
          <p:cNvPr id="11" name="Picture 10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961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1-4.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pic>
        <p:nvPicPr>
          <p:cNvPr id="10" name="Picture 9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426248"/>
          </a:xfrm>
          <a:prstGeom prst="rect">
            <a:avLst/>
          </a:prstGeom>
        </p:spPr>
      </p:pic>
      <p:pic>
        <p:nvPicPr>
          <p:cNvPr id="11" name="Picture 10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73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1-5.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Paper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Paper study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2-1. 이제 랩미팅으로: 내가 실제로 던진 세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랩미팅을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여기서부터는 taxonomy보다 질문이 중요합니다. 뒤 절반은 ‘좋아진다’보다 ‘어떻게 좋아지고 무엇이 남는가’를 보는 랩미팅입니다.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좋아진 뒤 남는 오류는 단순 noise인가, 아니면 position bias나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InternLM, GPT-4o-mini, repeated hold-out까지 붙여도 같은 결론이 남는가?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이 뒤 절반은 구현 목록보다 세 개의 연구 질문으로 들으면 가장 잘 들어온다.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2-2. 랩미팅 관점의 저장소와 phase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코드베이스가 결과 저장소가 아니라 재생성 가능한 연구 파이프라인이라는 점을 보여준다.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1920240"/>
            <a:ext cx="10149840" cy="54864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1572768"/>
            <a:ext cx="658368" cy="658368"/>
          </a:xfrm>
          <a:prstGeom prst="ellipse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Self-judge</a:t>
            </a:r>
          </a:p>
        </p:txBody>
      </p:sp>
      <p:sp>
        <p:nvSpPr>
          <p:cNvPr id="14" name="Oval 13"/>
          <p:cNvSpPr/>
          <p:nvPr/>
        </p:nvSpPr>
        <p:spPr>
          <a:xfrm>
            <a:off x="2697480" y="1572768"/>
            <a:ext cx="658368" cy="658368"/>
          </a:xfrm>
          <a:prstGeom prst="ellipse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Sanity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Scaling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572768"/>
            <a:ext cx="658368" cy="658368"/>
          </a:xfrm>
          <a:prstGeom prst="ellipse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InternLM</a:t>
            </a:r>
          </a:p>
        </p:txBody>
      </p:sp>
      <p:sp>
        <p:nvSpPr>
          <p:cNvPr id="23" name="Oval 22"/>
          <p:cNvSpPr/>
          <p:nvPr/>
        </p:nvSpPr>
        <p:spPr>
          <a:xfrm>
            <a:off x="8046720" y="1572768"/>
            <a:ext cx="658368" cy="658368"/>
          </a:xfrm>
          <a:prstGeom prst="ellipse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GPT-4o-mini</a:t>
            </a:r>
          </a:p>
        </p:txBody>
      </p:sp>
      <p:sp>
        <p:nvSpPr>
          <p:cNvPr id="26" name="Oval 25"/>
          <p:cNvSpPr/>
          <p:nvPr/>
        </p:nvSpPr>
        <p:spPr>
          <a:xfrm>
            <a:off x="9829800" y="1572768"/>
            <a:ext cx="658368" cy="658368"/>
          </a:xfrm>
          <a:prstGeom prst="ellipse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746504"/>
            <a:ext cx="65836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P6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5208" y="2267712"/>
            <a:ext cx="9875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82C3A"/>
                </a:solidFill>
                <a:latin typeface="Apple SD Gothic Neo"/>
              </a:rPr>
              <a:t>Hold-out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44368"/>
            <a:ext cx="11155680" cy="274320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Phase 1–2는 self-judge bias와 초기 sanity check, Phase 3는 메인 same-family scaling 실험이다.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Phase 4–5는 cross-family / external judge 검증, Phase 6은 11개 모델 풀의 exhaustive leave-4-out hold-out이다.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README → CSV → raw JSONL로 역추적 가능하게 설계해 결과를 다시 계산할 수 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15584"/>
            <a:ext cx="11155680" cy="38404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500" b="1">
                <a:solidFill>
                  <a:srgbClr val="282C3A"/>
                </a:solidFill>
                <a:latin typeface="Apple SD Gothic Neo"/>
              </a:rPr>
              <a:t>Phase 3가 메인 축이고, Phase 4–6이 그 결과를 어디까지 보강하는지 차례로 보여줍니다.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3-1.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pic>
        <p:nvPicPr>
          <p:cNvPr id="10" name="Picture 9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700226"/>
          </a:xfrm>
          <a:prstGeom prst="rect">
            <a:avLst/>
          </a:prstGeom>
        </p:spPr>
      </p:pic>
      <p:pic>
        <p:nvPicPr>
          <p:cNvPr id="11" name="Picture 10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07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이 슬라이드의 결론은 외부 judge가 필요하다는 것이지, 이미 충분하다는 뜻은 아닙니다.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3-2. Phase 3: Qwen same-family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pic>
        <p:nvPicPr>
          <p:cNvPr id="10" name="Picture 9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354645"/>
          </a:xfrm>
          <a:prstGeom prst="rect">
            <a:avLst/>
          </a:prstGeom>
        </p:spPr>
      </p:pic>
      <p:pic>
        <p:nvPicPr>
          <p:cNvPr id="11" name="Picture 10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478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same-family empirical trend’로 읽는 것이 맞다.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3-3. 남는 오류는 무엇이며, 앙상블은 도움이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inconsistency가 줄어든 뒤에도 어떤 bias가 남는지와 practical ensemble 결론을 보여준다.</a:t>
            </a:r>
          </a:p>
        </p:txBody>
      </p:sp>
      <p:pic>
        <p:nvPicPr>
          <p:cNvPr id="10" name="Picture 9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1974656"/>
          </a:xfrm>
          <a:prstGeom prst="rect">
            <a:avLst/>
          </a:prstGeom>
        </p:spPr>
      </p:pic>
      <p:pic>
        <p:nvPicPr>
          <p:cNvPr id="11" name="Picture 10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327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Residual position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32B judge의 남은 불일치 중 94.93%가 first-position win으로 연결되어 residual bias가 위치 편향으로 농축된다.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단순 majority ensemble은 오히려 58.63%로 나빠지고, abstain ensemble만 24.70%까지 낮춘다.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더 큰 judge는 더 일관적이지만, 남는 오류를 이해하지 않으면 운영에 바로 쓰기 어렵다.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놀라운 지점은 여기입니다. judge가 커질수록 오류가 사라지는 게 아니라, 남는 오류가 first-position bias로 농축됩니다.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3-4. 보조 검증 A: InternLM judge는 어디까지 믿을 수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InternLM2.5-7B/20B를 따로 떼어 놓고, open-weight cross-family judge의 품질을 평가한다.</a:t>
            </a:r>
          </a:p>
        </p:txBody>
      </p:sp>
      <p:pic>
        <p:nvPicPr>
          <p:cNvPr id="10" name="Picture 9" descr="fig17_phase4_intern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61872"/>
            <a:ext cx="7059168" cy="28581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413248"/>
            <a:ext cx="6839712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4: InternLM judge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1261872"/>
            <a:ext cx="3977639" cy="38587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InternLM2.5-20B는 Qwen32와 Spearman ρ=0.893로 broad ranking을 유지하지만, pairwise inconsistency는 47.44%로 더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cross-family sanity는 되지만, same-family Qwen32만큼 pairwise가 안정적이진 않다.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반면 InternLM2.5-7B는 pairwise error가 72.62%라서 winner format 자체를 안정적으로 못 지키는 수준이다.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53949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836407" y="55046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54695" y="55046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Qwen32↔InternLM20B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57424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8" y="53949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9774936" y="55046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3224" y="55046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 pairwise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4936" y="57424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47.44%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6291072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7836407" y="6400800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4695" y="6400800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InternLM7B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36407" y="663854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72.62%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8" y="6291072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9774936" y="6400800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93224" y="6400800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4936" y="663854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sanity check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3-5. 보조 검증 B: GPT-4o-mini는 가장 강한 외부 기준점인가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closed-weight external judge로서 GPT-4o-mini가 Qwen32의 메인 결과를 얼마나 잘 지지하는지 본다.</a:t>
            </a:r>
          </a:p>
        </p:txBody>
      </p:sp>
      <p:pic>
        <p:nvPicPr>
          <p:cNvPr id="10" name="Picture 9" descr="fig18_phase5_gpt4o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61872"/>
            <a:ext cx="7059168" cy="28581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413248"/>
            <a:ext cx="6839712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5: GPT-4o-mini judge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1261872"/>
            <a:ext cx="3977639" cy="38587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GPT-4o-mini는 Qwen32와 Spearman ρ=0.964, Kendall τ=0.905로 가장 비슷한 rank pattern을 보였다.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inconsistency도 33.99%로 Qwen32의 32.86%와 거의 비슷한 수준이었다.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다만 exact pairwise agreement는 0.580이라, question-level decision까지 완전히 동일하다고 해석하면 과하다.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53949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836407" y="55046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54695" y="55046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Qwen32↔GPT-4o-mini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57424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8" y="53949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9774936" y="55046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3224" y="55046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Kendall 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4936" y="57424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0.905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6291072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7836407" y="6400800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4695" y="6400800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 pairwise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36407" y="663854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33.99%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8" y="6291072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9774936" y="6400800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93224" y="6400800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exact agreement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4936" y="6638544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0.580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3-6. Phase 6: tinyMT-Bench는 같은 집합과 hold-out에서 다르게 읽어야 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문항 축소 결과를 same-set과 exhaustive hold-out으로 나눠 읽게 한다.</a:t>
            </a:r>
          </a:p>
        </p:txBody>
      </p:sp>
      <p:pic>
        <p:nvPicPr>
          <p:cNvPr id="10" name="Picture 9" descr="fig9_tiny_mt_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1947735"/>
          </a:xfrm>
          <a:prstGeom prst="rect">
            <a:avLst/>
          </a:prstGeom>
        </p:spPr>
      </p:pic>
      <p:pic>
        <p:nvPicPr>
          <p:cNvPr id="11" name="Picture 10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1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same-set tinyMT-Bench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same-set에서는 Top-Disc-40이 ρ=1.000, Top-Disc-25도 ρ=0.964로 매우 강한 upper bound를 보였다.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하지만 11개 모델 풀의 330 split hold-out으로 가면 40문항 mean ρ는 Qwen 0.968, InternLM20B 0.922, GPT-4o-mini 0.959다.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60문항에서는 세 judge 모두 mean ρ≥0.97로 더 안정적이어서, 운영점으로는 60문항이 안전하다.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40문항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same-set 상한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40문항 hold-out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judge별 편차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세 judge 모두 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Split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4. 무엇을 믿고 무엇을 조심해야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17/18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주장의 범위를 통제하고 paper study의 비판적 결론을 남긴다.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좋은 재현 연구는 강한 결과를 크게 말하되, 그 결과가 무너지기 쉬운 경계를 먼저 분명히 그어 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지금 믿어도 되는 결론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Qwen same-family에서는 judge가 커질수록 pairwise inconsistency가 뚜렷하게 줄어든다.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GPT-4o-mini와 InternLM20B를 붙여도 broad rank pattern은 대체로 유지된다.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Repeated hold-out 기준 tinyMT 운영점은 60문항이 가장 안전하다.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지금 강하게 말하면 안 되는 결론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모든 open-source judge에서 보편적인 scaling law가 성립한다고 말할 수는 없다.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현재 모델 풀로 70B급, code-specialist, multilingual까지 일반화하긴 이르다.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40문항이 언제나 충분하다고 말하면 same-set upper bound를 과장하는 셈이다.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Lab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18/18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Lab meeting | my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