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발표는 랩미팅 발표보다는 논문 스터디에 더 가깝게 구성했습니다.</a:t>
            </a:r>
          </a:p>
          <a:p>
            <a:r>
              <a:t>앞 절반은 Zheng et al.의 MT-Bench / Chatbot Arena 논문을 읽는 시간이 되고,</a:t>
            </a:r>
          </a:p>
          <a:p>
            <a:r>
              <a:t>뒤 절반은 제가 그 프로토콜을 오픈소스 judge 파이프라인으로 어떻게 옮겼는지 설명하는 구조입니다.</a:t>
            </a:r>
          </a:p>
          <a:p/>
          <a:p>
            <a:r>
              <a:t>따라서 이 발표를 들을 때 중요한 기준은 두 가지입니다.</a:t>
            </a:r>
          </a:p>
          <a:p>
            <a:r>
              <a:t>첫째, 원 논문이 실제로 무엇을 주장했는지 정확히 이해하는 것.</a:t>
            </a:r>
          </a:p>
          <a:p>
            <a:r>
              <a:t>둘째, 제 재현 실험이 그 주장 중 어떤 부분을 지지하고 어떤 부분을 보수적으로 다시 해석하는지 보는 것입니다.</a:t>
            </a:r>
          </a:p>
          <a:p/>
          <a:p>
            <a:r>
              <a:t>오늘의 최종 메시지는 간단합니다.</a:t>
            </a:r>
          </a:p>
          <a:p>
            <a:r>
              <a:t>MT-Bench는 여전히 좋은 benchmark이고, LLM-as-a-Judge는 유용한 접근입니다.</a:t>
            </a:r>
          </a:p>
          <a:p>
            <a:r>
              <a:t>다만 오픈소스 judge에서는 크기, 아키텍처, pairwise format 안정성, hold-out 일반화까지 함께 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오늘 발표의 독해법을 정하는 슬라이드입니다.</a:t>
            </a:r>
          </a:p>
          <a:p>
            <a:r>
              <a:t>먼저 원 논문을 이해해야 뒤의 재현 실험이 단순 숫자 나열이 아니라는 점이 보입니다.</a:t>
            </a:r>
          </a:p>
          <a:p/>
          <a:p>
            <a:r>
              <a:t>발표는 목차를 나열하기보다 하나의 질문을 세 번 나눠 답하는 구조로 듣는 게 좋습니다.</a:t>
            </a:r>
          </a:p>
          <a:p>
            <a:r>
              <a:t>첫째, 원 논문의 주장이 정확히 무엇이었는가.</a:t>
            </a:r>
          </a:p>
          <a:p>
            <a:r>
              <a:t>둘째, 그 프로토콜을 오픈소스 judge 환경으로 옮기면 무엇이 달라지는가.</a:t>
            </a:r>
          </a:p>
          <a:p>
            <a:r>
              <a:t>셋째, 유지되는 결론과 더 이상 강하게 말하면 안 되는 결론은 무엇인가.</a:t>
            </a:r>
          </a:p>
          <a:p/>
          <a:p>
            <a:r>
              <a:t>발표가 끝나면 세 질문에 답할 수 있으면 됩니다.</a:t>
            </a:r>
          </a:p>
          <a:p>
            <a:r>
              <a:t>원 논문이 왜 중요했는가.</a:t>
            </a:r>
          </a:p>
          <a:p>
            <a:r>
              <a:t>내 저장소가 무엇을 재현 가능하게 만들었는가.</a:t>
            </a:r>
          </a:p>
          <a:p>
            <a:r>
              <a:t>그리고 오픈소스 judge를 실제로 어디까지 믿어도 되는가.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논문의 출발점은 매우 현실적입니다.</a:t>
            </a:r>
          </a:p>
          <a:p>
            <a:r>
              <a:t>대화형 모델을 평가하려면 open-ended 품질을 봐야 하는데, 기존 객관식 벤치마크는 그걸 충분히 담지 못합니다.</a:t>
            </a:r>
          </a:p>
          <a:p>
            <a:r>
              <a:t>그렇다고 사람 평가를 계속 붙이면 속도가 너무 느리고 비용이 큽니다.</a:t>
            </a:r>
          </a:p>
          <a:p/>
          <a:p>
            <a:r>
              <a:t>그래서 원 논문은 두 축을 동시에 만듭니다.</a:t>
            </a:r>
          </a:p>
          <a:p>
            <a:r>
              <a:t>하나는 controlled benchmark인 MT-Bench이고,</a:t>
            </a:r>
          </a:p>
          <a:p>
            <a:r>
              <a:t>다른 하나는 실제 사용자의 선호 데이터를 모으는 Chatbot Arena입니다.</a:t>
            </a:r>
          </a:p>
          <a:p/>
          <a:p>
            <a:r>
              <a:t>왼쪽 그림은 Arena의 실제 인터페이스입니다.</a:t>
            </a:r>
          </a:p>
          <a:p>
            <a:r>
              <a:t>사용자는 모델 이름을 모른 채 두 응답 중 더 나은 답변을 고릅니다.</a:t>
            </a:r>
          </a:p>
          <a:p>
            <a:r>
              <a:t>오른쪽 그림은 MT-Bench 점수와 Arena 승률의 관계를 보여줍니다.</a:t>
            </a:r>
          </a:p>
          <a:p>
            <a:r>
              <a:t>즉 원 논문은 benchmark와 in-the-wild preference를 따로따로 두지 않고,</a:t>
            </a:r>
          </a:p>
          <a:p>
            <a:r>
              <a:t>둘의 연결을 통해 judge의 타당성을 설득하려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MT-Bench와 Arena는 겉으로 보기엔 둘 다 평가 데이터처럼 보이지만 역할이 다릅니다.</a:t>
            </a:r>
          </a:p>
          <a:p>
            <a:r>
              <a:t>MT-Bench는 controlled benchmark입니다. 같은 질문 세트에 대해 여러 모델을 반복적으로 비교할 수 있고,</a:t>
            </a:r>
          </a:p>
          <a:p>
            <a:r>
              <a:t>category별 분석도 가능합니다.</a:t>
            </a:r>
          </a:p>
          <a:p/>
          <a:p>
            <a:r>
              <a:t>반면 Arena는 통제된 benchmark가 아니라 실제 사용자 환경입니다.</a:t>
            </a:r>
          </a:p>
          <a:p>
            <a:r>
              <a:t>질문도 자유롭고, 사용자는 두 답변을 블라인드로 비교합니다.</a:t>
            </a:r>
          </a:p>
          <a:p>
            <a:r>
              <a:t>이건 benchmark의 재현성은 떨어지지만 현실의 인간 선호를 훨씬 더 잘 반영합니다.</a:t>
            </a:r>
          </a:p>
          <a:p/>
          <a:p>
            <a:r>
              <a:t>원 논문이 강한 이유는 이 둘을 함께 사용했다는 점입니다.</a:t>
            </a:r>
          </a:p>
          <a:p>
            <a:r>
              <a:t>즉 MT-Bench 점수가 높으면 Arena 승률도 높다는 관계를 보이면서,</a:t>
            </a:r>
          </a:p>
          <a:p>
            <a:r>
              <a:t>benchmark 점수가 단순 인공적인 숫자가 아니라는 걸 설득합니다.</a:t>
            </a:r>
          </a:p>
          <a:p/>
          <a:p>
            <a:r>
              <a:t>이 발표 뒤쪽에서 제 재현 실험은 MT-Bench 쪽을 중심으로 따라갑니다.</a:t>
            </a:r>
          </a:p>
          <a:p>
            <a:r>
              <a:t>Arena 자체를 재현한 건 아니고, MT-Bench judge reliability를 더 자세히 캐보는 방향으로 확장했다고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발표 전체에서 아주 중요합니다.</a:t>
            </a:r>
          </a:p>
          <a:p>
            <a:r>
              <a:t>왜냐하면 뒤의 제 실험도 결국 같은 judge 프로토콜을 구현하고 있기 때문입니다.</a:t>
            </a:r>
          </a:p>
          <a:p/>
          <a:p>
            <a:r>
              <a:t>Single-answer grading은 0에서 10 사이 점수를 주는 방식이고,</a:t>
            </a:r>
          </a:p>
          <a:p>
            <a:r>
              <a:t>pairwise는 두 응답 중 winner를 직접 고르는 방식입니다.</a:t>
            </a:r>
          </a:p>
          <a:p>
            <a:r>
              <a:t>Reference-guided grading은 특히 수학과 코딩처럼 정답 기준이 필요한 문항에서 중요합니다.</a:t>
            </a:r>
          </a:p>
          <a:p/>
          <a:p>
            <a:r>
              <a:t>많은 사람이 원 논문을 읽으면서 GPT-4 judge가 그냥 채점기처럼 등장했다고 생각하는데,</a:t>
            </a:r>
          </a:p>
          <a:p>
            <a:r>
              <a:t>실제로는 prompt protocol이 꽤 정교합니다.</a:t>
            </a:r>
          </a:p>
          <a:p>
            <a:r>
              <a:t>그리고 저자들도 bias 문제를 적극적으로 분석합니다.</a:t>
            </a:r>
          </a:p>
          <a:p>
            <a:r>
              <a:t>verbosity bias, position bias, self-enhancement bias를 같이 본다는 점은</a:t>
            </a:r>
          </a:p>
          <a:p>
            <a:r>
              <a:t>원 논문이 생각보다 훨씬 신중한 paper라는 뜻입니다.</a:t>
            </a:r>
          </a:p>
          <a:p/>
          <a:p>
            <a:r>
              <a:t>이 점이 나중에 제 실험에서도 중요한 기준이 됩니다.</a:t>
            </a:r>
          </a:p>
          <a:p>
            <a:r>
              <a:t>즉 judge 성능을 볼 때 agreement만 보는 게 아니라, 남는 bias의 구조까지 같이 봐야 한다는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논문과 제 저장소 사이를 연결하는 가장 중요한 프로토콜 슬라이드입니다.</a:t>
            </a:r>
          </a:p>
          <a:p>
            <a:r>
              <a:t>청중이 여기서 judge가 실제로 무엇을 입력받고 무엇을 출력하는지 이해해야,</a:t>
            </a:r>
          </a:p>
          <a:p>
            <a:r>
              <a:t>뒤의 scaling과 abstain 결과도 설득력 있게 들립니다.</a:t>
            </a:r>
          </a:p>
          <a:p/>
          <a:p>
            <a:r>
              <a:t>첫 단계는 답변 생성입니다. 각 모델이 80문항 2-turn 답변을 만들고,</a:t>
            </a:r>
          </a:p>
          <a:p>
            <a:r>
              <a:t>여기에는 temperature 0.7을 둬서 응답 다양성을 허용합니다.</a:t>
            </a:r>
          </a:p>
          <a:p>
            <a:r>
              <a:t>두 번째 단계는 judge 호출입니다. judge는 반대로 temperature 0.0으로 고정해서</a:t>
            </a:r>
          </a:p>
          <a:p>
            <a:r>
              <a:t>평가 noise를 줄입니다.</a:t>
            </a:r>
          </a:p>
          <a:p/>
          <a:p>
            <a:r>
              <a:t>single-grade에서는 turn1과 turn2를 같은 방식으로 다루지 않습니다.</a:t>
            </a:r>
          </a:p>
          <a:p>
            <a:r>
              <a:t>turn2는 q1, a1, q2, a2를 함께 넣어 multi-turn context로 채점해야</a:t>
            </a:r>
          </a:p>
          <a:p>
            <a:r>
              <a:t>실제 MT-Bench 프로토콜과 맞습니다.</a:t>
            </a:r>
          </a:p>
          <a:p/>
          <a:p>
            <a:r>
              <a:t>pairwise에서는 AB와 BA를 둘 다 돌립니다.</a:t>
            </a:r>
          </a:p>
          <a:p>
            <a:r>
              <a:t>핵심은 두 번의 호출을 했다는 사실이 아니라, 그 둘을 합칠 때</a:t>
            </a:r>
          </a:p>
          <a:p>
            <a:r>
              <a:t>swap 뒤에도 같은 winner가 유지될 때만 채택한다는 점입니다.</a:t>
            </a:r>
          </a:p>
          <a:p>
            <a:r>
              <a:t>즉 이 연구는 단순 prompt demo가 아니라, parse와 aggregate rule까지 포함한 protocol reproduction입니다.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논문을 조금 더 공정하게 읽기 위해 넣었습니다.</a:t>
            </a:r>
          </a:p>
          <a:p>
            <a:r>
              <a:t>원 논문을 처음 읽는 사람에게는 이 슬라이드가 가장 중요합니다.</a:t>
            </a:r>
          </a:p>
          <a:p>
            <a:r>
              <a:t>이 논문이 실제로 주장한 핵심은 두 문장으로 요약할 수 있습니다.</a:t>
            </a:r>
          </a:p>
          <a:p/>
          <a:p>
            <a:r>
              <a:t>첫째, GPT-4 judge는 인간 expert와 꽤 잘 맞는다.</a:t>
            </a:r>
          </a:p>
          <a:p>
            <a:r>
              <a:t>둘째, MT-Bench 점수는 모델 품질 차이를 꽤 설득력 있게 서열화한다.</a:t>
            </a:r>
          </a:p>
          <a:p/>
          <a:p>
            <a:r>
              <a:t>왼쪽 Table 5가 첫 번째 주장이고, 오른쪽 Table 8이 두 번째 주장입니다.</a:t>
            </a:r>
          </a:p>
          <a:p>
            <a:r>
              <a:t>이 두 숫자가 붙으면서 LLM-as-a-Judge라는 메시지가 힘을 얻습니다.</a:t>
            </a:r>
          </a:p>
          <a:p/>
          <a:p>
            <a:r>
              <a:t>뒤쪽 제 재현 실험도 사실은 이 두 질문을 반복합니다.</a:t>
            </a:r>
          </a:p>
          <a:p>
            <a:r>
              <a:t>agreement가 오픈소스 judge에서도 유지되는가,</a:t>
            </a:r>
          </a:p>
          <a:p>
            <a:r>
              <a:t>그리고 서열이 여전히 설득력 있는가.</a:t>
            </a:r>
          </a:p>
          <a:p>
            <a:r>
              <a:t>이 슬라이드가 그 기준점입니다.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 논문이 이 정도로 널리 인용된 이유는 결국 숫자가 강했기 때문입니다.</a:t>
            </a:r>
          </a:p>
          <a:p>
            <a:r>
              <a:t>하지만 좋은 paper study는 숫자만 반복하면 안 됩니다.</a:t>
            </a:r>
          </a:p>
          <a:p>
            <a:r>
              <a:t>원 논문은 꽤 인상적인 숫자를 보였지만,</a:t>
            </a:r>
          </a:p>
          <a:p>
            <a:r>
              <a:t>동시에 judge bias도 분석했습니다.</a:t>
            </a:r>
          </a:p>
          <a:p/>
          <a:p>
            <a:r>
              <a:t>특히 position bias와 verbosity bias를 별도 분석 대상으로 둔다는 점이 중요합니다.</a:t>
            </a:r>
          </a:p>
          <a:p>
            <a:r>
              <a:t>이건 저자들이 judge를 그냥 좋은 채점기로 본 게 아니라,</a:t>
            </a:r>
          </a:p>
          <a:p>
            <a:r>
              <a:t>편향을 가진 measurement system으로 봤다는 뜻입니다.</a:t>
            </a:r>
          </a:p>
          <a:p/>
          <a:p>
            <a:r>
              <a:t>이 관점이 제 재현 실험과 직접 이어집니다.</a:t>
            </a:r>
          </a:p>
          <a:p>
            <a:r>
              <a:t>저도 agreement 숫자만 반복하지 않고,</a:t>
            </a:r>
          </a:p>
          <a:p>
            <a:r>
              <a:t>Phase 3 이후에는 남는 오류가 어떤 편향 형태로 남는지 따로 분석합니다.</a:t>
            </a:r>
          </a:p>
          <a:p/>
          <a:p>
            <a:r>
              <a:t>그래서 이 슬라이드는 뒤쪽 residual bias 슬라이드의 이론적 다리 역할을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좋은 paper study는 찬양으로 끝나면 안 됩니다.</a:t>
            </a:r>
          </a:p>
          <a:p>
            <a:r>
              <a:t>그래서 여기서 원 논문이 남긴 열린 질문을 짚고 넘어가겠습니다.</a:t>
            </a:r>
          </a:p>
          <a:p/>
          <a:p>
            <a:r>
              <a:t>첫째, GPT-4 judge는 강력하지만 closed judge입니다.</a:t>
            </a:r>
          </a:p>
          <a:p>
            <a:r>
              <a:t>즉 비용과 버전 drift 문제가 남고, 시간이 지나면 같은 실험을 그대로 다시 하기가 어렵습니다.</a:t>
            </a:r>
          </a:p>
          <a:p>
            <a:r>
              <a:t>둘째, 논문은 bias를 분석했지만, 그 결론을 오픈소스 judge에 바로 옮길 수는 없습니다.</a:t>
            </a:r>
          </a:p>
          <a:p/>
          <a:p>
            <a:r>
              <a:t>제가 이 저장소에서 한 일은 이 열린 질문을 따라가는 것입니다.</a:t>
            </a:r>
          </a:p>
          <a:p>
            <a:r>
              <a:t>MT-Bench 80문항, single/pairwise/reference 프로토콜은 그대로 유지하되,</a:t>
            </a:r>
          </a:p>
          <a:p>
            <a:r>
              <a:t>judge를 Qwen, InternLM, GPT-4o-mini로 나눠서 다시 본 겁니다.</a:t>
            </a:r>
          </a:p>
          <a:p/>
          <a:p>
            <a:r>
              <a:t>즉 다음 섹션부터는 ‘원 논문을 얼마나 잘 이해했는가’가 아니라</a:t>
            </a:r>
          </a:p>
          <a:p>
            <a:r>
              <a:t>‘그 이해를 바탕으로 무엇을 재현했고 무엇을 추가로 알게 됐는가’로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의도적으로 호흡을 한번 끊는 역할을 합니다.</a:t>
            </a:r>
          </a:p>
          <a:p>
            <a:r>
              <a:t>앞 절반은 원 논문 리뷰였고, 여기부터는 제 연구 발표입니다.</a:t>
            </a:r>
          </a:p>
          <a:p>
            <a:r>
              <a:t>그래서 청중이 화면만 봐도 세션이 전환됐다는 걸 느끼게 하고 싶었습니다.</a:t>
            </a:r>
          </a:p>
          <a:p/>
          <a:p>
            <a:r>
              <a:t>짧게 말하면 앞 절반에서 만든 기준점을 이제 검증 대상으로 바꾸는 순간입니다.</a:t>
            </a:r>
          </a:p>
          <a:p>
            <a:r>
              <a:t>원 논문의 두 핵심 주장, 그리고 열린 질문을 들고 제 실험으로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여기부터는 의도적으로 분위기를 바꿉니다.</a:t>
            </a:r>
          </a:p>
          <a:p>
            <a:r>
              <a:t>divider 슬라이드에서 세션 전환은 이미 끝났습니다.</a:t>
            </a:r>
          </a:p>
          <a:p>
            <a:r>
              <a:t>이 슬라이드는 더 이상 전환을 선언하는 슬라이드가 아니라,</a:t>
            </a:r>
          </a:p>
          <a:p>
            <a:r>
              <a:t>뒤 절반 전체를 묶는 세 연구 질문을 정리하는 슬라이드입니다.</a:t>
            </a:r>
          </a:p>
          <a:p/>
          <a:p>
            <a:r>
              <a:t>뒤 절반을 들을 때는 세 질문만 기억하면 됩니다.</a:t>
            </a:r>
          </a:p>
          <a:p>
            <a:r>
              <a:t>judge scaling이 실제로 reliability를 개선하는가.</a:t>
            </a:r>
          </a:p>
          <a:p>
            <a:r>
              <a:t>개선 뒤 남는 오류는 어떤 구조인가.</a:t>
            </a:r>
          </a:p>
          <a:p>
            <a:r>
              <a:t>그리고 그 결론이 cross-family와 hold-out까지 가도 남는가.</a:t>
            </a:r>
          </a:p>
          <a:p/>
          <a:p>
            <a:r>
              <a:t>즉 이 슬라이드는 랩미팅 파트의 문제 정의 슬라이드라고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1과 2는 본격 결과라기보다 문제 제기 단계입니다.</a:t>
            </a:r>
          </a:p>
          <a:p>
            <a:r>
              <a:t>Self-judge를 해보면 Qwen2.5-7B가 특히 Math와 Coding에서 높은 점수를 주는 경향이 드러납니다.</a:t>
            </a:r>
          </a:p>
          <a:p>
            <a:r>
              <a:t>즉 자신의 강점 영역을 과대평가할 가능성이 있습니다.</a:t>
            </a:r>
          </a:p>
          <a:p/>
          <a:p>
            <a:r>
              <a:t>그래서 외부 judge를 붙이지만, 거기서도 문제가 끝나지 않습니다.</a:t>
            </a:r>
          </a:p>
          <a:p>
            <a:r>
              <a:t>ranking은 어느 정도 정리되지만 pairwise inconsistency가 여전히 높습니다.</a:t>
            </a:r>
          </a:p>
          <a:p>
            <a:r>
              <a:t>이건 judge reliability 문제를 단순히 self-vs-external로 읽으면 안 된다는 뜻입니다.</a:t>
            </a:r>
          </a:p>
          <a:p/>
          <a:p>
            <a:r>
              <a:t>이 슬라이드의 역할은 뒤 메인 실험의 필요성을 만드는 것입니다.</a:t>
            </a:r>
          </a:p>
          <a:p>
            <a:r>
              <a:t>왜 32B 같은 더 큰 judge를 보고, 왜 cross-family와 hold-out까지 보게 되었는지 설명하는 출발점이라고 생각하시면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이번 재현 실험의 중심입니다.</a:t>
            </a:r>
          </a:p>
          <a:p>
            <a:r>
              <a:t>Qwen judge를 7B에서 14B, 32B로 키우면 pairwise inconsistency가 크게 줄어듭니다.</a:t>
            </a:r>
          </a:p>
          <a:p>
            <a:r>
              <a:t>그리고 score range도 넓어져서 모델 간 차이를 더 잘 구분합니다.</a:t>
            </a:r>
          </a:p>
          <a:p/>
          <a:p>
            <a:r>
              <a:t>이 결과는 꽤 강합니다. 하지만 표현은 조심해야 합니다.</a:t>
            </a:r>
          </a:p>
          <a:p>
            <a:r>
              <a:t>이건 universal scaling law가 아닙니다.</a:t>
            </a:r>
          </a:p>
          <a:p>
            <a:r>
              <a:t>정확하게는 Qwen2.5 동일 family 안에서 judge가 커질수록 reliability가 좋아졌다는 empirical trend입니다.</a:t>
            </a:r>
          </a:p>
          <a:p/>
          <a:p>
            <a:r>
              <a:t>저는 발표에서 이 보수적 framing을 일부러 유지할 겁니다.</a:t>
            </a:r>
          </a:p>
          <a:p>
            <a:r>
              <a:t>왜냐하면 뒤의 InternLM과 GPT-4o-mini가 이 메인 결과를 보조하긴 하지만,</a:t>
            </a:r>
          </a:p>
          <a:p>
            <a:r>
              <a:t>Phase 3 자체를 완전히 대체하진 않기 때문입니다.</a:t>
            </a:r>
          </a:p>
          <a:p/>
          <a:p>
            <a:r>
              <a:t>하지만 이 슬라이드를 그냥 ‘스케일링이 먹혔다’로 끝내면 재미가 없습니다.</a:t>
            </a:r>
          </a:p>
          <a:p>
            <a:r>
              <a:t>바로 다음 슬라이드에서 남는 오류의 구조를 보면,</a:t>
            </a:r>
          </a:p>
          <a:p>
            <a:r>
              <a:t>단순 개선 서사가 아니라 훨씬 더 흥미로운 이야기가 나오기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4와 5를 보고 나면 많은 청중이 안심합니다.</a:t>
            </a:r>
          </a:p>
          <a:p>
            <a:r>
              <a:t>Qwen32와 InternLM20B, GPT-4o-mini가 대체로 비슷한 서열을 준다면</a:t>
            </a:r>
          </a:p>
          <a:p>
            <a:r>
              <a:t>이제 judge 문제는 거의 해결된 것처럼 느껴질 수 있습니다.</a:t>
            </a:r>
          </a:p>
          <a:p/>
          <a:p>
            <a:r>
              <a:t>하지만 바로 이 지점에서 한 걸음 더 들어가야 합니다.</a:t>
            </a:r>
          </a:p>
          <a:p>
            <a:r>
              <a:t>32B judge는 전체 inconsistency는 많이 줄였지만,</a:t>
            </a:r>
          </a:p>
          <a:p>
            <a:r>
              <a:t>남아 있는 불일치는 거의 first-position bias와 연결됩니다.</a:t>
            </a:r>
          </a:p>
          <a:p/>
          <a:p>
            <a:r>
              <a:t>즉 큰 흐름의 ranking validity와, 개별 질문 수준의 decision cleanliness는 다른 문제입니다.</a:t>
            </a:r>
          </a:p>
          <a:p>
            <a:r>
              <a:t>앙상블 결과도 같은 교훈을 줍니다.</a:t>
            </a:r>
          </a:p>
          <a:p>
            <a:r>
              <a:t>작은 judge를 그냥 다수결로 합치면 오히려 오염되고,</a:t>
            </a:r>
          </a:p>
          <a:p>
            <a:r>
              <a:t>abstain ensemble처럼 불확실성을 관리해야 오히려 더 좋아집니다.</a:t>
            </a:r>
          </a:p>
          <a:p/>
          <a:p>
            <a:r>
              <a:t>그래서 이 슬라이드는 judge 연구를 단순 모델 비교가 아니라</a:t>
            </a:r>
          </a:p>
          <a:p>
            <a:r>
              <a:t>evaluation system design 문제로 읽어야 한다는 메시지를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제가 이번 발표에서 꼭 분리해서 설명하고 싶은 부분입니다.</a:t>
            </a:r>
          </a:p>
          <a:p>
            <a:r>
              <a:t>많은 청중이 기권 설계를 보면 처음에는 보수적으로 포기한 것처럼 받아들입니다.</a:t>
            </a:r>
          </a:p>
          <a:p>
            <a:r>
              <a:t>하지만 실제로는 반대입니다. 이건 decision rule을 더 정교하게 만든 겁니다.</a:t>
            </a:r>
          </a:p>
          <a:p/>
          <a:p>
            <a:r>
              <a:t>pairwise 한 쌍에 대해 각 judge는 A, B, tie, inconsistent 중 하나를 냅니다.</a:t>
            </a:r>
          </a:p>
          <a:p>
            <a:r>
              <a:t>여기서 inconsistent는 세 번째 class라기보다, AB/BA swap이 충돌한 low-confidence signal입니다.</a:t>
            </a:r>
          </a:p>
          <a:p>
            <a:r>
              <a:t>그런데 다수결은 이걸 일반 표처럼 셉니다.</a:t>
            </a:r>
          </a:p>
          <a:p>
            <a:r>
              <a:t>그러면 [inconsistent, inconsistent, A] 같은 상황에서도 winner를 잃습니다.</a:t>
            </a:r>
          </a:p>
          <a:p/>
          <a:p>
            <a:r>
              <a:t>abstain은 다르게 봅니다.</a:t>
            </a:r>
          </a:p>
          <a:p>
            <a:r>
              <a:t>inconsistent를 vote가 아니라 기권으로 두고, 남은 decisive vote가 서로 충돌하지 않을 때만 winner를 선언합니다.</a:t>
            </a:r>
          </a:p>
          <a:p>
            <a:r>
              <a:t>그래서 [inconsistent, inconsistent, A]는 A로 복구되고,</a:t>
            </a:r>
          </a:p>
          <a:p>
            <a:r>
              <a:t>[A, B, inconsistent]는 여전히 inconsistent로 남습니다.</a:t>
            </a:r>
          </a:p>
          <a:p/>
          <a:p>
            <a:r>
              <a:t>즉 이 설계는 무조건 많이 판단하려는 것도 아니고, 무조건 보수적으로 포기하는 것도 아닙니다.</a:t>
            </a:r>
          </a:p>
          <a:p>
            <a:r>
              <a:t>낮은 품질 judge의 불확실한 표를 집계에서 분리해 measurement noise를 줄이는 방식입니다.</a:t>
            </a:r>
          </a:p>
          <a:p>
            <a:r>
              <a:t>604쌍이 복구되고 decisive rate도 올라간다는 숫자가 바로 그 설계적 의미를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RQ3를 한 장에서 정리합니다.</a:t>
            </a:r>
          </a:p>
          <a:p>
            <a:r>
              <a:t>Claude 피드백을 반영해서 InternLM, GPT-4o-mini, hold-out을 하나의 arc로 묶었습니다.</a:t>
            </a:r>
          </a:p>
          <a:p/>
          <a:p>
            <a:r>
              <a:t>첫 번째 포인트는 cross-family sanity입니다.</a:t>
            </a:r>
          </a:p>
          <a:p>
            <a:r>
              <a:t>InternLM20B는 Qwen32와 broad ranking을 꽤 잘 맞추지만 더 noisy합니다.</a:t>
            </a:r>
          </a:p>
          <a:p>
            <a:r>
              <a:t>두 번째 포인트는 strongest external anchor입니다.</a:t>
            </a:r>
          </a:p>
          <a:p>
            <a:r>
              <a:t>GPT-4o-mini는 Qwen32와 가장 잘 맞는 외부 judge입니다.</a:t>
            </a:r>
          </a:p>
          <a:p>
            <a:r>
              <a:t>세 번째 포인트는 question reduction의 hold-out 현실입니다.</a:t>
            </a:r>
          </a:p>
          <a:p>
            <a:r>
              <a:t>repeated hold-out 기준으로는 60문항이 가장 안전한 운영점입니다.</a:t>
            </a:r>
          </a:p>
          <a:p/>
          <a:p>
            <a:r>
              <a:t>즉 RQ3는 완전한 yes가 아니라 partial yes라고 답해야 정직합니다.</a:t>
            </a:r>
          </a:p>
          <a:p>
            <a:r>
              <a:t>큰 흐름은 남지만, judge 품질과 question-level cleanliness는 서로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2부 전체를 닫아 주는 슬라이드입니다.</a:t>
            </a:r>
          </a:p>
          <a:p>
            <a:r>
              <a:t>Claude가 지적한 것처럼 2부가 phase 보고의 나열로 끝나면 연구 질문이 희미해집니다.</a:t>
            </a:r>
          </a:p>
          <a:p>
            <a:r>
              <a:t>그래서 처음 던진 RQ1, RQ2, RQ3를 다시 불러와 답하는 방식으로 마무리합니다.</a:t>
            </a:r>
          </a:p>
          <a:p/>
          <a:p>
            <a:r>
              <a:t>RQ1에 대한 답은 가장 명확합니다.</a:t>
            </a:r>
          </a:p>
          <a:p>
            <a:r>
              <a:t>Qwen same-family에서는 judge scaling이 reliability 개선으로 이어졌습니다.</a:t>
            </a:r>
          </a:p>
          <a:p>
            <a:r>
              <a:t>RQ2에 대한 답도 선명합니다.</a:t>
            </a:r>
          </a:p>
          <a:p>
            <a:r>
              <a:t>남는 오류는 단순 noise가 아니라 구조화된 bias와 format failure입니다.</a:t>
            </a:r>
          </a:p>
          <a:p/>
          <a:p>
            <a:r>
              <a:t>RQ3는 부분적으로만 예라고 답해야 정직합니다.</a:t>
            </a:r>
          </a:p>
          <a:p>
            <a:r>
              <a:t>InternLM20B, GPT-4o-mini, repeated hold-out이 broad claim을 지지하지만,</a:t>
            </a:r>
          </a:p>
          <a:p>
            <a:r>
              <a:t>이걸 모든 open judge에 대한 보편 법칙처럼 말하면 과합니다.</a:t>
            </a:r>
          </a:p>
          <a:p/>
          <a:p>
            <a:r>
              <a:t>이 슬라이드가 들어가면 2부가 phase 보고가 아니라</a:t>
            </a:r>
          </a:p>
          <a:p>
            <a:r>
              <a:t>세 개의 연구 질문에 대한 실험적 답변으로 닫히게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슬라이드는 발표를 마무리하면서 동시에 repo 안내를 하는 슬라이드입니다.</a:t>
            </a:r>
          </a:p>
          <a:p>
            <a:r>
              <a:t>교수님이 발표 후 저장소를 실제로 보신다면 어디부터 보면 되는지를 남기는 역할도 합니다.</a:t>
            </a:r>
          </a:p>
          <a:p/>
          <a:p>
            <a:r>
              <a:t>오늘 발표는 paper study였기 때문에, 발표가 끝나면 질문이 두 방향으로 나올 겁니다.</a:t>
            </a:r>
          </a:p>
          <a:p>
            <a:r>
              <a:t>원 논문 자체에 대한 질문과, 제 재현 실험에 대한 질문입니다.</a:t>
            </a:r>
          </a:p>
          <a:p>
            <a:r>
              <a:t>전자는 presentation과 paper를 보면 되고,</a:t>
            </a:r>
          </a:p>
          <a:p>
            <a:r>
              <a:t>후자는 README, figures, data를 따라가면 됩니다.</a:t>
            </a:r>
          </a:p>
          <a:p>
            <a:r>
              <a:t>특히 저장소는 phase 순서로 읽으면 오늘 발표의 2부와 같은 흐름이 다시 재생됩니다.</a:t>
            </a:r>
          </a:p>
          <a:p/>
          <a:p>
            <a:r>
              <a:t>이상으로 발표를 마치고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F7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72784" y="0"/>
            <a:ext cx="5916168" cy="6858000"/>
          </a:xfrm>
          <a:prstGeom prst="rect">
            <a:avLst/>
          </a:prstGeom>
          <a:solidFill>
            <a:srgbClr val="EF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146304" cy="4983480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10528" y="658368"/>
            <a:ext cx="128016" cy="44805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742432"/>
            <a:ext cx="11045952" cy="749808"/>
          </a:xfrm>
          <a:prstGeom prst="rect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786384"/>
            <a:ext cx="5303520" cy="135331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82C3A"/>
                </a:solidFill>
                <a:latin typeface="Apple SD Gothic Neo"/>
              </a:rPr>
              <a:t>MT-Bench / Chatbot Arena
논문 리뷰와 내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95728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7614D"/>
                </a:solidFill>
                <a:latin typeface="Apple SD Gothic Neo"/>
              </a:rPr>
              <a:t>1부 논문 리뷰, 2부 내 연구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71216"/>
            <a:ext cx="5029200" cy="1234440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0">
                <a:solidFill>
                  <a:srgbClr val="363A48"/>
                </a:solidFill>
                <a:latin typeface="Apple SD Gothic Neo"/>
              </a:rPr>
              <a:t>앞 절반은 Zheng et al.의 베이스 논문을 읽는 시간입니다.
뒤 절반은 그 프로토콜을 제 저장소와 실험으로 어떻게 옮겼는지 설명합니다.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822960"/>
            <a:ext cx="4480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B586E"/>
                </a:solidFill>
                <a:latin typeface="Apple SD Gothic Neo"/>
              </a:rPr>
              <a:t>Base paper figures that anchor the talk</a:t>
            </a:r>
          </a:p>
        </p:txBody>
      </p:sp>
      <p:pic>
        <p:nvPicPr>
          <p:cNvPr id="11" name="Picture 10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1188720"/>
            <a:ext cx="4800600" cy="3759449"/>
          </a:xfrm>
          <a:prstGeom prst="rect">
            <a:avLst/>
          </a:prstGeom>
        </p:spPr>
      </p:pic>
      <p:pic>
        <p:nvPicPr>
          <p:cNvPr id="12" name="Picture 11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858768"/>
            <a:ext cx="4160520" cy="1653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4848" y="3657600"/>
            <a:ext cx="4736592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Figure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5486400"/>
            <a:ext cx="4041648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Table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5907024"/>
            <a:ext cx="10424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 SD Gothic Neo"/>
              </a:rPr>
              <a:t>핵심 질문: strong judge LLM의 논문 메시지가 오픈소스 judge 실험으로 어디까지 이어지는가?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623620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8EEEB"/>
                </a:solidFill>
                <a:latin typeface="Apple SD Gothic Neo"/>
              </a:rPr>
              <a:t>박승현 | CLINK Lab | 논문 리뷰 + 내 연구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오늘 발표는 1부 논문 리뷰, 2부 내 연구입니다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MT-Bench paper study | base paper + reproduction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20분 동안 어떤 질문을 어떤 순서로 볼지 먼저 정렬한다.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발표를 관통하는 질문: 원 논문의 85% judge-human agreement라는 메시지는 오픈소스 judge 환경에서도 어느 정도 유지되는가?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1부. 논문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MT-Bench와 Chatbot Arena가 왜 같이 설계됐는지, 그리고 GPT-4 judge가 무엇을 설득했는지 먼저 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2부. 내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같은 judge protocol을 제 저장소에서 Qwen · InternLM · GPT-4o-mini 조합으로 옮긴 방식을 설명합니다.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발표의 최종 메시지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same-family scaling, cross-family sanity, repeated hold-out을 순서대로 보며 어디까지 믿을 수 있는지 정리합니다.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1-1. 왜 MT-Bench가 필요했는가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3/18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기존 벤치마크의 어떤 한계를 문제 삼았는지 잡는다.</a:t>
            </a:r>
          </a:p>
        </p:txBody>
      </p:sp>
      <p:pic>
        <p:nvPicPr>
          <p:cNvPr id="10" name="Picture 9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4282192"/>
          </a:xfrm>
          <a:prstGeom prst="rect">
            <a:avLst/>
          </a:prstGeom>
        </p:spPr>
      </p:pic>
      <p:pic>
        <p:nvPicPr>
          <p:cNvPr id="11" name="Picture 10" descr="paper_mtbench_winrate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961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19: Chatbot Arena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3: MT-Bench 평균 승률 곡선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객관식/단답형 중심 벤치마크는 open-ended, multi-turn 대화 품질을 충분히 반영하지 못한다.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사람 선호를 직접 모으는 평가는 비싸고 느려서 반복적인 모델 개발 루프에 맞지 않는다.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그래서 원 논문은 ‘사람 선호를 근사하는 자동 judge’를 중심 문제로 세운다.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원 논문의 문제의식은 ‘새 benchmark 하나 만들기’보다 ‘사람 평가를 대체할 실용적 judge 만들기’에 더 가깝습니다.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1-2. MT-Bench와 Chatbot Arena는 어떻게 역할을 나눴는가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4/18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MT-Bench와 Arena가 각각 무엇을 측정하고 어떻게 보완하는지 구조적으로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MT-Bench는 8개 카테고리, 80문항의 multi-turn benchmark로 controlled comparison을 담당한다.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Chatbot Arena는 실제 사용자 pairwise preference를 통해 ecological validity를 제공한다.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즉 MT-Bench는 재현 가능성, Arena는 현실 적합성을 제공하는 쌍으로 설계되었다.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논문의 힘은 MT-Bench 하나가 아니라, benchmark와 crowd preference를 함께 설계했다는 데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MT-Bench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80문항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Arena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익명 pairwise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Goal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human preference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1-3. 원 논문은 judge를 어떻게 썼는가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5/18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single, pairwise, reference-guided라는 judge 프로토콜을 분명히 해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원 논문의 결론은 ‘GPT-4가 완벽하다’가 아니라, ‘강한 judge가 인간 선호를 실용적으로 근사한다’입니다.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Single-answer grading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답변 하나를 0–10 점수로 채점합니다. 서열 안정성과 카테고리별 score range를 보기 좋습니다.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Pairwise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A/B 두 응답을 비교해 더 나은 답변을 고릅니다. 실제 사용자의 pairwise preference와 가장 닮은 setting입니다.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Reference-guided grading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수학·코딩처럼 정답 기준이 있는 경우 reference answer를 함께 주어 채점 근거를 강화합니다.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논문은 이 세 judge mode를 동시에 운용하면서, 위치·장문·self-enhancement bias를 별도 분석 대상으로 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1-4. judge 점수평가는 실제로 어떻게 흘러가는가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6/18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답변 생성부터 parse·aggregate까지 judge scoring flow를 한 번에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저장소의 재현성 핵심은 prompt를 흉내 낸 것보다도, parse rule과 aggregation rule을 논문과 맞춘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262432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247802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1. 답변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247802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각 모델이 80문항, 2-turn 답변을 생성합니다. generation은 temperature 0.7로 두어 응답 다양성을 확보합니다.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39" y="2048256"/>
            <a:ext cx="262432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1" y="2157984"/>
            <a:ext cx="247802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2. judge 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1" y="2542032"/>
            <a:ext cx="247802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single은 turn1/turn2를 채점하고, pairwise는 AB와 BA 두 순서로 각각 judge를 호출합니다. judge는 temperature 0.0입니다.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59" y="2048256"/>
            <a:ext cx="262432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1" y="2157984"/>
            <a:ext cx="247802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3. 파싱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3911" y="2542032"/>
            <a:ext cx="247802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single은 1–10 점수를 추출하고 실패 시 -1.0으로 기록합니다. pairwise는 A/B/tie/error를 추출합니다.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048256"/>
            <a:ext cx="262432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157984"/>
            <a:ext cx="247802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4. 집계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2832" y="2542032"/>
            <a:ext cx="247802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single은 문항별 turn 평균을 모델 점수로, pairwise는 swap 뒤에도 일치할 때만 winner로 채택합니다.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generation 단계와 judge 단계의 temperature를 분리해, 답변 다양성과 평가 결정성을 서로 다른 층으로 관리한다.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single-grade는 turn1 독립 prompt와 turn2 multi-turn prompt를 따로 써서 turn2 맥락 손실을 막는다.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pairwise의 핵심은 winner를 한 번 맞히는 게 아니라, AB/BA swap 뒤에도 유지되는 winner만 채택하는 것이다.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1-5. 원 논문의 두 핵심 주장은 무엇이었나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7/18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재현 실험의 기준점이 되는 원 논문의 핵심 claim 두 개를 먼저 또렷하게 세운다.</a:t>
            </a:r>
          </a:p>
        </p:txBody>
      </p:sp>
      <p:pic>
        <p:nvPicPr>
          <p:cNvPr id="10" name="Picture 9" descr="paper_mtbench_agreement_tab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426248"/>
          </a:xfrm>
          <a:prstGeom prst="rect">
            <a:avLst/>
          </a:prstGeom>
        </p:spPr>
      </p:pic>
      <p:pic>
        <p:nvPicPr>
          <p:cNvPr id="11" name="Picture 10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73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5: judge-human agreement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8: MT-Bench model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1: GPT-4 judge는 MT-Bench에서 인간 expert와 non-tie agreement 85%, human-human 81% 수준으로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2: MT-Bench 점수는 GPT-4 8.99, GPT-3.5 7.94, Vicuna-13B 6.39, LLaMA-13B 2.61처럼 모델 품질 차이를 분명하게 서열화한다.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원 논문은 ‘judge가 인간과 비슷하다’와 ‘점수가 모델 품질을 반영한다’를 동시에 주장한다.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뒤의 재현 실험은 결국 이 두 문장을 다시 묻는 작업입니다. agreement가 유지되는가, 그리고 서열이 설득력 있는가?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1-6. 원 논문은 bias를 무시하지 않았다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8/18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숫자만 좋은 게 아니라 judge 자체를 편향이 있는 시스템으로 다뤘다는 점을 짚는다.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원 논문의 진짜 장점은 strong judge를 자랑한 데 있지 않고, judge를 measurement system으로 취급했다는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0680" cy="4315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12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원 논문이 직접 본 편향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12080" cy="3520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position bias: 응답 순서가 바뀌면 winner가 달라질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verbosity bias: 더 길고 장황한 답변이 유리해질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self-enhancement bias: judge가 자기 패밀리 답변을 더 좋게 볼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1975104"/>
            <a:ext cx="5440680" cy="4315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2084832"/>
            <a:ext cx="5212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왜 내 재현과 이어지나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2450592"/>
            <a:ext cx="5212080" cy="3520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agreement가 높아도 남는 오류 구조는 따로 봐야 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오픈소스 judge에서는 편향이 더 커지거나 다른 형태로 농축될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그래서 Phase 3 이후에는 residual position bias와 format failure를 같이 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1-7. 그런데 이 논문이 남긴 열린 질문도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9/18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논문을 비판적으로 읽고, 왜 내 재현 실험이 필요한지 자연스럽게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judge가 강하다는 사실과 judge가 저렴하고 재현 가능하다는 사실은 다르다.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GPT-4는 강력하지만 폐쇄형 API라 비용, 버전 변화, 재현성 문제가 남는다.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bias를 분석했어도 ‘오픈소스 judge도 같은 수준까지 갈 수 있는가’는 아직 열려 있었다.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내 실험은 원 논문을 부정하는 게 아니라, 그 프로토콜을 오픈소스 환경으로 옮겼을 때 어디까지 유지되는지 묻는 작업입니다.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closed judge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cost / reproducibility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open judge 가능?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내 접근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faithful reproduction + extension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11556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987552"/>
            <a:ext cx="128016" cy="28803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49640" y="1051560"/>
            <a:ext cx="265176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400" b="1">
                <a:solidFill>
                  <a:srgbClr val="DAD4CA"/>
                </a:solidFill>
                <a:latin typeface="Apple SD Gothic Neo"/>
              </a:rPr>
              <a:t>2부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005840"/>
            <a:ext cx="62179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554480"/>
            <a:ext cx="69494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82C3A"/>
                </a:solidFill>
                <a:latin typeface="Apple SD Gothic Neo"/>
              </a:rPr>
              <a:t>2부. 내 연구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6812280" cy="96012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282C3A"/>
                </a:solidFill>
                <a:latin typeface="Apple SD Gothic Neo"/>
              </a:rPr>
              <a:t>이제부터는 paper claim을 다시 읽는 것이 아니라, 그 claim을 내 judge 실험으로 어디까지 옮길 수 있었는지 보여드립니다.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438912"/>
            <a:ext cx="65836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2-1. 내가 실제로 검증한 세 연구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11/18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절반의 랩미팅을 연구 질문 단위로 묶어 놓고 듣게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뒤 절반은 구현 목록이 아니라 세 개의 연구 질문으로 듣는 것이 가장 좋습니다.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Qwen judge를 7B → 14B → 32B로 키우면 pairwise reliability가 실제로 단조 개선되는가?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residual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좋아진 뒤 남는 오류는 단순 noise인가, 아니면 position bias나 format failure처럼 구조화되는가?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InternLM, GPT-4o-mini, repeated hold-out까지 붙여도 같은 결론이 남는가?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이 뒤 절반은 구현 목록보다 세 개의 연구 질문으로 들으면 가장 잘 들어온다.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RQ1 준비. Phase 1–2: 왜 self-judge를 믿으면 안 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12/18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메인 실험에 들어가기 전에 self-judge bias와 초기 sanity check를 짚는다.</a:t>
            </a:r>
          </a:p>
        </p:txBody>
      </p:sp>
      <p:pic>
        <p:nvPicPr>
          <p:cNvPr id="10" name="Picture 9" descr="fig0_phase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700226"/>
          </a:xfrm>
          <a:prstGeom prst="rect">
            <a:avLst/>
          </a:prstGeom>
        </p:spPr>
      </p:pic>
      <p:pic>
        <p:nvPicPr>
          <p:cNvPr id="11" name="Picture 10" descr="fig2_overall_ran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307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1 self-judge category 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초기 overall ordering sanity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원 논문은 strong judge의 가능성을 보였지만, 이 슬라이드는 오픈소스 self-judge로 가면 바로 어떤 함정이 생기는지 보여줍니다.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Qwen2.5-7B self-judge는 overall 8.12인데 Math·Coding은 각각 8.80으로 튀며 자기 강점을 과대평가한다.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외부 14B judge를 붙이면 broad ranking은 정리되지만, pairwise inconsistency 자체는 여전히 높다.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문제는 ‘judge를 쓰느냐’가 아니라 ‘어떤 judge를 어떻게 쓰느냐’이다.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RQ1을 제대로 보려면 먼저 self-judge 함정을 걷어내야 합니다. 이 슬라이드는 그 준비 단계입니다.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RQ1 답. Phase 3: Qwen same-family scaling이 메인 결과다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13/18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judge scaling이 reliability에 주는 효과를 가장 강하게 보여준다.</a:t>
            </a:r>
          </a:p>
        </p:txBody>
      </p:sp>
      <p:pic>
        <p:nvPicPr>
          <p:cNvPr id="10" name="Picture 9" descr="fig4_jud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354645"/>
          </a:xfrm>
          <a:prstGeom prst="rect">
            <a:avLst/>
          </a:prstGeom>
        </p:spPr>
      </p:pic>
      <p:pic>
        <p:nvPicPr>
          <p:cNvPr id="11" name="Picture 10" descr="fig5_phase3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478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Judge scaling과 카테고리별 inconsistency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3 single-grade 점수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Pairwise inconsistency는 7B 78.75% → 14B 46.85% → 32B 32.86%로 단조 감소한다.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Single-grade score range도 0.84 → 1.12 → 1.48로 확대되어 모델 간 변별력이 커진다.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따라서 메인 결론은 ‘Qwen same-family empirical trend’로 읽는 것이 맞다.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573328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78.75%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9776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889504" y="573328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14B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9504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46.85%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73328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32B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32.86%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573328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핵심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same-family trend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RQ2-1. 그런데 broad ranking이 맞아도 남는 오류는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14/18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cross-family validation 이후에도 남는 residual bias와 practical ensemble 결론을 보여준다.</a:t>
            </a:r>
          </a:p>
        </p:txBody>
      </p:sp>
      <p:pic>
        <p:nvPicPr>
          <p:cNvPr id="10" name="Picture 9" descr="fig11_position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1974656"/>
          </a:xfrm>
          <a:prstGeom prst="rect">
            <a:avLst/>
          </a:prstGeom>
        </p:spPr>
      </p:pic>
      <p:pic>
        <p:nvPicPr>
          <p:cNvPr id="11" name="Picture 10" descr="fig13_ensemble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327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Residual position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Majority vs abstain ensemble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32B judge의 남은 불일치 중 94.93%가 first-position win으로 연결되어 residual bias가 위치 편향으로 농축된다.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단순 majority ensemble은 오히려 58.63%로 나빠지고, abstain ensemble만 24.70%까지 낮춘다.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broad ranking이 맞는 것과 question-level decision이 깨끗한 것은 다른 문제다.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RQ2의 답은 명확합니다. 전체 서열이 맞아도 남는 오류는 구조화된 편향과 운영 리스크로 남습니다.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RQ2-2. 왜 majority가 아니라 abstain인가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15/18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기권 설계를 결과표가 아니라 decision rule 자체로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각 judge는 pairwise 한 쌍에 대해 {A, B, tie, inconsistent} 중 하나를 남긴다. 여기서 inconsistent는 AB/BA swap이 충돌한 low-confidence case다.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다수결은 inconsistent도 하나의 표처럼 세기 때문에 [inconsistent, inconsistent, A] 같은 경우 winner를 잃고 noisy 7B가 aggregate를 오염시킨다.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abstain은 inconsistent를 기권으로 버리고, 남은 decisive vote가 충돌하지 않을 때만 winner를 선언한다.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실제로 604쌍(36%)이 inconsistent→winner로 복구되고, inconsistency는 58.63%→24.70%, decisive rate는 41.37%→75.30%로 개선된다.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abstain은 덜 결정하는 설계가 아니라, low-confidence vote를 표로 세지 않아서 더 많은 쌍을 더 깨끗하게 결정하는 설계입니다.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Majority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58.63%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Abstain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24.70%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Recovered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604쌍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Decisive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75.30%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RQ3. cross-family와 hold-out에서도 결론이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16/18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InternLM20B, GPT-4o-mini, repeated hold-out 결과를 한 장에서 묶어 RQ3에 답한다.</a:t>
            </a:r>
          </a:p>
        </p:txBody>
      </p:sp>
      <p:pic>
        <p:nvPicPr>
          <p:cNvPr id="10" name="Picture 9" descr="fig16_phase345_judg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3892253"/>
          </a:xfrm>
          <a:prstGeom prst="rect">
            <a:avLst/>
          </a:prstGeom>
        </p:spPr>
      </p:pic>
      <p:pic>
        <p:nvPicPr>
          <p:cNvPr id="11" name="Picture 10" descr="fig15_tiny_mt_bench_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319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Cross-family / external judge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330-split repeated hold-out generalization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InternLM20B는 Qwen32와 Spearman ρ=0.893로 broad ranking을 유지하지만, pairwise inconsistency는 47.44%로 더 noisy하다.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GPT-4o-mini는 Qwen32와 ρ=0.964, τ=0.905, pairwise inconsistency 33.99%로 가장 강한 외부 기준점이다.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tinyMT repeated hold-out 330 split에서는 60문항이 세 judge 모두 mean ρ≥0.97로 가장 안전한 운영점이었다.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573328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InternLM20B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ρ=0.893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9776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889504" y="573328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GPT-4o-mini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9504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ρ=0.964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73328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60문항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mean ρ≥0.97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573328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해석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partial yes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4. 세 연구 질문에 대해 지금 무엇을 답할 수 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17/18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2부에서 처음 던진 세 연구 질문에 대한 현재 답을 한 장에서 닫아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따라서 이 발표의 결론은 ‘오픈소스 judge도 충분하다’가 아니라, ‘strong judge message는 부분적으로 재현되지만 boundary를 같이 말해야 한다’입니다.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scaling은 개선되는가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예. Qwen same-family에서는 7B → 14B → 32B로 갈수록 pairwise inconsistency가 뚜렷하게 줄었습니다.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남는 오류는 어떤 구조인가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단순 noise가 아니라 first-position bias와 format failure처럼 구조화됩니다. 그래서 abstain ensemble이 의미를 가집니다.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그 결론은 남는가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부분적으로 예. InternLM20B·GPT-4o-mini·repeated hold-out이 broad claim을 지지하지만, 모든 open judge에 대한 보편 법칙은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RQ1, RQ2, RQ3를 다시 부르면 2부가 phase 나열이 아니라 하나의 argument로 닫힙니다.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질문 전에: 저장소는 이렇게 읽으면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18/18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발표 후 repo를 실제로 볼 사람을 위해 마지막 안내를 남기고 Q&amp;A로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원 논문 설명은 `presentation/`의 deck와 notes, 재현 서사는 `README.md`, 원고는 `paper/`를 보면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실험은 Phase 1–2 → Phase 3 → Phase 4–5 → Phase 6 순으로 읽으면 오늘 발표 흐름과 정확히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수치 검증은 `figures/` 옆 CSV와 `data/` raw judgment를 따라가면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즉 오늘 발표는 끝나도, repo 안에서 결론을 다시 확인할 수 있게 설계되어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질문 받겠습니다.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today's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README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final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