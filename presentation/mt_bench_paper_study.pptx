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발표는 두 부분으로 나뉩니다.</a:t>
            </a:r>
          </a:p>
          <a:p>
            <a:r>
              <a:t>앞 절반은 Zheng et al.의 MT-Bench / Chatbot Arena 논문 자체를 읽는 시간이 되고,</a:t>
            </a:r>
          </a:p>
          <a:p>
            <a:r>
              <a:t>뒤 절반은 그 프로토콜을 제가 오픈소스 judge 환경에서 어떻게 옮겨 실험했는지 설명하는 구조입니다.</a:t>
            </a:r>
          </a:p>
          <a:p/>
          <a:p>
            <a:r>
              <a:t>즉 먼저 논문이 해결한 문제와 핵심 주장, 한계를 이해하고,</a:t>
            </a:r>
          </a:p>
          <a:p>
            <a:r>
              <a:t>그 다음에 제 실험이 그 논문에 어떤 질문을 더 던졌는지를 보겠습니다.</a:t>
            </a:r>
          </a:p>
          <a:p/>
          <a:p>
            <a:r>
              <a:t>오늘의 최종 메시지는 간단합니다.</a:t>
            </a:r>
          </a:p>
          <a:p>
            <a:r>
              <a:t>원 논문은 strong judge의 가능성을 설득력 있게 보여준 기준점이고,</a:t>
            </a:r>
          </a:p>
          <a:p>
            <a:r>
              <a:t>제 실험은 그 메시지를 오픈소스 judge 환경으로 옮겼을 때 어디까지 유지되는지를 보여줍니다.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오늘 발표의 구조를 정하는 슬라이드입니다.</a:t>
            </a:r>
          </a:p>
          <a:p>
            <a:r>
              <a:t>앞에서는 논문 자체를 하나의 완결된 주장으로 읽고,</a:t>
            </a:r>
          </a:p>
          <a:p>
            <a:r>
              <a:t>뒤에서는 그 프로토콜을 제가 어떻게 재현하고 확장했는지 보여드리겠습니다.</a:t>
            </a:r>
          </a:p>
          <a:p/>
          <a:p>
            <a:r>
              <a:t>그래서 발표의 흐름은 자연스럽게 이어집니다.</a:t>
            </a:r>
          </a:p>
          <a:p>
            <a:r>
              <a:t>먼저 원 논문이 strong judge를 어떻게 설득했는지 보고,</a:t>
            </a:r>
          </a:p>
          <a:p>
            <a:r>
              <a:t>그 다음에 그 메시지가 오픈소스 judge 환경에서도 얼마나 유지되는지를 제 실험으로 확인합니다.</a:t>
            </a:r>
          </a:p>
          <a:p/>
          <a:p>
            <a:r>
              <a:t>즉 오늘 발표는 paper review와 experiment review가 연결된 구조라고 보시면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분위기를 한 번 정리하기 위한 divider입니다.</a:t>
            </a:r>
          </a:p>
          <a:p>
            <a:r>
              <a:t>여기부터는 원 논문만 집중해서 보겠습니다.</a:t>
            </a:r>
          </a:p>
          <a:p/>
          <a:p>
            <a:r>
              <a:t>즉 benchmark가 왜 필요했는지, Arena와 어떻게 연결되는지,</a:t>
            </a:r>
          </a:p>
          <a:p>
            <a:r>
              <a:t>judge prompt와 scoring flow는 어떤 형태인지,</a:t>
            </a:r>
          </a:p>
          <a:p>
            <a:r>
              <a:t>그리고 핵심 결과와 한계가 무엇인지 차례대로 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논문의 출발점은 매우 현실적입니다.</a:t>
            </a:r>
          </a:p>
          <a:p>
            <a:r>
              <a:t>대화형 모델을 평가하려면 open-ended 품질과 multi-turn 능력을 봐야 하는데,</a:t>
            </a:r>
          </a:p>
          <a:p>
            <a:r>
              <a:t>기존 객관식 벤치마크만으로는 그 부분이 잘 드러나지 않습니다.</a:t>
            </a:r>
          </a:p>
          <a:p>
            <a:r>
              <a:t>반대로 사람 선호를 직접 평가하면 정확하지만 너무 비싸고 느립니다.</a:t>
            </a:r>
          </a:p>
          <a:p/>
          <a:p>
            <a:r>
              <a:t>그래서 저자들은 controlled benchmark와 in-the-wild preference를 함께 설계합니다.</a:t>
            </a:r>
          </a:p>
          <a:p>
            <a:r>
              <a:t>왼쪽 그림은 Chatbot Arena의 실제 사용자 인터페이스고,</a:t>
            </a:r>
          </a:p>
          <a:p>
            <a:r>
              <a:t>오른쪽 그림은 MT-Bench 점수와 Arena 승률 사이 관계를 보여줍니다.</a:t>
            </a:r>
          </a:p>
          <a:p>
            <a:r>
              <a:t>즉 이 논문은 benchmark와 실제 선호를 연결해서 judge의 타당성을 설명하려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MT-Bench와 Arena는 둘 다 평가 자산이지만 역할이 다릅니다.</a:t>
            </a:r>
          </a:p>
          <a:p>
            <a:r>
              <a:t>MT-Bench는 controlled benchmark라서 같은 질문 세트로 모델들을 반복 비교할 수 있고,</a:t>
            </a:r>
          </a:p>
          <a:p>
            <a:r>
              <a:t>카테고리별 분석도 가능합니다.</a:t>
            </a:r>
          </a:p>
          <a:p/>
          <a:p>
            <a:r>
              <a:t>반면 Arena는 실제 사용자 환경입니다.</a:t>
            </a:r>
          </a:p>
          <a:p>
            <a:r>
              <a:t>질문도 자유롭고 사용자는 모델 이름을 모른 채 두 응답 중 더 나은 쪽을 고릅니다.</a:t>
            </a:r>
          </a:p>
          <a:p>
            <a:r>
              <a:t>재현성은 떨어지지만 현실의 인간 선호를 더 잘 반영합니다.</a:t>
            </a:r>
          </a:p>
          <a:p/>
          <a:p>
            <a:r>
              <a:t>원 논문은 바로 이 둘을 함께 묶음으로써,</a:t>
            </a:r>
          </a:p>
          <a:p>
            <a:r>
              <a:t>benchmark 점수가 실제 선호와도 연결될 수 있다는 점을 설득합니다.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judge 프로토콜의 뼈대를 설명합니다.</a:t>
            </a:r>
          </a:p>
          <a:p>
            <a:r>
              <a:t>single-answer grading은 절대 점수 평가이고, pairwise는 두 응답의 상대 비교입니다.</a:t>
            </a:r>
          </a:p>
          <a:p>
            <a:r>
              <a:t>reference-guided grading은 특히 math와 coding처럼 정답 기준이 중요한 영역에서 필요합니다.</a:t>
            </a:r>
          </a:p>
          <a:p/>
          <a:p>
            <a:r>
              <a:t>중요한 점은 원 논문이 judge를 하나의 단일 API 호출로 다루지 않았다는 것입니다.</a:t>
            </a:r>
          </a:p>
          <a:p>
            <a:r>
              <a:t>task 특성에 따라 다른 judge mode를 쓰고,</a:t>
            </a:r>
          </a:p>
          <a:p>
            <a:r>
              <a:t>그 위에서 bias를 따로 분석합니다.</a:t>
            </a:r>
          </a:p>
          <a:p>
            <a:r>
              <a:t>이 점이 이후 LLM-as-a-Judge 연구의 기본 틀을 만든 부분이라고 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judge prompt를 설명하는 슬라이드입니다.</a:t>
            </a:r>
          </a:p>
          <a:p>
            <a:r>
              <a:t>여기서 중요한 포인트는 judge가 단순히 똑똑한 모델이어서 잘 평가하는 것이 아니라,</a:t>
            </a:r>
          </a:p>
          <a:p>
            <a:r>
              <a:t>입력과 출력 형식이 상당히 엄격하게 설계되어 있다는 점입니다.</a:t>
            </a:r>
          </a:p>
          <a:p/>
          <a:p>
            <a:r>
              <a:t>single은 [[rating]] 점수, pairwise는 [[A]], [[B]], [[C]] 형식을 요구합니다.</a:t>
            </a:r>
          </a:p>
          <a:p>
            <a:r>
              <a:t>turn2는 두 번째 턴만 따로 보지 않고 q1, a1, q2, a2를 함께 넣어 multi-turn 문맥을 유지합니다.</a:t>
            </a:r>
          </a:p>
          <a:p>
            <a:r>
              <a:t>math와 coding은 reference answer를 추가합니다.</a:t>
            </a:r>
          </a:p>
          <a:p/>
          <a:p>
            <a:r>
              <a:t>즉 MT-Bench judge는 모델 자체 능력뿐 아니라,</a:t>
            </a:r>
          </a:p>
          <a:p>
            <a:r>
              <a:t>parse 가능하고 안정적인 출력을 강제하는 프로토콜 설계가 함께 작동하는 구조입니다.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judge 시스템을 이해하려면 prompt만 보면 부족하고,</a:t>
            </a:r>
          </a:p>
          <a:p>
            <a:r>
              <a:t>실제 scoring flow 전체를 봐야 합니다.</a:t>
            </a:r>
          </a:p>
          <a:p>
            <a:r>
              <a:t>먼저 답변을 생성하고, judge를 호출한 뒤,</a:t>
            </a:r>
          </a:p>
          <a:p>
            <a:r>
              <a:t>출력을 파싱하고 마지막으로 aggregation 규칙을 적용합니다.</a:t>
            </a:r>
          </a:p>
          <a:p/>
          <a:p>
            <a:r>
              <a:t>특히 pairwise에서는 AB와 BA를 모두 봅니다.</a:t>
            </a:r>
          </a:p>
          <a:p>
            <a:r>
              <a:t>핵심은 한 번 winner를 맞히는 것이 아니라,</a:t>
            </a:r>
          </a:p>
          <a:p>
            <a:r>
              <a:t>순서를 바꿔도 같은 winner가 유지되는지를 확인하는 것입니다.</a:t>
            </a:r>
          </a:p>
          <a:p>
            <a:r>
              <a:t>이 점이 원 논문이 위치 편향을 단순 추측이 아니라 실험적으로 다룰 수 있게 만든 이유입니다.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원 논문을 가장 직접적으로 요약하는 슬라이드입니다.</a:t>
            </a:r>
          </a:p>
          <a:p>
            <a:r>
              <a:t>왼쪽은 judge-human agreement, 오른쪽은 model ranking입니다.</a:t>
            </a:r>
          </a:p>
          <a:p/>
          <a:p>
            <a:r>
              <a:t>저자들은 GPT-4 judge가 human expert와 높은 agreement를 보인다고 주장하고,</a:t>
            </a:r>
          </a:p>
          <a:p>
            <a:r>
              <a:t>동시에 MT-Bench score가 모델 품질 차이를 설득력 있게 드러낸다고 말합니다.</a:t>
            </a:r>
          </a:p>
          <a:p>
            <a:r>
              <a:t>이 두 메시지가 결합되면서 LLM-as-a-Judge라는 프레임이 매우 강해졌습니다.</a:t>
            </a:r>
          </a:p>
          <a:p/>
          <a:p>
            <a:r>
              <a:t>즉 이 논문은 단순히 새로운 benchmark를 만든 것이 아니라,</a:t>
            </a:r>
          </a:p>
          <a:p>
            <a:r>
              <a:t>strong judge를 기반으로 한 evaluation 체계의 가능성을 보여준 논문입니다.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많은 사람이 이 논문을 agreement 숫자로만 기억하지만,</a:t>
            </a:r>
          </a:p>
          <a:p>
            <a:r>
              <a:t>사실 더 중요한 부분은 bias analysis입니다.</a:t>
            </a:r>
          </a:p>
          <a:p>
            <a:r>
              <a:t>position bias, verbosity bias, self-enhancement bias를 별도로 본다는 것은,</a:t>
            </a:r>
          </a:p>
          <a:p>
            <a:r>
              <a:t>저자들이 judge를 완벽한 채점기가 아니라 편향을 가진 measurement system으로 취급했다는 뜻입니다.</a:t>
            </a:r>
          </a:p>
          <a:p/>
          <a:p>
            <a:r>
              <a:t>이 태도가 논문을 더 강하게 만듭니다.</a:t>
            </a:r>
          </a:p>
          <a:p>
            <a:r>
              <a:t>왜냐하면 strong result를 주장하면서도 동시에 그 경계를 함께 말하기 때문입니다.</a:t>
            </a:r>
          </a:p>
          <a:p>
            <a:r>
              <a:t>그래서 이 슬라이드는 단순한 caveat가 아니라,</a:t>
            </a:r>
          </a:p>
          <a:p>
            <a:r>
              <a:t>논문의 설득 방식 자체를 보여주는 슬라이드라고 보시면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내용 슬라이드에서는 이 논문을 균형 있게 닫겠습니다.</a:t>
            </a:r>
          </a:p>
          <a:p>
            <a:r>
              <a:t>이 논문은 강합니다. strong judge 메시지, benchmark와 Arena의 결합,</a:t>
            </a:r>
          </a:p>
          <a:p>
            <a:r>
              <a:t>bias analysis까지 모두 이후 연구의 기준점이 됐습니다.</a:t>
            </a:r>
          </a:p>
          <a:p/>
          <a:p>
            <a:r>
              <a:t>하지만 동시에 한계도 분명합니다.</a:t>
            </a:r>
          </a:p>
          <a:p>
            <a:r>
              <a:t>closed API 의존성, 비용, 재현성 문제,</a:t>
            </a:r>
          </a:p>
          <a:p>
            <a:r>
              <a:t>그리고 strong judge 결론이 다른 family나 더 작은 judge에도 유지되는지는 아직 열려 있습니다.</a:t>
            </a:r>
          </a:p>
          <a:p/>
          <a:p>
            <a:r>
              <a:t>그래서 이 논문은 완성형 답이라기보다,</a:t>
            </a:r>
          </a:p>
          <a:p>
            <a:r>
              <a:t>이후 LLM-as-a-Judge 연구가 어디를 더 검증해야 하는지 방향을 정해 준 기준점으로 읽는 것이 가장 공정합니다.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정리 슬라이드입니다.</a:t>
            </a:r>
          </a:p>
          <a:p>
            <a:r>
              <a:t>이 논문은 왜 중요했는지, 무엇을 보여줬는지, 무엇이 아직 남았는지를 네 카드로 요약했습니다.</a:t>
            </a:r>
          </a:p>
          <a:p/>
          <a:p>
            <a:r>
              <a:t>발표를 마치고 나면 이 네 가지만 기억하시면 됩니다.</a:t>
            </a:r>
          </a:p>
          <a:p>
            <a:r>
              <a:t>문제의식은 현실적이었고, 기술적 설계는 정교했으며,</a:t>
            </a:r>
          </a:p>
          <a:p>
            <a:r>
              <a:t>핵심 결과는 강했고, 동시에 남은 한계도 분명했습니다.</a:t>
            </a:r>
          </a:p>
          <a:p/>
          <a:p>
            <a:r>
              <a:t>그래서 이 논문은 단순 benchmark paper가 아니라,</a:t>
            </a:r>
          </a:p>
          <a:p>
            <a:r>
              <a:t>LLM-as-a-Judge 연구의 출발점을 만든 기준 논문으로 기억하는 것이 맞습니다.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앞 절반에서는 원 논문이 무엇을 주장했는지 정리했습니다.</a:t>
            </a:r>
          </a:p>
          <a:p>
            <a:r>
              <a:t>이제부터는 그 프로토콜을 제가 어떻게 가져와서 실험했는지 설명드리겠습니다.</a:t>
            </a:r>
          </a:p>
          <a:p/>
          <a:p>
            <a:r>
              <a:t>즉 MT-Bench 80문항과 single/pairwise/reference 구조는 유지하되,</a:t>
            </a:r>
          </a:p>
          <a:p>
            <a:r>
              <a:t>judge를 Qwen, InternLM, GPT-4o-mini로 바꾸고</a:t>
            </a:r>
          </a:p>
          <a:p>
            <a:r>
              <a:t>self-judge, scaling, hold-out까지 확장한 부분을 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제 실험이 원 논문과 어떤 관계에 있는지 명확히 하는 슬라이드입니다.</a:t>
            </a:r>
          </a:p>
          <a:p>
            <a:r>
              <a:t>왼쪽은 의도적으로 그대로 가져온 부분입니다.</a:t>
            </a:r>
          </a:p>
          <a:p>
            <a:r>
              <a:t>MT-Bench 질문, judge mode, swap consistency rule 같은 핵심 프로토콜은 유지했습니다.</a:t>
            </a:r>
          </a:p>
          <a:p/>
          <a:p>
            <a:r>
              <a:t>오른쪽은 제가 추가한 부분입니다.</a:t>
            </a:r>
          </a:p>
          <a:p>
            <a:r>
              <a:t>judge family를 넓히고, self-judge부터 hold-out까지 단계별로 검증했고,</a:t>
            </a:r>
          </a:p>
          <a:p>
            <a:r>
              <a:t>산출물도 raw judgment부터 figure까지 재현 가능하게 남겼습니다.</a:t>
            </a:r>
          </a:p>
          <a:p/>
          <a:p>
            <a:r>
              <a:t>즉 이 실험은 원 논문과 별개가 아니라,</a:t>
            </a:r>
          </a:p>
          <a:p>
            <a:r>
              <a:t>같은 protocol을 다른 judge 조건에서 더 넓게 시험한 작업이라고 이해하시면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제 실험이 실제로 어떻게 실행됐는지를 더 구체적으로 설명합니다.</a:t>
            </a:r>
          </a:p>
          <a:p>
            <a:r>
              <a:t>결과만 보는 것보다 어떤 모델을 어떤 judge로 어떤 규칙 아래 돌렸는지를 알아야 수치가 더 설득력 있게 보입니다.</a:t>
            </a:r>
          </a:p>
          <a:p/>
          <a:p>
            <a:r>
              <a:t>generation과 judging의 temperature를 분리했고,</a:t>
            </a:r>
          </a:p>
          <a:p>
            <a:r>
              <a:t>judge는 Qwen, InternLM, GPT-4o-mini로 나눴습니다.</a:t>
            </a:r>
          </a:p>
          <a:p>
            <a:r>
              <a:t>또 raw judgment에서 끝나지 않고 CSV와 figure까지 연결했습니다.</a:t>
            </a:r>
          </a:p>
          <a:p/>
          <a:p>
            <a:r>
              <a:t>그래서 발표에서 보이는 숫자는 저장소에서 다시 따라가며 검증할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실험 파트 전체를 묶는 문제 정의 슬라이드입니다.</a:t>
            </a:r>
          </a:p>
          <a:p>
            <a:r>
              <a:t>뒤쪽은 phase를 순서대로 듣기보다, 네 개의 연구 질문에 대한 답을 찾는 흐름으로 들으시면 더 자연스럽습니다.</a:t>
            </a:r>
          </a:p>
          <a:p/>
          <a:p>
            <a:r>
              <a:t>judge scaling, residual error, ensemble rule, question reduction이라는 네 질문이</a:t>
            </a:r>
          </a:p>
          <a:p>
            <a:r>
              <a:t>실험 파트 전체를 묶는 축이라고 생각하시면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청중이 뒤의 결과를 phase log처럼 듣지 않도록 넣은 진행 순서 슬라이드입니다.</a:t>
            </a:r>
          </a:p>
          <a:p>
            <a:r>
              <a:t>실험이 어떤 순서로 쌓였는지 보여주면 왜 각 phase가 필요한지가 더 잘 보입니다.</a:t>
            </a:r>
          </a:p>
          <a:p/>
          <a:p>
            <a:r>
              <a:t>핵심은 P3의 Qwen judge scaling이고,</a:t>
            </a:r>
          </a:p>
          <a:p>
            <a:r>
              <a:t>P4와 P5는 cross-family와 external anchor 역할을 합니다.</a:t>
            </a:r>
          </a:p>
          <a:p>
            <a:r>
              <a:t>마지막 P6가 있어야 question reduction 결과를 same-set upper bound와 hold-out evidence로 나눠 말할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실험 파트의 중심입니다.</a:t>
            </a:r>
          </a:p>
          <a:p>
            <a:r>
              <a:t>Qwen judge를 7B에서 14B, 32B로 키우면 pairwise inconsistency가 크게 줄고,</a:t>
            </a:r>
          </a:p>
          <a:p>
            <a:r>
              <a:t>single-grade의 score range도 넓어져 변별력이 커집니다.</a:t>
            </a:r>
          </a:p>
          <a:p/>
          <a:p>
            <a:r>
              <a:t>다만 표현은 조심해야 합니다.</a:t>
            </a:r>
          </a:p>
          <a:p>
            <a:r>
              <a:t>이건 universal scaling law가 아니라, Qwen 동일 family 안에서 관찰된 empirical trend입니다.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cross-family와 external judge를 보면 broad ranking은 꽤 유지됩니다.</a:t>
            </a:r>
          </a:p>
          <a:p>
            <a:r>
              <a:t>하지만 exact pairwise agreement는 낮고,</a:t>
            </a:r>
          </a:p>
          <a:p>
            <a:r>
              <a:t>특히 Qwen32에서는 남는 불일치가 first-position bias와 강하게 연결됩니다.</a:t>
            </a:r>
          </a:p>
          <a:p/>
          <a:p>
            <a:r>
              <a:t>즉 큰 흐름의 ranking validity와, 질문 단위의 decision cleanliness는 다른 문제라는 뜻입니다.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제가 실험 파트에서 꼭 분리해서 설명하고 싶은 부분입니다.</a:t>
            </a:r>
          </a:p>
          <a:p>
            <a:r>
              <a:t>inconsistent를 일반 표처럼 세면 noisy judge가 aggregate를 오염시킵니다.</a:t>
            </a:r>
          </a:p>
          <a:p>
            <a:r>
              <a:t>반대로 abstain은 그 불확실한 표를 기권으로 두고 decisive vote만 남깁니다.</a:t>
            </a:r>
          </a:p>
          <a:p/>
          <a:p>
            <a:r>
              <a:t>그래서 더 보수적인 것처럼 보이지만 실제로는 더 많은 쌍을 더 깨끗하게 복구합니다.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 reduction은 same-set 결과만 보면 40문항이 매우 강합니다.</a:t>
            </a:r>
          </a:p>
          <a:p>
            <a:r>
              <a:t>하지만 hold-out 반복 검증까지 보면 더 안전한 운영점은 60문항 쪽입니다.</a:t>
            </a:r>
          </a:p>
          <a:p/>
          <a:p>
            <a:r>
              <a:t>그래서 이 결과는 ‘40문항이면 끝’이라고 과장하기보다,</a:t>
            </a:r>
          </a:p>
          <a:p>
            <a:r>
              <a:t>same-set upper bound와 hold-out safe zone을 분리해서 말하는 것이 정직합니다.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실험 파트를 한 장으로 닫는 슬라이드입니다.</a:t>
            </a:r>
          </a:p>
          <a:p>
            <a:r>
              <a:t>judge scaling, residual error, ensemble rule, question reduction의 네 질문에 각각 어떤 답을 얻었는지를 요약했습니다.</a:t>
            </a:r>
          </a:p>
          <a:p/>
          <a:p>
            <a:r>
              <a:t>핵심은 단순히 원 논문이 맞다 틀리다가 아니라,</a:t>
            </a:r>
          </a:p>
          <a:p>
            <a:r>
              <a:t>원 논문의 strong-judge 메시지가 오픈소스 judge 환경에서도 부분적으로 유지되지만,</a:t>
            </a:r>
          </a:p>
          <a:p>
            <a:r>
              <a:t>더 보수적인 해석과 운영 규칙이 필요하다는 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이상으로 발표를 마치겠습니다.</a:t>
            </a:r>
          </a:p>
          <a:p>
            <a:r>
              <a:t>질문은 논문 설계 자체에 대한 것이든, 제 실험이 그 논문을 어떻게 다시 읽게 만드는지에 대한 것이든 모두 좋습니다.</a:t>
            </a:r>
          </a:p>
          <a:p/>
          <a:p>
            <a:r>
              <a:t>특히 closed judge 의존성, same-family scaling 해석,</a:t>
            </a:r>
          </a:p>
          <a:p>
            <a:r>
              <a:t>그리고 residual bias와 hold-out question reduction을 같이 토론하면 의미가 있을 것 같습니다.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F7F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272784" y="0"/>
            <a:ext cx="5916168" cy="6858000"/>
          </a:xfrm>
          <a:prstGeom prst="rect">
            <a:avLst/>
          </a:prstGeom>
          <a:solidFill>
            <a:srgbClr val="EF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146304" cy="4983480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10528" y="658368"/>
            <a:ext cx="128016" cy="4480560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5742432"/>
            <a:ext cx="11045952" cy="749808"/>
          </a:xfrm>
          <a:prstGeom prst="rect">
            <a:avLst/>
          </a:prstGeom>
          <a:solidFill>
            <a:srgbClr val="282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749808"/>
            <a:ext cx="5376672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700" b="1">
                <a:solidFill>
                  <a:srgbClr val="282C3A"/>
                </a:solidFill>
                <a:latin typeface="Apple SD Gothic Neo"/>
              </a:rPr>
              <a:t>Judging LLM-as-a-Judge
with MT-Bench
and Chatbot Arena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42032"/>
            <a:ext cx="484632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00" b="1">
                <a:solidFill>
                  <a:srgbClr val="A7614D"/>
                </a:solidFill>
                <a:latin typeface="Apple SD Gothic Neo"/>
              </a:rPr>
              <a:t>1부 논문 발표 / 2부 내 실험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80944"/>
            <a:ext cx="5074920" cy="1078992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앞 절반은 Zheng et al.의 MT-Bench / Chatbot Arena 논문을 읽고,
뒤 절반은 그 프로토콜을 내 오픈소스 judge 실험으로 어떻게 옮겼는지 설명합니다.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822960"/>
            <a:ext cx="4480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1">
                <a:solidFill>
                  <a:srgbClr val="3B586E"/>
                </a:solidFill>
                <a:latin typeface="Apple SD Gothic Neo"/>
              </a:rPr>
              <a:t>Base paper figures that anchor the talk</a:t>
            </a:r>
          </a:p>
        </p:txBody>
      </p:sp>
      <p:pic>
        <p:nvPicPr>
          <p:cNvPr id="11" name="Picture 10" descr="paper_chatbot_arena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2" y="1188720"/>
            <a:ext cx="4800600" cy="3759449"/>
          </a:xfrm>
          <a:prstGeom prst="rect">
            <a:avLst/>
          </a:prstGeom>
        </p:spPr>
      </p:pic>
      <p:pic>
        <p:nvPicPr>
          <p:cNvPr id="12" name="Picture 11" descr="paper_table8_sc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3858768"/>
            <a:ext cx="4160520" cy="16535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84848" y="3657600"/>
            <a:ext cx="4736592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900" b="0">
                <a:solidFill>
                  <a:srgbClr val="70767D"/>
                </a:solidFill>
                <a:latin typeface="Apple SD Gothic Neo"/>
              </a:rPr>
              <a:t>Original paper Figure 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5486400"/>
            <a:ext cx="4041648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900" b="0">
                <a:solidFill>
                  <a:srgbClr val="70767D"/>
                </a:solidFill>
                <a:latin typeface="Apple SD Gothic Neo"/>
              </a:rPr>
              <a:t>Original paper Table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5907024"/>
            <a:ext cx="104241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 SD Gothic Neo"/>
              </a:rPr>
              <a:t>핵심 질문: 원 논문의 strong-judge 메시지가 내 오픈소스 judge 실험에서는 어디까지 유지되는가?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6236208"/>
            <a:ext cx="585216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000" b="0">
                <a:solidFill>
                  <a:srgbClr val="E8EEEB"/>
                </a:solidFill>
                <a:latin typeface="Apple SD Gothic Neo"/>
              </a:rPr>
              <a:t>박승현 | CLINK Lab | paper study + experiments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200" b="1">
                <a:solidFill>
                  <a:srgbClr val="282C3A"/>
                </a:solidFill>
                <a:latin typeface="Apple SD Gothic Neo"/>
              </a:rPr>
              <a:t>오늘 발표는 1부 논문 발표, 2부 내 실험입니다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FE9E1"/>
          </a:solidFill>
          <a:ln>
            <a:solidFill>
              <a:srgbClr val="EFE9E1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2/23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MT-Bench paper study | base paper + reproduction repo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FE9E1"/>
          </a:solidFill>
          <a:ln>
            <a:solidFill>
              <a:srgbClr val="EFE9E1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앞의 paper study와 뒤의 experiment block을 한 번에 보여준다.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EFE9E1"/>
          </a:solidFill>
          <a:ln>
            <a:solidFill>
              <a:srgbClr val="EFE9E1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핵심 질문: 원 논문의 strong-judge 메시지가 오픈소스 judge 실험에서는 어디까지 유지되는가?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3584448" cy="202996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2157984"/>
            <a:ext cx="34381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B5654E"/>
                </a:solidFill>
                <a:latin typeface="Apple SD Gothic Neo"/>
              </a:rPr>
              <a:t>1부. 논문 발표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523744"/>
            <a:ext cx="3438144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0">
                <a:solidFill>
                  <a:srgbClr val="363A48"/>
                </a:solidFill>
                <a:latin typeface="Apple SD Gothic Neo"/>
              </a:rPr>
              <a:t>MT-Bench와 Chatbot Arena의 문제의식, judge 프로토콜, 핵심 결과와 한계를 먼저 정리합니다.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8536" y="2048256"/>
            <a:ext cx="3584448" cy="202996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8" y="2157984"/>
            <a:ext cx="34381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B5654E"/>
                </a:solidFill>
                <a:latin typeface="Apple SD Gothic Neo"/>
              </a:rPr>
              <a:t>2부. 내 실험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2523744"/>
            <a:ext cx="3438144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0">
                <a:solidFill>
                  <a:srgbClr val="363A48"/>
                </a:solidFill>
                <a:latin typeface="Apple SD Gothic Neo"/>
              </a:rPr>
              <a:t>같은 프로토콜을 Qwen · InternLM · GPT-4o-mini judge 조합으로 어떻게 옮겼는지 설명합니다.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74152" y="2048256"/>
            <a:ext cx="3584448" cy="202996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2157984"/>
            <a:ext cx="34381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B5654E"/>
                </a:solidFill>
                <a:latin typeface="Apple SD Gothic Neo"/>
              </a:rPr>
              <a:t>최종 메시지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7304" y="2523744"/>
            <a:ext cx="3438144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0">
                <a:solidFill>
                  <a:srgbClr val="363A48"/>
                </a:solidFill>
                <a:latin typeface="Apple SD Gothic Neo"/>
              </a:rPr>
              <a:t>논문은 strong judge의 기준점을 주고, 내 실험은 그 결론을 오픈소스 judge 환경에서 어디까지 믿을 수 있는지 보여줍니다.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11556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987552"/>
            <a:ext cx="128016" cy="2880360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49640" y="1051560"/>
            <a:ext cx="2651760" cy="1417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7400" b="1">
                <a:solidFill>
                  <a:srgbClr val="DAD4CA"/>
                </a:solidFill>
                <a:latin typeface="Apple SD Gothic Neo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1005840"/>
            <a:ext cx="62179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554480"/>
            <a:ext cx="694944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800" b="1">
                <a:solidFill>
                  <a:srgbClr val="282C3A"/>
                </a:solidFill>
                <a:latin typeface="Apple SD Gothic Neo"/>
              </a:rPr>
              <a:t>논문 발표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761488"/>
            <a:ext cx="6812280" cy="96012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800" b="0">
                <a:solidFill>
                  <a:srgbClr val="282C3A"/>
                </a:solidFill>
                <a:latin typeface="Apple SD Gothic Neo"/>
              </a:rPr>
              <a:t>지금부터는 MT-Bench / Chatbot Arena 논문 자체의 문제의식과 설계를 순서대로 읽겠습니다.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438912"/>
            <a:ext cx="658368" cy="14630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3/23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1. 왜 MT-Bench가 필요했는가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4/23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원 논문이 겨냥한 평가 문제를 먼저 선명하게 만든다.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1" name="Picture 10" descr="paper_chatbot_arena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1407" y="1371600"/>
            <a:ext cx="3432850" cy="2688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08776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3" name="Picture 12" descr="paper_mtbench_winrate_fig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2147" y="1371600"/>
            <a:ext cx="4963081" cy="268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Original paper Figure 19: Chatbot Arena 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8776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Original paper Figure 3: MT-Bench score와 Arena 승률 관계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35424"/>
            <a:ext cx="11155680" cy="135331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기존 객관식/단답형 벤치마크는 open-ended, multi-turn 대화 품질을 충분히 반영하지 못한다.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사람 preference 평가만으로는 비용과 시간이 너무 커서 빠른 모델 개발 루프에 맞지 않는다.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그래서 원 논문은 ‘사람 선호를 근사하는 실용적 자동 judge’를 핵심 문제로 세운다.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596128"/>
            <a:ext cx="11155680" cy="54864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이 논문의 중심은 benchmark 하나를 새로 만드는 것이 아니라, 사람 평가를 실용적으로 대체할 judge 체계를 세우는 데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100" b="1">
                <a:solidFill>
                  <a:srgbClr val="282C3A"/>
                </a:solidFill>
                <a:latin typeface="Apple SD Gothic Neo"/>
              </a:rPr>
              <a:t>2. MT-Bench와 Chatbot Arena는 어떻게 역할을 나눴는가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5/23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두 자산의 역할 분담을 명확히 이해하게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699516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28016" rIns="128016" tIns="128016" bIns="128016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MT-Bench는 8개 카테고리, 80문항의 multi-turn benchmark로 controlled comparison을 담당한다.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Chatbot Arena는 실제 사용자 pairwise preference를 모아 ecological validity를 제공한다.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즉 MT-Bench는 재현 가능성, Arena는 현실 적합성을 제공하는 쌍으로 설계되었다.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298448"/>
            <a:ext cx="3931920" cy="29260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핵심 해석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45920"/>
            <a:ext cx="3931920" cy="417880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128016" rIns="128016" tIns="128016" bIns="128016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1847088"/>
            <a:ext cx="3566160" cy="117043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논문의 힘은 MT-Bench 하나가 아니라, benchmark와 crowd preference를 함께 설계했다는 데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5" y="3419856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0143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MT-Bench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5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80문항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5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838943" y="3419856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7231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Category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3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8개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7991855" y="4334256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0143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Arena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5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익명 pairwise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838943" y="4334256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7231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Goal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3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human preference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3. 원 논문은 judge를 어떻게 썼는가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6/23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single, pairwise, reference-guided judge mode를 구조적으로 소개한다.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이 논문의 핵심은 GPT-4를 막연히 채점기로 쓴 것이 아니라, judge mode를 문제 유형에 맞게 나눴다는 점입니다.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3584448" cy="202996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2157984"/>
            <a:ext cx="34381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Single-answer grading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523744"/>
            <a:ext cx="3438144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0">
                <a:solidFill>
                  <a:srgbClr val="363A48"/>
                </a:solidFill>
                <a:latin typeface="Apple SD Gothic Neo"/>
              </a:rPr>
              <a:t>답변 하나를 절대 점수로 채점해 모델 서열과 카테고리별 분포를 보기 좋습니다.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8536" y="2048256"/>
            <a:ext cx="3584448" cy="202996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8" y="2157984"/>
            <a:ext cx="34381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Pairwise comparison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2523744"/>
            <a:ext cx="3438144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0">
                <a:solidFill>
                  <a:srgbClr val="363A48"/>
                </a:solidFill>
                <a:latin typeface="Apple SD Gothic Neo"/>
              </a:rPr>
              <a:t>두 응답 중 winner를 직접 고르게 해 실제 사용자 pairwise preference와 닮은 평가를 만듭니다.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74152" y="2048256"/>
            <a:ext cx="3584448" cy="202996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2157984"/>
            <a:ext cx="34381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Reference-guided grading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7304" y="2523744"/>
            <a:ext cx="3438144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0">
                <a:solidFill>
                  <a:srgbClr val="363A48"/>
                </a:solidFill>
                <a:latin typeface="Apple SD Gothic Neo"/>
              </a:rPr>
              <a:t>수학·코딩처럼 정답 기준이 중요한 영역에서는 reference answer를 함께 제공합니다.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407408"/>
            <a:ext cx="11155680" cy="129844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논문은 single, pairwise, reference-guided judge를 함께 사용하면서 bias 분석까지 병행한다.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100" b="1">
                <a:solidFill>
                  <a:srgbClr val="282C3A"/>
                </a:solidFill>
                <a:latin typeface="Apple SD Gothic Neo"/>
              </a:rPr>
              <a:t>4. MT-Bench judge prompt는 어떤 형식으로 주어지는가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7/23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judge prompt의 입력/출력 contract를 이해하게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493776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700" b="1">
                <a:solidFill>
                  <a:srgbClr val="282C3A"/>
                </a:solidFill>
                <a:latin typeface="Apple SD Gothic Neo"/>
              </a:rPr>
              <a:t>원 논문의 judge는 자유 응답형 채점기가 아니라, 입력과 출력 형식을 강하게 통제한 평가 프로토콜입니다.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75104"/>
            <a:ext cx="5449824" cy="437083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84832"/>
            <a:ext cx="52669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입력 prompt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450592"/>
            <a:ext cx="5266944" cy="3566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single: question + answer + rubric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pairwise: question + answer A/B + 비교 지시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turn2: q1-a1-q2-a2를 포함한 multi-turn context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math/coding: reference answer가 추가된 prompt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8776" y="1975104"/>
            <a:ext cx="5449824" cy="437083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2084832"/>
            <a:ext cx="52669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출력 형식과 의미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450592"/>
            <a:ext cx="5266944" cy="3566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single: [[rating]] 형태의 점수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pairwise: [[A]], [[B]], [[C]]로 winner/tie 표시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prompt는 평가 내용뿐 아니라 output format까지 강하게 제약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즉 prompt engineering보다 output contract가 중요하다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200" b="1">
                <a:solidFill>
                  <a:srgbClr val="282C3A"/>
                </a:solidFill>
                <a:latin typeface="Apple SD Gothic Neo"/>
              </a:rPr>
              <a:t>5. judge 점수평가는 실제로 어떻게 흘러가는가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8/23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answer generation부터 parse와 aggregation까지 흐름을 한 번에 보여준다.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논문의 재현성 핵심은 prompt 문구보다도 parse와 aggregation rule을 명확히 정의한 데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57984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Step 1. 답변 생성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450592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각 모델이 80문항 2-turn 답변을 생성합니다.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8776" y="2048256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2157984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Step 2. judge 호출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450592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single과 pairwise prompt를 사용해 모델 응답을 채점합니다.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675888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85616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Step 3. 파싱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078224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점수나 winner를 파싱 가능한 토큰으로 추출합니다.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8776" y="3675888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3785616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Step 4. 집계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4078224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turn 평균, swap consistency 등 규칙을 적용해 최종 score와 winner를 정합니다.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285232"/>
            <a:ext cx="11155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generation과 judging의 temperature를 분리해 답변 다양성과 평가 결정성을 अलग 계층으로 관리한다.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single은 turn1 독립 prompt와 turn2 multi-turn prompt를 구분한다.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pairwise는 AB/BA swap 뒤에도 유지되는 winner만 채택해 순서 민감성을 직접 점검한다.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6. 원 논문의 두 핵심 주장은 무엇이었나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9/23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논문의 가장 중요한 두 메시지를 또렷하게 세운다.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1" name="Picture 10" descr="paper_mtbench_agreement_tabl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555388"/>
            <a:ext cx="5230367" cy="23207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08776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3" name="Picture 12" descr="paper_table8_sc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676400"/>
            <a:ext cx="5230368" cy="20787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Original paper Table 5: judge-human agreement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8776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Original paper Table 8: MT-Bench model scores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35424"/>
            <a:ext cx="11155680" cy="135331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핵심 주장 1: GPT-4 judge는 MT-Bench에서 human expert와 non-tie agreement 85%, human-human 81% 수준으로 맞는다.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핵심 주장 2: MT-Bench 점수는 GPT-4 8.99, GPT-3.5 7.94, Vicuna-13B 6.39, LLaMA-13B 2.61처럼 모델 품질 차이를 설득력 있게 서열화한다.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즉 이 논문은 judge-human agreement와 model ranking validity를 동시에 주장한다.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596128"/>
            <a:ext cx="11155680" cy="54864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이 논문의 영향력은 결국 ‘judge가 인간과 꽤 맞는다’와 ‘score가 모델 품질을 반영한다’는 두 메시지에서 나옵니다.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7. 원 논문은 bias를 무시하지 않았다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10/23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원 논문이 judge를 편향이 있는 measurement system으로 다뤘음을 보여준다.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493776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700" b="1">
                <a:solidFill>
                  <a:srgbClr val="282C3A"/>
                </a:solidFill>
                <a:latin typeface="Apple SD Gothic Neo"/>
              </a:rPr>
              <a:t>원 논문의 진짜 장점은 strong judge를 자랑한 데만 있지 않고, judge를 편향이 있는 시스템으로 분석했다는 데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75104"/>
            <a:ext cx="5449824" cy="437083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84832"/>
            <a:ext cx="52669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논문이 직접 본 편향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450592"/>
            <a:ext cx="5266944" cy="3566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position bias: 응답 순서가 바뀌면 winner가 달라질 수 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verbosity bias: 더 긴 답변이 유리할 수 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self-enhancement bias: judge가 자기 계열 모델에 유리할 수 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8776" y="1975104"/>
            <a:ext cx="5449824" cy="437083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2084832"/>
            <a:ext cx="52669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왜 중요한가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450592"/>
            <a:ext cx="5266944" cy="3566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agreement 숫자가 높아도 남는 오류 구조를 따로 봐야 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judge는 완벽한 oracle이 아니라 편향이 있는 measurement system이다.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이 논문이 이후 연구의 baseline이 된 이유도 바로 이 분석적 태도에 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8. 이 논문이 남긴 열린 질문은 무엇이었나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11/23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논문의 의의와 동시에 남는 한계를 균형 있게 정리한다.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699516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28016" rIns="128016" tIns="128016" bIns="128016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GPT-4 judge는 강력하지만 closed API라 비용, 버전 drift, 재현성 문제가 남는다.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MT-Bench와 Arena의 연결은 강하지만, strong judge 결론을 다른 judge family에 그대로 옮길 수는 없다.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따라서 이 논문은 끝이라기보다, 이후 LLM-as-a-Judge 연구가 어디를 더 검증해야 하는지 기준점을 남긴 paper로 읽는 것이 맞다.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298448"/>
            <a:ext cx="3931920" cy="29260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핵심 해석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45920"/>
            <a:ext cx="3931920" cy="417880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128016" rIns="128016" tIns="128016" bIns="128016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1847088"/>
            <a:ext cx="3566160" cy="117043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좋은 paper study의 결론은 ‘대단하다’가 아니라, 이 논문이 무엇을 해결했고 무엇을 남겼는지 균형 있게 정리하는 것입니다.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5" y="3419856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0143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의의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5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strong judge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5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838943" y="3419856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7231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의의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3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benchmark + arena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7991855" y="4334256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0143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한계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5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closed API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838943" y="4334256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7231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한계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3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generalization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정리: 이 논문을 어떻게 기억하면 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12/23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논문 전체 메시지를 한 장에서 정리해 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즉 이 논문은 LLM-as-a-Judge가 가능하다는 첫 강한 기준점을 남긴 논문으로 기억하는 것이 가장 적절합니다.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57984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문제의식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450592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open-ended multi-turn 대화를 사람 평가만으로는 감당하기 어렵다는 현실적 문제를 정확히 짚었습니다.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8776" y="2048256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2157984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기술적 기여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450592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MT-Bench와 Chatbot Arena를 묶고, single / pairwise / reference judge 프로토콜을 정교하게 설계했습니다.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675888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85616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핵심 결과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078224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GPT-4 judge-human agreement와 model ranking validity를 함께 설득했습니다.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8776" y="3675888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3785616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남은 과제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4078224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closed judge 의존성과 generalization 문제는 이후 연구가 이어서 풀어야 할 부분입니다.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11556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987552"/>
            <a:ext cx="128016" cy="2880360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49640" y="1051560"/>
            <a:ext cx="2651760" cy="1417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7400" b="1">
                <a:solidFill>
                  <a:srgbClr val="DAD4CA"/>
                </a:solidFill>
                <a:latin typeface="Apple SD Gothic Neo"/>
              </a:rPr>
              <a:t>2부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1005840"/>
            <a:ext cx="62179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내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554480"/>
            <a:ext cx="694944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800" b="1">
                <a:solidFill>
                  <a:srgbClr val="282C3A"/>
                </a:solidFill>
                <a:latin typeface="Apple SD Gothic Neo"/>
              </a:rPr>
              <a:t>2부. 내 실험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761488"/>
            <a:ext cx="6812280" cy="96012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800" b="0">
                <a:solidFill>
                  <a:srgbClr val="282C3A"/>
                </a:solidFill>
                <a:latin typeface="Apple SD Gothic Neo"/>
              </a:rPr>
              <a:t>여기부터는 원 논문을 요약하는 것이 아니라, 그 judge 프로토콜을 오픈소스 judge 환경으로 옮긴 내 실험을 설명합니다.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438912"/>
            <a:ext cx="658368" cy="14630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13/23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200" b="1">
                <a:solidFill>
                  <a:srgbClr val="282C3A"/>
                </a:solidFill>
                <a:latin typeface="Apple SD Gothic Neo"/>
              </a:rPr>
              <a:t>2-1. 원 논문 프로토콜을 내 실험으로 어떻게 옮겼는가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14/23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실험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원 논문에서 그대로 가져온 것과 추가한 검증 축을 분리해 보여준다.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493776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700" b="1">
                <a:solidFill>
                  <a:srgbClr val="282C3A"/>
                </a:solidFill>
                <a:latin typeface="Apple SD Gothic Neo"/>
              </a:rPr>
              <a:t>즉 핵심 judge protocol은 유지하되, 검증 축과 실험 범위를 오픈소스 환경으로 넓힌 것이 내 실험입니다.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75104"/>
            <a:ext cx="5449824" cy="437083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84832"/>
            <a:ext cx="52669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그대로 가져온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450592"/>
            <a:ext cx="5266944" cy="3566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MT-Bench 80문항, 8개 카테고리, 2-turn 구조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single / pairwise / reference-guided judge mode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AB/BA swap 뒤 일치 winner만 채택하는 pairwise rule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math·coding에 reference-guided 채점 적용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8776" y="1975104"/>
            <a:ext cx="5449824" cy="437083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2084832"/>
            <a:ext cx="52669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내가 추가한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450592"/>
            <a:ext cx="5266944" cy="3566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judge를 GPT-4 단일 축이 아니라 Qwen / InternLM / GPT-4o-mini로 확장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Phase 1–6로 self-judge, scaling, ensemble, hold-out 검증 추가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raw judgment JSONL, aggregate CSV, figure를 모두 저장소에 남김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same-set tinyMT뿐 아니라 repeated hold-out으로 운영점 검증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200" b="1">
                <a:solidFill>
                  <a:srgbClr val="282C3A"/>
                </a:solidFill>
                <a:latin typeface="Apple SD Gothic Neo"/>
              </a:rPr>
              <a:t>2-2. 내 실험 세팅과 산출물은 어떻게 구성했는가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15/23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실험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모델, judge, temperature, 산출물 구조를 한 장에서 설명한다.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뒤의 결과는 단순 숫자가 아니라 generation → judge → aggregate → figure 파이프라인 전체에서 나온 값들입니다.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57984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평가 대상 모델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450592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seen 7개 모델과 hold-out용 unseen 확장 모델들을 사용했습니다.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8776" y="2048256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2157984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judge 패밀리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450592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Qwen 7B/14B/32B, InternLM 7B/20B, GPT-4o-mini를 judge로 사용했습니다.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675888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85616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실행 규칙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078224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single은 점수, pairwise는 A/B/tie/error, reference는 math·coding 중심으로 따로 실행했습니다.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8776" y="3675888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3785616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산출물 구조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4078224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data에는 raw JSONL과 CSV, figures에는 시각화, paper에는 최종 해석을 남겼습니다.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285232"/>
            <a:ext cx="11155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generation은 temperature 0.7, judge는 temperature 0.0으로 분리해 답변 다양성과 평가 결정성을 따로 관리했다.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산출물은 answer JSONL, single/pairwise/reference judgment JSONL, aggregate CSV, figure까지 단계별로 저장했다.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즉 발표 수치는 raw judgment → aggregate → figure 경로를 따라 다시 검증할 수 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2-3. 내가 실제로 검증한 네 연구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16/23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실험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뒤 절반을 네 개의 연구 질문 구조로 듣게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이 뒤 절반은 phase 로그보다, 네 개의 연구 질문에 대한 답을 찾는 발표로 보는 것이 좋습니다.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57984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RQ1. judge scaling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450592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Qwen judge를 7B → 14B → 32B로 키우면 pairwise reliability가 실제로 단조 개선되는가?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8776" y="2048256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2157984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RQ2. residual error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450592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judge가 좋아진 뒤에도 남는 오류는 단순 noise인가, 아니면 순서 민감성과 format failure처럼 구조화되는가?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675888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85616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RQ3. ensemble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078224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작은 judge 여러 개를 합칠 때, 다수결보다 더 나은 decision rule이 실제로 존재하는가?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8776" y="3675888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3785616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RQ4. question reduction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4078224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변별도 기반 subset으로 비용을 줄이면서도 모델 서열을 보존할 수 있는가?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285232"/>
            <a:ext cx="11155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즉 뒤 절반은 phase log가 아니라 RQ1부터 RQ4까지 답을 찾아가는 흐름으로 듣는 것이 가장 자연스럽다.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2-4. 실험은 어떤 순서로 진행했는가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17/23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실험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Phase 1부터 Phase 6까지의 실험 순서를 한 장에서 보여준다.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1920240"/>
            <a:ext cx="10149840" cy="54864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1572768"/>
            <a:ext cx="658368" cy="658368"/>
          </a:xfrm>
          <a:prstGeom prst="ellipse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746504"/>
            <a:ext cx="658368" cy="137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 SD Gothic Neo"/>
              </a:rPr>
              <a:t>P1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67712"/>
            <a:ext cx="9875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200" b="1">
                <a:solidFill>
                  <a:srgbClr val="282C3A"/>
                </a:solidFill>
                <a:latin typeface="Apple SD Gothic Neo"/>
              </a:rPr>
              <a:t>Self-judge</a:t>
            </a:r>
          </a:p>
        </p:txBody>
      </p:sp>
      <p:sp>
        <p:nvSpPr>
          <p:cNvPr id="14" name="Oval 13"/>
          <p:cNvSpPr/>
          <p:nvPr/>
        </p:nvSpPr>
        <p:spPr>
          <a:xfrm>
            <a:off x="2697480" y="1572768"/>
            <a:ext cx="658368" cy="658368"/>
          </a:xfrm>
          <a:prstGeom prst="ellipse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1746504"/>
            <a:ext cx="658368" cy="137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 SD Gothic Neo"/>
              </a:rPr>
              <a:t>P2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32888" y="2267712"/>
            <a:ext cx="9875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200" b="1">
                <a:solidFill>
                  <a:srgbClr val="282C3A"/>
                </a:solidFill>
                <a:latin typeface="Apple SD Gothic Neo"/>
              </a:rPr>
              <a:t>Sanity</a:t>
            </a:r>
          </a:p>
        </p:txBody>
      </p:sp>
      <p:sp>
        <p:nvSpPr>
          <p:cNvPr id="17" name="Oval 16"/>
          <p:cNvSpPr/>
          <p:nvPr/>
        </p:nvSpPr>
        <p:spPr>
          <a:xfrm>
            <a:off x="4480560" y="1572768"/>
            <a:ext cx="658368" cy="658368"/>
          </a:xfrm>
          <a:prstGeom prst="ellipse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1746504"/>
            <a:ext cx="658368" cy="137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 SD Gothic Neo"/>
              </a:rPr>
              <a:t>P3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2267712"/>
            <a:ext cx="9875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200" b="1">
                <a:solidFill>
                  <a:srgbClr val="282C3A"/>
                </a:solidFill>
                <a:latin typeface="Apple SD Gothic Neo"/>
              </a:rPr>
              <a:t>Scaling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1572768"/>
            <a:ext cx="658368" cy="658368"/>
          </a:xfrm>
          <a:prstGeom prst="ellipse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1746504"/>
            <a:ext cx="658368" cy="137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 SD Gothic Neo"/>
              </a:rPr>
              <a:t>P4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9048" y="2267712"/>
            <a:ext cx="9875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200" b="1">
                <a:solidFill>
                  <a:srgbClr val="282C3A"/>
                </a:solidFill>
                <a:latin typeface="Apple SD Gothic Neo"/>
              </a:rPr>
              <a:t>InternLM</a:t>
            </a:r>
          </a:p>
        </p:txBody>
      </p:sp>
      <p:sp>
        <p:nvSpPr>
          <p:cNvPr id="23" name="Oval 22"/>
          <p:cNvSpPr/>
          <p:nvPr/>
        </p:nvSpPr>
        <p:spPr>
          <a:xfrm>
            <a:off x="8046720" y="1572768"/>
            <a:ext cx="658368" cy="658368"/>
          </a:xfrm>
          <a:prstGeom prst="ellipse">
            <a:avLst/>
          </a:prstGeom>
          <a:solidFill>
            <a:srgbClr val="282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1746504"/>
            <a:ext cx="658368" cy="137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 SD Gothic Neo"/>
              </a:rPr>
              <a:t>P5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82128" y="2267712"/>
            <a:ext cx="9875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200" b="1">
                <a:solidFill>
                  <a:srgbClr val="282C3A"/>
                </a:solidFill>
                <a:latin typeface="Apple SD Gothic Neo"/>
              </a:rPr>
              <a:t>GPT-4o-mini</a:t>
            </a:r>
          </a:p>
        </p:txBody>
      </p:sp>
      <p:sp>
        <p:nvSpPr>
          <p:cNvPr id="26" name="Oval 25"/>
          <p:cNvSpPr/>
          <p:nvPr/>
        </p:nvSpPr>
        <p:spPr>
          <a:xfrm>
            <a:off x="9829800" y="1572768"/>
            <a:ext cx="658368" cy="658368"/>
          </a:xfrm>
          <a:prstGeom prst="ellipse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9800" y="1746504"/>
            <a:ext cx="658368" cy="137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 SD Gothic Neo"/>
              </a:rPr>
              <a:t>P6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65208" y="2267712"/>
            <a:ext cx="9875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200" b="1">
                <a:solidFill>
                  <a:srgbClr val="282C3A"/>
                </a:solidFill>
                <a:latin typeface="Apple SD Gothic Neo"/>
              </a:rPr>
              <a:t>Hold-out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2907792"/>
            <a:ext cx="11155680" cy="28163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P1 self-judge 기준선으로 자기평가 편향을 확인하고, P2에서 외부 14B judge로 초기 sanity check를 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P3는 Qwen 7B/14B/32B를 이용한 메인 judge scaling 실험이고, 여기서 RQ1과 RQ2의 핵심 수치가 나온다.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P3의 출력 위에서 RQ3로 ensemble decision rule을 비교하고, P4·P5는 Qwen 결과가 family가 바뀌어도 크게 무너지지 않는지 점검한다.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P6는 11개 모델 풀의 repeated hold-out으로 RQ4, 즉 tinyMT-Bench subset의 운영 가능성을 same-set upper bound와 분리해 다시 본 단계다.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833872"/>
            <a:ext cx="11155680" cy="38404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500" b="1">
                <a:solidFill>
                  <a:srgbClr val="282C3A"/>
                </a:solidFill>
                <a:latin typeface="Apple SD Gothic Neo"/>
              </a:rPr>
              <a:t>즉 오늘 결과는 self-judge 확인 → main scaling → ensemble / cross-family 보강 → repeated hold-out 검증의 순서로 쌓아 올린 것입니다.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200" b="1">
                <a:solidFill>
                  <a:srgbClr val="282C3A"/>
                </a:solidFill>
                <a:latin typeface="Apple SD Gothic Neo"/>
              </a:rPr>
              <a:t>RQ1. Qwen judge scaling이 메인 결과다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18/23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실험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judge scaling이 reliability에 주는 효과를 가장 강하게 보여준다.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1" name="Picture 10" descr="fig4_judge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589633"/>
            <a:ext cx="5230368" cy="225226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08776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3" name="Picture 12" descr="fig5_phase3_sc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530247"/>
            <a:ext cx="5230368" cy="237104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Judge scaling과 카테고리별 inconsistency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8776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Phase 3 single-grade 점수 분포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35424"/>
            <a:ext cx="11155680" cy="135331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Pairwise inconsistency는 7B 78.75% → 14B 46.85% → 32B 32.86%로 단조 감소한다.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Single-grade score range도 0.84 → 1.12 → 1.48로 확대되어 모델 간 변별력이 커진다.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따라서 메인 결론은 ‘Qwen 기반 judge scaling의 same-family empirical trend’로 읽는 것이 맞다.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676656" y="5687568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7B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78.75%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9776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2889504" y="5687568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07792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14B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9504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46.85%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92624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5102352" y="5687568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0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32B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02352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32.86%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5472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5687568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33488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핵심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same-family trend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200" b="1">
                <a:solidFill>
                  <a:srgbClr val="282C3A"/>
                </a:solidFill>
                <a:latin typeface="Apple SD Gothic Neo"/>
              </a:rPr>
              <a:t>RQ2. judge가 좋아진 뒤에도 남는 오류는 무엇인가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19/23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실험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남는 오류가 단순 노이즈가 아니라 구조화된다는 점을 보여준다.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1" name="Picture 10" descr="fig11_position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771367"/>
            <a:ext cx="5230368" cy="188880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08776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3" name="Picture 12" descr="fig16_phase345_judge_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5306" y="1371600"/>
            <a:ext cx="3776764" cy="268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Order-sensitive residual errors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8776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Cross-family and external judge summary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35424"/>
            <a:ext cx="11155680" cy="135331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Qwen32, InternLM20B, GPT-4o-mini는 broad ranking은 대체로 맞지만, exact pairwise winner agreement는 0.50~0.58 수준에 머문다.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특히 Qwen32의 남은 불일치 중 94.93%가 first-position win으로 연결되어, 잔여 오류가 순서 민감한 사례에 집중된다는 점이 드러난다.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즉 ranking validity와 question-level decision cleanliness는 분리해서 읽어야 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596128"/>
            <a:ext cx="11155680" cy="54864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RQ2의 답은, judge가 좋아져도 남는 오류는 단순 noise가 아니라 순서 민감성과 운영 리스크의 형태로 남는다는 것입니다.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200" b="1">
                <a:solidFill>
                  <a:srgbClr val="282C3A"/>
                </a:solidFill>
                <a:latin typeface="Apple SD Gothic Neo"/>
              </a:rPr>
              <a:t>RQ3. 왜 majority보다 abstain이 더 낫나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20/23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실험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기권 설계를 decision rule 차원에서 설명한다.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699516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28016" rIns="128016" tIns="128016" bIns="128016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각 judge는 pairwise 한 쌍에 대해 {A, B, tie, inconsistent} 중 하나를 남긴다. inconsistent는 AB/BA swap이 충돌한 low-confidence case다.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다수결은 inconsistent도 하나의 표처럼 세기 때문에 [inconsistent, inconsistent, A] 같은 경우 winner를 잃는다.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abstain은 inconsistent를 기권으로 버리고, 남은 decisive vote가 충돌하지 않을 때만 winner를 선언한다.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실제로 604쌍이 inconsistent→winner로 복구되고, inconsistency는 58.63%→24.70%, decisive rate는 41.37%→75.30%로 개선된다.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298448"/>
            <a:ext cx="3931920" cy="29260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핵심 해석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45920"/>
            <a:ext cx="3931920" cy="417880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128016" rIns="128016" tIns="128016" bIns="128016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1847088"/>
            <a:ext cx="3566160" cy="117043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RQ3의 답은 예입니다. 작은 judge를 다수결로 묶기보다, low-confidence vote를 기권으로 다루는 것이 훨씬 낫습니다.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5" y="3419856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0143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Majority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5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58.63%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5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838943" y="3419856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7231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Abstain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3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24.70%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7991855" y="4334256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0143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Recovered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5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604쌍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838943" y="4334256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7231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Decisive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3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75.30%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RQ4. 문항을 줄여도 서열이 남는가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21/23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실험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same-set 결과와 hold-out 결과를 분리해서 question reduction을 설명한다.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1" name="Picture 10" descr="fig9_tiny_mt_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784242"/>
            <a:ext cx="5230368" cy="186305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08776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3" name="Picture 12" descr="fig15_tiny_mt_bench_generaliz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696161"/>
            <a:ext cx="5230368" cy="203921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same-set tinyMT-Bench upper bound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8776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330-split repeated hold-out generalization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35424"/>
            <a:ext cx="11155680" cy="135331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TopDisc-40은 동일 7개 모델 집합에서 ρ=1.000, TopDisc-25는 ρ=0.964를 달성해 same-set upper bound로는 매우 강하다.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Repeated hold-out 330 split에서는 40문항도 강하지만, 세 judge 모두에서 가장 안전한 운영점은 60문항이다.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따라서 40문항은 공격적인 same-set 결과, 60문항은 더 안전한 hold-out 운영점으로 읽는 것이 맞다.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676656" y="5687568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TopDisc-40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ρ=1.000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9776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2889504" y="5687568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07792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TopDisc-25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9504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ρ=0.964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92624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5102352" y="5687568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0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hold-out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02352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330 split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5472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5687568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33488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safe zone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60문항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200" b="1">
                <a:solidFill>
                  <a:srgbClr val="282C3A"/>
                </a:solidFill>
                <a:latin typeface="Apple SD Gothic Neo"/>
              </a:rPr>
              <a:t>내 실험 정리: 원 논문의 메시지는 어디까지 유지되는가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22/23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실험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실험 파트를 연구 질문 기준으로 닫는다.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즉 내 실험은 원 논문의 strong-judge 메시지를 완전히 부정하지 않으면서도, 오픈소스 judge 환경에서는 더 보수적인 해석과 운영 규칙이 필요함을 보여줍니다.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57984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450592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judge scaling은 Qwen 동일 family 안에서는 분명한 개선 효과를 보였습니다.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8776" y="2048256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2157984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450592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남는 오류는 단순 noise가 아니라 순서 민감성과 format failure처럼 구조화됩니다.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675888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85616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078224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다수결보다 abstain처럼 불확실성을 관리하는 rule이 더 낫습니다.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8776" y="3675888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3785616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4078224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question reduction은 가능하지만 same-set upper bound와 hold-out safe zone을 분리해서 읽어야 합니다.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질문 받겠습니다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23/23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실험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논문과 실험 두 파트를 모두 닫고 질문으로 자연스럽게 넘긴다.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699516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28016" rIns="128016" tIns="128016" bIns="128016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질문은 크게 두 방향에서 나올 수 있습니다: 원 논문 자체의 설계와 해석, 그리고 내 실험이 그 논문을 어디까지 지지하는가.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특히 토론 포인트로는 closed judge 의존성, same-family scaling 해석, residual bias와 hold-out generalization을 같이 보면 좋습니다.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298448"/>
            <a:ext cx="3931920" cy="29260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핵심 해석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45920"/>
            <a:ext cx="3931920" cy="417880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128016" rIns="128016" tIns="128016" bIns="128016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1847088"/>
            <a:ext cx="3566160" cy="117043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질문 받겠습니다.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5" y="3419856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0143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Paper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5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benchmark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5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838943" y="3419856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7231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Protocol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3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judge 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7991855" y="4334256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0143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Experiment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5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scaling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838943" y="4334256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7231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3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bias / hold-out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