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89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안녕하세요. 오늘 발표는 두 가지를 동시에 하려는 자리입니다.</a:t>
            </a:r>
          </a:p>
          <a:p>
            <a:r>
              <a:t>첫째는 베이스 논문인 MT-Bench/Chatbot Arena 논문이 정확히 무엇을 제안했는지 다시 이해하는 논문 스터디이고,</a:t>
            </a:r>
          </a:p>
          <a:p>
            <a:r>
              <a:t>둘째는 제가 그 위에서 어떤 재현과 확장을 했는지를 보여드리는 랩미팅입니다.</a:t>
            </a:r>
          </a:p>
          <a:p>
            <a:endParaRPr/>
          </a:p>
          <a:p>
            <a:r>
              <a:t>그래서 발표 구조도 의도적으로 두 층으로 나눴습니다. 먼저 원 논문이 왜 등장했는지,</a:t>
            </a:r>
          </a:p>
          <a:p>
            <a:r>
              <a:t>MT-Bench와 LLM-as-a-Judge가 어떤 문제를 풀려고 했는지 설명한 다음,</a:t>
            </a:r>
          </a:p>
          <a:p>
            <a:r>
              <a:t>그다음부터는 제 Git 저장소 기준으로 phase별 실험을 따라가겠습니다.</a:t>
            </a:r>
          </a:p>
          <a:p>
            <a:endParaRPr/>
          </a:p>
          <a:p>
            <a:r>
              <a:t>오늘의 핵심 메시지는 세 가지입니다.</a:t>
            </a:r>
          </a:p>
          <a:p>
            <a:r>
              <a:t>첫째, 오픈소스 judge도 크기를 키우면 꽤 일관된 평가자가 될 수 있습니다.</a:t>
            </a:r>
          </a:p>
          <a:p>
            <a:r>
              <a:t>둘째, 다만 inconsistency가 줄어드는 것과 공정성이 높아지는 것은 같은 말이 아닙니다.</a:t>
            </a:r>
          </a:p>
          <a:p>
            <a:r>
              <a:t>셋째, 문항 수를 줄이는 문제는 same-set에서는 40문항이 강하지만,</a:t>
            </a:r>
          </a:p>
          <a:p>
            <a:r>
              <a:t>반복 hold-out으로 보면 60문항이 더 안전한 운영점이라는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사실상 청중의 집중을 정렬하는 슬라이드입니다.</a:t>
            </a:r>
          </a:p>
          <a:p>
            <a:r>
              <a:t>교수님이나 심사위원이 가장 불편해하는 건 발표자가 논문 설명과 자기 결과를 뒤섞어버리는 경우입니다.</a:t>
            </a:r>
          </a:p>
          <a:p>
            <a:r>
              <a:t>그래서 저는 먼저 베이스 논문을 독립적으로 설명하고, 그다음에 제 실험을 얹는 구조로 가겠습니다.</a:t>
            </a:r>
          </a:p>
          <a:p>
            <a:endParaRPr/>
          </a:p>
          <a:p>
            <a:r>
              <a:t>1부에서는 원 논문이 왜 기존 벤치마크를 문제 삼았는지, MT-Bench와 Chatbot Arena를 왜 만들었는지,</a:t>
            </a:r>
          </a:p>
          <a:p>
            <a:r>
              <a:t>그리고 GPT-4 judge를 어떻게 검증했는지를 짚겠습니다.</a:t>
            </a:r>
          </a:p>
          <a:p>
            <a:r>
              <a:t>2부에서는 제 Git 저장소 관점에서 파이프라인을 설명합니다. 어떤 코드가 있고, 어떤 phase가 있고,</a:t>
            </a:r>
          </a:p>
          <a:p>
            <a:r>
              <a:t>어디까지가 재현이고 어디부터가 확장인지 분리해서 말씀드리겠습니다.</a:t>
            </a:r>
          </a:p>
          <a:p>
            <a:r>
              <a:t>3부에서는 결과 해석과 결론입니다. 특히 same-set 결과와 repeated hold-out 결과를 분리해서 읽는 법,</a:t>
            </a:r>
          </a:p>
          <a:p>
            <a:r>
              <a:t>그리고 제가 이 연구를 어디까지 주장하고 어디서부터는 주장하지 않는지까지 솔직하게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원 논문은 아주 명확한 문제의식에서 출발합니다.</a:t>
            </a:r>
          </a:p>
          <a:p>
            <a:r>
              <a:t>기존 LLM 벤치마크, 예를 들어 MMLU나 HELM류는 모델의 핵심 능력을 보긴 하지만,</a:t>
            </a:r>
          </a:p>
          <a:p>
            <a:r>
              <a:t>사용자가 실제로 좋아하는 대화형 응답 품질과는 어긋나는 경우가 많다는 겁니다.</a:t>
            </a:r>
          </a:p>
          <a:p>
            <a:endParaRPr/>
          </a:p>
          <a:p>
            <a:r>
              <a:t>예를 들어 instruction following, multi-turn consistency, 답변의 유용성 같은 건</a:t>
            </a:r>
          </a:p>
          <a:p>
            <a:r>
              <a:t>정답이 하나로 떨어지는 객관식 점수만으로는 잘 측정되지 않습니다.</a:t>
            </a:r>
          </a:p>
          <a:p>
            <a:r>
              <a:t>그렇다고 사람 평가만 계속 하자니 비용과 시간이 너무 큽니다.</a:t>
            </a:r>
          </a:p>
          <a:p>
            <a:endParaRPr/>
          </a:p>
          <a:p>
            <a:r>
              <a:t>그래서 이 논문은 강한 LLM, 당시에는 GPT-4를 judge로 써서</a:t>
            </a:r>
          </a:p>
          <a:p>
            <a:r>
              <a:t>인간 선호를 근사할 수 있는지 체계적으로 보자고 합니다.</a:t>
            </a:r>
          </a:p>
          <a:p>
            <a:r>
              <a:t>즉 질문 자체가 “LLM이 다른 LLM을 채점해도 되나?”가 아니라,</a:t>
            </a:r>
          </a:p>
          <a:p>
            <a:r>
              <a:t>“그 판단이 인간 선호와 어느 정도까지 맞느냐”에 가깝습니다.</a:t>
            </a:r>
          </a:p>
          <a:p>
            <a:r>
              <a:t>이 발표의 나머지 절반은 사실 이 질문을 오픈소스 judge로 옮겨온 작업이라고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원 논문의 가장 큰 자산은 단순히 “GPT-4 judge 좋다”는 결론이 아니라,</a:t>
            </a:r>
          </a:p>
          <a:p>
            <a:r>
              <a:t>그 결론을 받쳐주는 데이터와 플랫폼을 같이 만들었다는 점입니다.</a:t>
            </a:r>
          </a:p>
          <a:p>
            <a:endParaRPr/>
          </a:p>
          <a:p>
            <a:r>
              <a:t>첫 번째가 MT-Bench입니다. 80개의 multi-turn 질문으로 구성되어 있고,</a:t>
            </a:r>
          </a:p>
          <a:p>
            <a:r>
              <a:t>카테고리는 writing, roleplay, extraction, reasoning, math, coding, STEM, humanities로 나뉩니다.</a:t>
            </a:r>
          </a:p>
          <a:p>
            <a:r>
              <a:t>여기서 중요한 건 질문이 단순히 다양하기만 한 게 아니라,</a:t>
            </a:r>
          </a:p>
          <a:p>
            <a:r>
              <a:t>최신 챗봇들 간 차이를 드러낼 수 있도록 의도적으로 challenging하게 설계되었다는 점입니다.</a:t>
            </a:r>
          </a:p>
          <a:p>
            <a:endParaRPr/>
          </a:p>
          <a:p>
            <a:r>
              <a:t>두 번째가 Chatbot Arena입니다. 이건 실제 사용자들이 두 모델과 동시에 대화하고,</a:t>
            </a:r>
          </a:p>
          <a:p>
            <a:r>
              <a:t>익명으로 어느 쪽이 더 나았는지 투표하는 구조입니다.</a:t>
            </a:r>
          </a:p>
          <a:p>
            <a:r>
              <a:t>그래서 MT-Bench가 controlled benchmark라면, Arena는 wild preference data에 가깝습니다.</a:t>
            </a:r>
          </a:p>
          <a:p>
            <a:r>
              <a:t>원 논문은 이 두 축을 함께 써서, controlled setting과 real-world preference setting을 동시에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원 논문이 좋은 이유는 단순히 agreement 숫자만 보여주지 않고,</a:t>
            </a:r>
          </a:p>
          <a:p>
            <a:r>
              <a:t>judge 자체의 한계도 같이 분석했다는 점입니다.</a:t>
            </a:r>
          </a:p>
          <a:p>
            <a:r>
              <a:t>대표적으로 position bias, verbosity bias, self-enhancement bias, 그리고 reasoning limitation을 다룹니다.</a:t>
            </a:r>
          </a:p>
          <a:p>
            <a:endParaRPr/>
          </a:p>
          <a:p>
            <a:r>
              <a:t>그리고 평가 방식도 매우 중요합니다. pairwise 비교를 AB와 BA 순서로 둘 다 돌리고,</a:t>
            </a:r>
          </a:p>
          <a:p>
            <a:r>
              <a:t>불일치하면 conservative하게 처리하는 방식은 이후 재현 연구들의 기본 프로토콜이 됐습니다.</a:t>
            </a:r>
          </a:p>
          <a:p>
            <a:r>
              <a:t>제가 이번 저장소에서 구현한 single-grade, pairwise, reference-guided grading도 결국 이 논문 Appendix를 따라간 구조입니다.</a:t>
            </a:r>
          </a:p>
          <a:p>
            <a:endParaRPr/>
          </a:p>
          <a:p>
            <a:r>
              <a:t>원 논문의 대표 결론은 GPT-4 judge가 인간 선호와 80% 이상 일치한다는 것입니다.</a:t>
            </a:r>
          </a:p>
          <a:p>
            <a:r>
              <a:t>여기서 중요한 포인트는 “인간보다 완벽하다”가 아니라</a:t>
            </a:r>
          </a:p>
          <a:p>
            <a:r>
              <a:t>“인간-인간 agreement와 비슷한 수준”이라는 표현입니다.</a:t>
            </a:r>
          </a:p>
          <a:p>
            <a:r>
              <a:t>즉 이 논문은 인간 평가를 완전히 대체하겠다는 게 아니라,</a:t>
            </a:r>
          </a:p>
          <a:p>
            <a:r>
              <a:t>비싼 인간 평가를 근사하는 scalable surrogate를 제안한 논문으로 읽는 게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베이스 논문 설명과 제 실험 설명 사이의 브리지입니다.</a:t>
            </a:r>
          </a:p>
          <a:p>
            <a:r>
              <a:t>청중 입장에서는 여기서 ‘그래서 도대체 어디까지가 재현이고, 어디부터가 새로운 분석이냐’를 알고 싶어합니다.</a:t>
            </a:r>
          </a:p>
          <a:p>
            <a:endParaRPr/>
          </a:p>
          <a:p>
            <a:r>
              <a:t>그대로 가져온 요소는 명확합니다.</a:t>
            </a:r>
          </a:p>
          <a:p>
            <a:r>
              <a:t>MT-Bench 80문항, single-grade, pairwise, reference-guided grading이라는 세 가지 judge 프로토콜,</a:t>
            </a:r>
          </a:p>
          <a:p>
            <a:r>
              <a:t>그리고 conservative한 pairwise 해석 철학은 전부 원 논문에서 그대로 이어받았습니다.</a:t>
            </a:r>
          </a:p>
          <a:p>
            <a:endParaRPr/>
          </a:p>
          <a:p>
            <a:r>
              <a:t>바꾼 부분도 분명합니다.</a:t>
            </a:r>
          </a:p>
          <a:p>
            <a:r>
              <a:t>judge를 GPT-4 하나로 고정하지 않고, 오픈소스 Qwen/InternLM과 외부 API judge인 GPT-4o-mini까지 붙였습니다.</a:t>
            </a:r>
          </a:p>
          <a:p>
            <a:r>
              <a:t>그리고 결과를 논문 표 수준이 아니라 raw JSONL, aggregated CSV, figure까지 모두 저장해서</a:t>
            </a:r>
          </a:p>
          <a:p>
            <a:r>
              <a:t>다시 계산 가능한 형태로 만들었습니다.</a:t>
            </a:r>
          </a:p>
          <a:p>
            <a:endParaRPr/>
          </a:p>
          <a:p>
            <a:r>
              <a:t>마지막으로 확장한 질문이 있습니다.</a:t>
            </a:r>
          </a:p>
          <a:p>
            <a:r>
              <a:t>judge scaling, residual position bias, abstain ensemble, tinyMT-Bench, exhaustive hold-out은</a:t>
            </a:r>
          </a:p>
          <a:p>
            <a:r>
              <a:t>원 논문이 직접 답하지 않았던 질문들입니다.</a:t>
            </a:r>
          </a:p>
          <a:p>
            <a:r>
              <a:t>즉 제 작업은 재현으로 시작하지만, 발표의 후반부는 재현 결과 위에 얹은 실증 확장이라고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여기서부터 제 연구가 왜 필요한지가 나옵니다.</a:t>
            </a:r>
          </a:p>
          <a:p>
            <a:r>
              <a:t>원 논문은 GPT-4 judge가 꽤 잘 맞는다는 걸 보였지만,</a:t>
            </a:r>
          </a:p>
          <a:p>
            <a:r>
              <a:t>실제 연구나 서비스 현장에서는 비용과 접근성 때문에 오픈소스 judge를 쓰고 싶어합니다.</a:t>
            </a:r>
          </a:p>
          <a:p>
            <a:r>
              <a:t>그런데 오픈소스 judge가 어느 정도까지 믿을 만한지에 대해서는</a:t>
            </a:r>
          </a:p>
          <a:p>
            <a:r>
              <a:t>당시에도, 그리고 지금도 아주 체계적인 답이 많지 않습니다.</a:t>
            </a:r>
          </a:p>
          <a:p>
            <a:endParaRPr/>
          </a:p>
          <a:p>
            <a:r>
              <a:t>그래서 저는 원 논문을 그대로 복제하는 데서 멈추지 않고 네 가지 질문을 새로 세웠습니다.</a:t>
            </a:r>
          </a:p>
          <a:p>
            <a:r>
              <a:t>judge 크기가 커질수록 inconsistency가 어떻게 변하는지,</a:t>
            </a:r>
          </a:p>
          <a:p>
            <a:r>
              <a:t>그 과정에서 남는 bias는 무엇인지,</a:t>
            </a:r>
          </a:p>
          <a:p>
            <a:r>
              <a:t>작은 judge 여러 개를 앙상블하면 큰 judge보다 나아지는지,</a:t>
            </a:r>
          </a:p>
          <a:p>
            <a:r>
              <a:t>마지막으로 MT-Bench 문항 수를 줄이면서도 서열을 보존할 수 있는지입니다.</a:t>
            </a:r>
          </a:p>
          <a:p>
            <a:endParaRPr/>
          </a:p>
          <a:p>
            <a:r>
              <a:t>이 지점이 발표에서 아주 중요합니다.</a:t>
            </a:r>
          </a:p>
          <a:p>
            <a:r>
              <a:t>저는 이 발표를 ‘원 논문을 다시 말하는 시간’이 아니라,</a:t>
            </a:r>
          </a:p>
          <a:p>
            <a:r>
              <a:t>‘원 논문의 프레임 위에서 오픈소스 judge를 실제 연구 도구로 쓸 수 있나를 검증하는 시간’으로 잡고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결과보다도 재현성에 관한 슬라이드입니다.</a:t>
            </a:r>
          </a:p>
          <a:p>
            <a:r>
              <a:t>심사나 랩미팅에서 자주 받는 질문이 “그래서 이건 한 번 돌린 실험인가, 아니면 다시 재현 가능한가?”입니다.</a:t>
            </a:r>
          </a:p>
          <a:p>
            <a:endParaRPr/>
          </a:p>
          <a:p>
            <a:r>
              <a:t>제 저장소는 그 점을 의식해서 구성했습니다.</a:t>
            </a:r>
          </a:p>
          <a:p>
            <a:r>
              <a:t>src 안에는 judge client, prompt, aggregation, CLI가 있고,</a:t>
            </a:r>
          </a:p>
          <a:p>
            <a:r>
              <a:t>scripts 안에는 generation, judge 실행, phase별 분석, 발표용 재집계가 있습니다.</a:t>
            </a:r>
          </a:p>
          <a:p>
            <a:r>
              <a:t>data는 raw answer와 judgment, summary csv를 분리해 놓았고,</a:t>
            </a:r>
          </a:p>
          <a:p>
            <a:r>
              <a:t>figures는 논문과 발표에 직접 들어가는 그림을 다시 생성할 수 있게 관리했습니다.</a:t>
            </a:r>
          </a:p>
          <a:p>
            <a:endParaRPr/>
          </a:p>
          <a:p>
            <a:r>
              <a:t>즉 이 repo는 결과를 예쁘게 모아둔 폴더가 아니라,</a:t>
            </a:r>
          </a:p>
          <a:p>
            <a:r>
              <a:t>질문 생성부터 평가, 집계, figure, 원고까지 연결되는 end-to-end 실험 환경입니다.</a:t>
            </a:r>
          </a:p>
          <a:p>
            <a:r>
              <a:t>나중에 마지막 슬라이드에서 다시 보겠지만,</a:t>
            </a:r>
          </a:p>
          <a:p>
            <a:r>
              <a:t>이 구조 덕분에 Phase 6 hold-out도 추가 GPU 없이 재분석만으로 강화할 수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발표 이후를 위한 안내서입니다.</a:t>
            </a:r>
          </a:p>
          <a:p>
            <a:r>
              <a:t>랩미팅이 끝나면 보통 교수님이나 동료가 저장소를 직접 열어보게 되는데,</a:t>
            </a:r>
          </a:p>
          <a:p>
            <a:r>
              <a:t>그때 어디부터 봐야 하는지 모르면 좋은 repo도 금방 피곤해집니다.</a:t>
            </a:r>
          </a:p>
          <a:p>
            <a:endParaRPr/>
          </a:p>
          <a:p>
            <a:r>
              <a:t>그래서 저는 산출물을 읽는 경로를 일부러 단순하게 만들었습니다.</a:t>
            </a:r>
          </a:p>
          <a:p>
            <a:r>
              <a:t>README는 서사와 핵심 메시지, data는 raw answer와 judgment, summary CSV,</a:t>
            </a:r>
          </a:p>
          <a:p>
            <a:r>
              <a:t>figures는 발표와 논문에 들어가는 시각화, paper는 원고와 PDF,</a:t>
            </a:r>
          </a:p>
          <a:p>
            <a:r>
              <a:t>presentation은 오늘 발표 파일과 노트를 담습니다.</a:t>
            </a:r>
          </a:p>
          <a:p>
            <a:endParaRPr/>
          </a:p>
          <a:p>
            <a:r>
              <a:t>실제로 검증이 필요할 때는 결론 문장 하나에서 출발해서</a:t>
            </a:r>
          </a:p>
          <a:p>
            <a:r>
              <a:t>해당 figure, 그 figure를 만든 CSV, 마지막으로 raw judgment JSONL까지 역으로 따라가면 됩니다.</a:t>
            </a:r>
          </a:p>
          <a:p>
            <a:r>
              <a:t>이건 단순 정리 습관이 아니라 연구 신뢰도를 높이는 설계라고 생각합니다.</a:t>
            </a:r>
          </a:p>
          <a:p>
            <a:endParaRPr/>
          </a:p>
          <a:p>
            <a:r>
              <a:t>발표에서 이 슬라이드를 짧게라도 넣는 이유는,</a:t>
            </a:r>
          </a:p>
          <a:p>
            <a:r>
              <a:t>제 작업이 단순히 ‘결과가 좋다’가 아니라 ‘다시 확인 가능하다’는 점을 보여주기 위해서입니다.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발표 전체의 지도 역할을 합니다.</a:t>
            </a:r>
          </a:p>
          <a:p>
            <a:r>
              <a:t>Phase를 숫자로만 나열하면 지루해지기 쉬운데, 각 phase의 존재 이유를 기억해 두시면 뒤 슬라이드가 훨씬 잘 들어옵니다.</a:t>
            </a:r>
          </a:p>
          <a:p>
            <a:endParaRPr/>
          </a:p>
          <a:p>
            <a:r>
              <a:t>Phase 1은 self-judge bias를 직접 확인하는 단계입니다.</a:t>
            </a:r>
          </a:p>
          <a:p>
            <a:r>
              <a:t>Phase 2는 외부 14B judge로 예비 sanity check를 하는 단계고,</a:t>
            </a:r>
          </a:p>
          <a:p>
            <a:r>
              <a:t>여기까지는 말 그대로 파이프라인이 제대로 도는지, 큰 그림이 맞는지 보는 준비운동입니다.</a:t>
            </a:r>
          </a:p>
          <a:p>
            <a:endParaRPr/>
          </a:p>
          <a:p>
            <a:r>
              <a:t>진짜 메인은 Phase 3입니다. Qwen 7B, 14B, 32B를 같은 family 안에서 비교하면서</a:t>
            </a:r>
          </a:p>
          <a:p>
            <a:r>
              <a:t>judge scaling을 관찰합니다. Phase 4와 5는 여기서 나온 결과가 Qwen 고유 현상이 아닌지 보는 보조 검증입니다.</a:t>
            </a:r>
          </a:p>
          <a:p>
            <a:r>
              <a:t>마지막 Phase 6은 문항 축소 결과를 hold-out 모델에서도 다시 보는 단계입니다.</a:t>
            </a:r>
          </a:p>
          <a:p>
            <a:endParaRPr/>
          </a:p>
          <a:p>
            <a:r>
              <a:t>이 발표에서는 Phase 3를 중심축으로 두고,</a:t>
            </a:r>
          </a:p>
          <a:p>
            <a:r>
              <a:t>Phase 4~6이 그 주장을 어디까지 보강하고 어디서부터는 한계를 드러내는지를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1과 2는 메인 결과로 쓰기보다는,</a:t>
            </a:r>
          </a:p>
          <a:p>
            <a:r>
              <a:t>왜 이후의 실험이 필요한지를 보여주는 출발점입니다.</a:t>
            </a:r>
          </a:p>
          <a:p>
            <a:endParaRPr/>
          </a:p>
          <a:p>
            <a:r>
              <a:t>먼저 self-judge를 해보면 Qwen2.5-7B가 자기 자신이나 유사 강점이 있는 카테고리를 높게 주는 경향이 드러납니다.</a:t>
            </a:r>
          </a:p>
          <a:p>
            <a:r>
              <a:t>특히 Math, Coding 쪽이 전형적입니다.</a:t>
            </a:r>
          </a:p>
          <a:p>
            <a:r>
              <a:t>이건 LLM-as-a-Judge를 쓸 때 가장 먼저 피해야 할 함정 중 하나입니다.</a:t>
            </a:r>
          </a:p>
          <a:p>
            <a:endParaRPr/>
          </a:p>
          <a:p>
            <a:r>
              <a:t>그래서 외부 judge를 도입한 게 Phase 2입니다.</a:t>
            </a:r>
          </a:p>
          <a:p>
            <a:r>
              <a:t>그런데 외부 judge를 쓰는 것만으로 문제가 끝나지는 않습니다.</a:t>
            </a:r>
          </a:p>
          <a:p>
            <a:r>
              <a:t>서열은 어느 정도 정리되지만, pairwise inconsistency 자체는 여전히 큽니다.</a:t>
            </a:r>
          </a:p>
          <a:p>
            <a:r>
              <a:t>즉 “self-judge만 아니면 된다”가 아니라,</a:t>
            </a:r>
          </a:p>
          <a:p>
            <a:r>
              <a:t>judge의 크기, 아키텍처, prompt 안정성까지 같이 봐야 한다는 교훈을 줍니다.</a:t>
            </a:r>
          </a:p>
          <a:p>
            <a:endParaRPr/>
          </a:p>
          <a:p>
            <a:r>
              <a:t>이 슬라이드의 결론은 단순합니다.</a:t>
            </a:r>
          </a:p>
          <a:p>
            <a:r>
              <a:t>Phase 1–2는 메인 claim이 아니라, 메인 실험을 설계하게 만든 문제 제기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발표의 중심입니다.</a:t>
            </a:r>
          </a:p>
          <a:p>
            <a:r>
              <a:t>제가 가장 강하게 주장할 수 있는 건 여기서 나온 same-family scaling 결과입니다.</a:t>
            </a:r>
          </a:p>
          <a:p>
            <a:endParaRPr/>
          </a:p>
          <a:p>
            <a:r>
              <a:t>핵심 수치는 아주 단순합니다.</a:t>
            </a:r>
          </a:p>
          <a:p>
            <a:r>
              <a:t>Qwen judge를 7B에서 14B, 다시 32B로 키우면 pairwise inconsistency가 78.75%에서 32.86%까지 단조 감소합니다.</a:t>
            </a:r>
          </a:p>
          <a:p>
            <a:r>
              <a:t>이건 굉장히 큰 변화입니다.</a:t>
            </a:r>
          </a:p>
          <a:p>
            <a:r>
              <a:t>동시에 single-grade 점수 범위도 더 넓어지기 때문에 모델 간 차이를 구분하는 능력도 좋아집니다.</a:t>
            </a:r>
          </a:p>
          <a:p>
            <a:endParaRPr/>
          </a:p>
          <a:p>
            <a:r>
              <a:t>다만 여기서 중요한 건 주장 수위를 지키는 겁니다.</a:t>
            </a:r>
          </a:p>
          <a:p>
            <a:r>
              <a:t>이건 `모든 judge에서 스케일링 법칙이 성립한다`가 아닙니다.</a:t>
            </a:r>
          </a:p>
          <a:p>
            <a:r>
              <a:t>정확히는 `Qwen2.5 동일 패밀리에서는 judge가 커질수록 inconsistency가 줄었다`는 empirical trend입니다.</a:t>
            </a:r>
          </a:p>
          <a:p>
            <a:endParaRPr/>
          </a:p>
          <a:p>
            <a:r>
              <a:t>저는 발표에서도 이 표현을 일부러 보수적으로 쓰고 있습니다.</a:t>
            </a:r>
          </a:p>
          <a:p>
            <a:r>
              <a:t>왜냐하면 이 한 슬라이드가 아무리 강해도, 같은 family의 세 점만 갖고 universal law처럼 말하면 바로 공격 포인트가 되기 때문입니다.</a:t>
            </a:r>
          </a:p>
          <a:p>
            <a:r>
              <a:t>그래서 뒤의 Phase 4와 5는 이 메인 슬라이드를 보조하는 역할로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개인적으로 가장 흥미로운 결과입니다.</a:t>
            </a:r>
          </a:p>
          <a:p>
            <a:r>
              <a:t>많은 사람이 judge가 커지면 그냥 더 좋아진다고 생각하기 쉬운데,</a:t>
            </a:r>
          </a:p>
          <a:p>
            <a:r>
              <a:t>제가 본 건 조금 다릅니다.</a:t>
            </a:r>
          </a:p>
          <a:p>
            <a:endParaRPr/>
          </a:p>
          <a:p>
            <a:r>
              <a:t>전체 inconsistency는 줄어듭니다. 그런데 남아 있는 불일치만 떼어 놓고 보면,</a:t>
            </a:r>
          </a:p>
          <a:p>
            <a:r>
              <a:t>그 대부분이 first-position bias와 연결됩니다.</a:t>
            </a:r>
          </a:p>
          <a:p>
            <a:r>
              <a:t>즉 작은 judge는 여기저기서 흔들리지만,</a:t>
            </a:r>
          </a:p>
          <a:p>
            <a:r>
              <a:t>큰 judge는 흔들리는 경우 자체는 줄어들되 남는 흔들림이 순서 민감성으로 집중된다는 뜻입니다.</a:t>
            </a:r>
          </a:p>
          <a:p>
            <a:endParaRPr/>
          </a:p>
          <a:p>
            <a:r>
              <a:t>이건 해석상 중요한 포인트입니다.</a:t>
            </a:r>
          </a:p>
          <a:p>
            <a:r>
              <a:t>‘더 큰 judge = 더 공정한 judge’가 아니라,</a:t>
            </a:r>
          </a:p>
          <a:p>
            <a:r>
              <a:t>‘더 큰 judge = 더 일관된 judge, 하지만 남은 불일치의 구조는 더 편향적일 수 있음’입니다.</a:t>
            </a:r>
          </a:p>
          <a:p>
            <a:endParaRPr/>
          </a:p>
          <a:p>
            <a:r>
              <a:t>오른쪽의 문항 변별도 결과는 다음 슬라이드들의 bridge입니다.</a:t>
            </a:r>
          </a:p>
          <a:p>
            <a:r>
              <a:t>Math, Coding, Reasoning에서 model score standard deviation이 크다는 건,</a:t>
            </a:r>
          </a:p>
          <a:p>
            <a:r>
              <a:t>이 문항들이 모델 서열을 가르는 데 더 유용하다는 의미입니다.</a:t>
            </a:r>
          </a:p>
          <a:p>
            <a:r>
              <a:t>즉 tinyMT-Bench는 갑자기 등장한 아이디어가 아니라,</a:t>
            </a:r>
          </a:p>
          <a:p>
            <a:r>
              <a:t>이 슬라이드의 변별도 분석에서 자연스럽게 이어진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4는 일부러 좋은 결과와 나쁜 결과를 같이 보여주는 슬라이드입니다.</a:t>
            </a:r>
          </a:p>
          <a:p>
            <a:r>
              <a:t>왜냐하면 이게 오히려 발표 전체의 신뢰도를 높이기 때문입니다.</a:t>
            </a:r>
          </a:p>
          <a:p>
            <a:endParaRPr/>
          </a:p>
          <a:p>
            <a:r>
              <a:t>InternLM2.5-20B는 생각보다 괜찮습니다.</a:t>
            </a:r>
          </a:p>
          <a:p>
            <a:r>
              <a:t>Qwen32와 Spearman rho가 0.893이기 때문에,</a:t>
            </a:r>
          </a:p>
          <a:p>
            <a:r>
              <a:t>적어도 seen-7 수준에서는 ‘모델 서열의 큰 흐름’이 유지된다고 말할 수 있습니다.</a:t>
            </a:r>
          </a:p>
          <a:p>
            <a:endParaRPr/>
          </a:p>
          <a:p>
            <a:r>
              <a:t>하지만 7B는 다릅니다.</a:t>
            </a:r>
          </a:p>
          <a:p>
            <a:r>
              <a:t>InternLM2.5-7B는 pairwise verdict format을 안정적으로 따르지 못해서,</a:t>
            </a:r>
          </a:p>
          <a:p>
            <a:r>
              <a:t>전체 record의 72.6%가 사실상 error로 남았습니다.</a:t>
            </a:r>
          </a:p>
          <a:p>
            <a:r>
              <a:t>이건 단순 파서 버그가 아니라, 작은 judge가 pairwise verdict prompt를 안정적으로 수행하지 못한 사례로 읽는 게 맞습니다.</a:t>
            </a:r>
          </a:p>
          <a:p>
            <a:endParaRPr/>
          </a:p>
          <a:p>
            <a:r>
              <a:t>이 슬라이드에서 청중이 기억해야 할 건 하나입니다.</a:t>
            </a:r>
          </a:p>
          <a:p>
            <a:r>
              <a:t>cross-family 결과를 보여주는 건 중요하지만,</a:t>
            </a:r>
          </a:p>
          <a:p>
            <a:r>
              <a:t>그 자체가 곧 높은 품질을 의미하지는 않습니다.</a:t>
            </a:r>
          </a:p>
          <a:p>
            <a:r>
              <a:t>특히 작은 open-weight judge를 pairwise judge로 쓸 때는 ‘모델 크기’와 ‘verdict format compliance’를 반드시 같이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 5는 제 발표에서 외적 타당성을 가장 강하게 받쳐주는 슬라이드입니다.</a:t>
            </a:r>
          </a:p>
          <a:p>
            <a:r>
              <a:t>GPT-4o-mini는 full GPT-4는 아니지만, 적어도 외부 API judge라는 기준점 역할은 충분히 합니다.</a:t>
            </a:r>
          </a:p>
          <a:p>
            <a:endParaRPr/>
          </a:p>
          <a:p>
            <a:r>
              <a:t>여기서 중요한 숫자는 Qwen32와의 rank agreement입니다.</a:t>
            </a:r>
          </a:p>
          <a:p>
            <a:r>
              <a:t>Spearman 0.964, Kendall tau 0.905면 seen-7 모델 서열은 거의 같다고 봐도 됩니다.</a:t>
            </a:r>
          </a:p>
          <a:p>
            <a:r>
              <a:t>그리고 pairwise inconsistency도 34% 정도라 Qwen32와 사실상 비슷한 수준입니다.</a:t>
            </a:r>
          </a:p>
          <a:p>
            <a:endParaRPr/>
          </a:p>
          <a:p>
            <a:r>
              <a:t>이 결과가 왜 중요하냐면,</a:t>
            </a:r>
          </a:p>
          <a:p>
            <a:r>
              <a:t>이제 저는 Qwen32 main result를 단순히 ‘Qwen family 안에서만 그럴 수 있다’고만 말하지 않아도 되기 때문입니다.</a:t>
            </a:r>
          </a:p>
          <a:p>
            <a:r>
              <a:t>적어도 외부 judge 하나를 붙였을 때 큰 서열 패턴은 유지된다는 걸 보였습니다.</a:t>
            </a:r>
          </a:p>
          <a:p>
            <a:endParaRPr/>
          </a:p>
          <a:p>
            <a:r>
              <a:t>다만 여기도 해석을 분리해야 합니다.</a:t>
            </a:r>
          </a:p>
          <a:p>
            <a:r>
              <a:t>rank pattern consistency와 question-level decision consistency는 다릅니다.</a:t>
            </a:r>
          </a:p>
          <a:p>
            <a:r>
              <a:t>exact pairwise agreement는 0.58 수준이기 때문에,</a:t>
            </a:r>
          </a:p>
          <a:p>
            <a:r>
              <a:t>두 judge가 각 질문마다 똑같이 판단한다고 말하면 과장입니다.</a:t>
            </a:r>
          </a:p>
          <a:p>
            <a:r>
              <a:t>이 슬라이드의 메시지는 ‘외부 기준점에서도 큰 흐름은 유지된다’입니다.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실무적으로는 이 슬라이드가 제일 즉답형입니다.</a:t>
            </a:r>
          </a:p>
          <a:p>
            <a:r>
              <a:t>많은 사람이 작은 judge 여러 개를 합치면 큰 judge 하나보다 나아질 거라고 기대합니다.</a:t>
            </a:r>
          </a:p>
          <a:p>
            <a:r>
              <a:t>그런데 제 결과는 그렇지 않다고 말합니다.</a:t>
            </a:r>
          </a:p>
          <a:p>
            <a:endParaRPr/>
          </a:p>
          <a:p>
            <a:r>
              <a:t>단순 다수결은 오히려 더 나빠집니다.</a:t>
            </a:r>
          </a:p>
          <a:p>
            <a:r>
              <a:t>왜냐하면 7B의 noisy한 inconsistent 표가 앙상블에 그대로 유입되기 때문입니다.</a:t>
            </a:r>
          </a:p>
          <a:p>
            <a:r>
              <a:t>이건 ensemble이 wisdom of crowds가 되려면 crowd 자체가 최소한의 품질을 가져야 한다는 걸 보여줍니다.</a:t>
            </a:r>
          </a:p>
          <a:p>
            <a:endParaRPr/>
          </a:p>
          <a:p>
            <a:r>
              <a:t>반대로 abstain 방식은 좋았습니다.</a:t>
            </a:r>
          </a:p>
          <a:p>
            <a:r>
              <a:t>inconsistent를 억지로 표로 세지 않고 기권으로 처리하면,</a:t>
            </a:r>
          </a:p>
          <a:p>
            <a:r>
              <a:t>결정적인 표가 있는 경우에만 winner를 선언하게 되고,</a:t>
            </a:r>
          </a:p>
          <a:p>
            <a:r>
              <a:t>결국 inconsistency가 24.70%까지 내려갑니다.</a:t>
            </a:r>
          </a:p>
          <a:p>
            <a:endParaRPr/>
          </a:p>
          <a:p>
            <a:r>
              <a:t>이 결과는 학술적으로도 흥미롭지만,</a:t>
            </a:r>
          </a:p>
          <a:p>
            <a:r>
              <a:t>실제로 judge system을 설계하는 입장에서는 더 유용합니다.</a:t>
            </a:r>
          </a:p>
          <a:p>
            <a:r>
              <a:t>즉 ‘모델 여러 개를 붙일 거면 voting rule부터 다시 설계하라’는 교훈을 줍니다.</a:t>
            </a:r>
          </a:p>
          <a:p>
            <a:r>
              <a:t>발표에서는 이 슬라이드를 practical takeaway로 강조하겠습니다.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문항 축소 결과의 출발점입니다.</a:t>
            </a:r>
          </a:p>
          <a:p>
            <a:r>
              <a:t>same-set이라는 건, 문항을 고를 때 쓴 모델 집합과 검증할 때 쓴 모델 집합이 같은 경우입니다.</a:t>
            </a:r>
          </a:p>
          <a:p>
            <a:r>
              <a:t>이 설정에서는 Top-Disc-40이 full-80 ranking을 완전히 보존했습니다.</a:t>
            </a:r>
          </a:p>
          <a:p>
            <a:endParaRPr/>
          </a:p>
          <a:p>
            <a:r>
              <a:t>그래서 초기에는 아주 매력적인 결과처럼 보입니다.</a:t>
            </a:r>
          </a:p>
          <a:p>
            <a:r>
              <a:t>80문항을 40문항으로 줄이면 비용을 절반으로 줄이면서도 순위는 그대로니까요.</a:t>
            </a:r>
          </a:p>
          <a:p>
            <a:r>
              <a:t>Top-Disc-25도 꽤 좋지만 0.964라는 건 실제로는 1개 순위 역전에 해당합니다.</a:t>
            </a:r>
          </a:p>
          <a:p>
            <a:endParaRPr/>
          </a:p>
          <a:p>
            <a:r>
              <a:t>다만 제가 same-set upper bound라는 표현을 계속 쓰는 이유는,</a:t>
            </a:r>
          </a:p>
          <a:p>
            <a:r>
              <a:t>이 결과가 선택과 검증을 같은 모델 집합에서 했기 때문입니다.</a:t>
            </a:r>
          </a:p>
          <a:p>
            <a:r>
              <a:t>즉 좋은 결과 자체는 사실이지만,</a:t>
            </a:r>
          </a:p>
          <a:p>
            <a:r>
              <a:t>이걸 곧바로 외부 일반화로 읽으면 안 됩니다.</a:t>
            </a:r>
          </a:p>
          <a:p>
            <a:endParaRPr/>
          </a:p>
          <a:p>
            <a:r>
              <a:t>그래서 다음 슬라이드가 중요합니다.</a:t>
            </a:r>
          </a:p>
          <a:p>
            <a:r>
              <a:t>same-set에서는 40문항이 예쁘게 나오지만,</a:t>
            </a:r>
          </a:p>
          <a:p>
            <a:r>
              <a:t>hold-out으로 가면 메시지가 조금 달라집니다.</a:t>
            </a:r>
          </a:p>
          <a:p>
            <a:r>
              <a:t>그리고 그 차이를 정직하게 보여주는 게 이 발표의 중요한 미덕이라고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이번 작업에서 가장 크게 업그레이드된 부분입니다.</a:t>
            </a:r>
          </a:p>
          <a:p>
            <a:r>
              <a:t>처음엔 single split hold-out만 있었는데, 그걸로는 운 좋은 한 번이라는 비판을 피하기 어려웠습니다.</a:t>
            </a:r>
          </a:p>
          <a:p>
            <a:r>
              <a:t>그래서 현재는 11개 모델 풀에서 4개를 test로 고르는 모든 조합, 즉 330개 split을 전부 돌렸습니다.</a:t>
            </a:r>
          </a:p>
          <a:p>
            <a:endParaRPr/>
          </a:p>
          <a:p>
            <a:r>
              <a:t>각 split마다 dev 7로 문항 변별도를 다시 계산해서 Top-Disc를 뽑고,</a:t>
            </a:r>
          </a:p>
          <a:p>
            <a:r>
              <a:t>같은 N에 대해 random subset 200개도 같이 비교했습니다.</a:t>
            </a:r>
          </a:p>
          <a:p>
            <a:r>
              <a:t>즉 이건 더 이상 pilot이 아니라 distributional result입니다.</a:t>
            </a:r>
          </a:p>
          <a:p>
            <a:endParaRPr/>
          </a:p>
          <a:p>
            <a:r>
              <a:t>결과를 보면 40문항도 충분히 강합니다.</a:t>
            </a:r>
          </a:p>
          <a:p>
            <a:r>
              <a:t>평균 rho가 세 judge 모두 random 평균보다 높고, split win rate도 78~86% 정도 나옵니다.</a:t>
            </a:r>
          </a:p>
          <a:p>
            <a:r>
              <a:t>하지만 발표에서 제가 더 강조하려는 건 60문항입니다.</a:t>
            </a:r>
          </a:p>
          <a:p>
            <a:r>
              <a:t>40문항은 same-set의 아름다운 upper bound이고,</a:t>
            </a:r>
          </a:p>
          <a:p>
            <a:r>
              <a:t>repeated hold-out까지 합치면 60문항이 더 안전한 cross-judge operating point로 보입니다.</a:t>
            </a:r>
          </a:p>
          <a:p>
            <a:endParaRPr/>
          </a:p>
          <a:p>
            <a:r>
              <a:t>이 슬라이드 덕분에 이제 tinyMT-Bench를 단순 아이디어 수준이 아니라,</a:t>
            </a:r>
          </a:p>
          <a:p>
            <a:r>
              <a:t>상당히 방어 가능한 경험적 권고 수준까지 올릴 수 있게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사실 발표 전체의 tone을 결정합니다.</a:t>
            </a:r>
          </a:p>
          <a:p>
            <a:r>
              <a:t>결과가 아무리 좋아도 범위를 잘못 말하면 점수를 잃습니다.</a:t>
            </a:r>
          </a:p>
          <a:p>
            <a:endParaRPr/>
          </a:p>
          <a:p>
            <a:r>
              <a:t>제가 지금 자신 있게 말할 수 있는 건 세 가지입니다.</a:t>
            </a:r>
          </a:p>
          <a:p>
            <a:r>
              <a:t>Qwen same-family에서는 judge가 커질수록 inconsistency가 줄었습니다.</a:t>
            </a:r>
          </a:p>
          <a:p>
            <a:r>
              <a:t>InternLM20B와 GPT-4o-mini를 붙여도 큰 서열은 유지됩니다.</a:t>
            </a:r>
          </a:p>
          <a:p>
            <a:r>
              <a:t>그리고 repeated hold-out 기준으로 보면 문항 축소는 60문항 정도가 가장 안전합니다.</a:t>
            </a:r>
          </a:p>
          <a:p>
            <a:endParaRPr/>
          </a:p>
          <a:p>
            <a:r>
              <a:t>반대로 아직 조심해야 하는 것도 분명합니다.</a:t>
            </a:r>
          </a:p>
          <a:p>
            <a:r>
              <a:t>현재 model pool은 같은 세대의 7B–11B open-weight chat 모델에 치우쳐 있습니다.</a:t>
            </a:r>
          </a:p>
          <a:p>
            <a:r>
              <a:t>그래서 이 결과를 70B급 모델이나 code-specialist 모델, 혹은 multilingual setting까지</a:t>
            </a:r>
          </a:p>
          <a:p>
            <a:r>
              <a:t>바로 일반화해서 말하는 건 과장입니다.</a:t>
            </a:r>
          </a:p>
          <a:p>
            <a:endParaRPr/>
          </a:p>
          <a:p>
            <a:r>
              <a:t>저는 이 슬라이드가 오히려 발표의 강점이라고 생각합니다.</a:t>
            </a:r>
          </a:p>
          <a:p>
            <a:r>
              <a:t>왜냐하면 청중은 ‘모든 걸 다 안다’고 말하는 발표보다,</a:t>
            </a:r>
          </a:p>
          <a:p>
            <a:r>
              <a:t>‘여기까지는 강하고, 여기서부터는 아직 열린 문제다’라고 말하는 발표를 더 신뢰하기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슬라이드에서는 세 문장만 남기겠습니다.</a:t>
            </a:r>
          </a:p>
          <a:p>
            <a:endParaRPr/>
          </a:p>
          <a:p>
            <a:r>
              <a:t>첫째, 베이스 논문은 GPT-4 judge가 인간 선호를 근사할 수 있다는 문을 열었습니다.</a:t>
            </a:r>
          </a:p>
          <a:p>
            <a:r>
              <a:t>둘째, 저는 그 문을 오픈소스 judge 쪽으로 옮겨 보면서,</a:t>
            </a:r>
          </a:p>
          <a:p>
            <a:r>
              <a:t>무엇이 실제로 믿을 만하고 무엇은 아직 조심해야 하는지 정리했습니다.</a:t>
            </a:r>
          </a:p>
          <a:p>
            <a:r>
              <a:t>셋째, 이 저장소는 결과표만 있는 게 아니라 raw judgment부터 figure, paper, 그리고 오늘 발표자료까지 재생성 가능한 연구 자산으로 정리했습니다.</a:t>
            </a:r>
          </a:p>
          <a:p>
            <a:endParaRPr/>
          </a:p>
          <a:p>
            <a:r>
              <a:t>발표 이후 질문이 들어오면 보통 세 갈래일 겁니다.</a:t>
            </a:r>
          </a:p>
          <a:p>
            <a:r>
              <a:t>왜 32B냐, 왜 60문항이냐, 그리고 왜 이 결과를 더 넓게 일반화하지 않느냐.</a:t>
            </a:r>
          </a:p>
          <a:p>
            <a:r>
              <a:t>이 슬라이드는 그 질문들에 대한 짧은 답변이기도 합니다.</a:t>
            </a:r>
          </a:p>
          <a:p>
            <a:endParaRPr/>
          </a:p>
          <a:p>
            <a:r>
              <a:t>제 답은 이렇습니다.</a:t>
            </a:r>
          </a:p>
          <a:p>
            <a:r>
              <a:t>32B는 현재 실험 범위에서 가장 좋은 open-weight judge였고,</a:t>
            </a:r>
          </a:p>
          <a:p>
            <a:r>
              <a:t>60문항은 repeated hold-out에서 가장 안전한 운영점이었고,</a:t>
            </a:r>
          </a:p>
          <a:p>
            <a:r>
              <a:t>그 이상의 일반화는 지금 당장 주장하지 않는 것이 더 학문적으로 정직합니다.</a:t>
            </a:r>
          </a:p>
          <a:p>
            <a:endParaRPr/>
          </a:p>
          <a:p>
            <a:r>
              <a:t>이상으로 발표를 마치고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01000" y="960120"/>
            <a:ext cx="4190695" cy="5897880"/>
          </a:xfrm>
          <a:prstGeom prst="rect">
            <a:avLst/>
          </a:prstGeom>
          <a:solidFill>
            <a:srgbClr val="EB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6858000" cy="1325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000" b="1">
                <a:solidFill>
                  <a:srgbClr val="13283A"/>
                </a:solidFill>
                <a:latin typeface="Apple SD Gothic Neo"/>
              </a:rPr>
              <a:t>오픈소스 LLM-as-a-Judge의
신뢰도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43200"/>
            <a:ext cx="64922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5C45"/>
                </a:solidFill>
                <a:latin typeface="Apple SD Gothic Neo"/>
              </a:rPr>
              <a:t>MT-Bench base paper study + reproduction + repo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429000"/>
            <a:ext cx="6675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>랩미팅 겸 논문스터디 발표
베이스 논문을 먼저 이해하고, 그 위에 제가 재현·확장한 부분을 단계별로 설명합니다.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6" y="491032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49651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메인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8464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Qwen 7B/14B/32B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480060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34056" y="491032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34056" y="49651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보조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518464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InternLM20B · GPT-4o-mini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80060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00016" y="491032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49651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Hold-out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518464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330 splits × 200 random draws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3283A"/>
                </a:solidFill>
                <a:latin typeface="Apple SD Gothic Neo"/>
              </a:rPr>
              <a:t>오늘 발표에서 답할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1783080"/>
            <a:ext cx="34290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베이스 논문은 무엇을 제안했고 왜 중요했는가?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내 재현 코드는 어디까지 원문을 따라갔고 어디서 확장했는가?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오픈소스 judge를 실제로 믿어도 되는가?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>
                <a:solidFill>
                  <a:srgbClr val="36454F"/>
                </a:solidFill>
                <a:latin typeface="Apple SD Gothic Neo"/>
              </a:defRPr>
            </a:pPr>
            <a:r>
              <a:t>• 비용을 줄이면서도 순위를 얼마나 보존할 수 있는가?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5321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36454F"/>
                </a:solidFill>
                <a:latin typeface="Apple SD Gothic Neo"/>
              </a:rPr>
              <a:t>박승현
CLINK Lab, Pusan National University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오늘 발표의 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20분 동안 무엇을 어떤 순서로 듣게 되는지 먼저 안정적으로 안내한다.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1부: 베이스 논문이 해결하려는 문제와 핵심 기여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2부: 내 재현 파이프라인과 Phase 1–6 실험 구조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3부: 메인 결과, Git 정리 방식, 그리고 최종 해석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논문이 해결하려던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MT-Bench 논문이 기존 평가 패러다임의 어떤 공백을 찔렀는지 이해시킨다.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기존 객관식 벤치마크는 open-ended, multi-turn 선호를 충분히 반영하지 못함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사람 선호를 직접 모으는 평가는 느리고 비싸서 반복 실험이 어려움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강한 LLM을 judge로 쓰면 인간 선호를 빠르게 근사할 수 있는가가 핵심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03520" cy="914400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Base paper question: “Can a strong LLM approximate human preference at scale?”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논문의 핵심 자산: MT-Bench와 Chatbot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논문이 어떤 benchmark와 human evidence를 만들었는지 구조적으로 설명한다.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MT-Bench: 8개 카테고리 × 10문항 = 80개 multi-turn 질문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Chatbot Arena: 익명 대결 플랫폼으로 실제 사용자 선호를 대규모 수집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공개 자산: 80문항, 3K expert votes, 30K conversations with human preferences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논문의 judge 프로토콜과 주요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논문을 자세히 설명하되, 우리가 재현할 프로토콜이 무엇인지 분명히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GPT-4 judge는 position, verbosity, self-enhancement bias 가능성을 함께 분석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bias 완화 후 GPT-4 judge는 human preference와 80%+ 수준으로 일치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결론: LLM-as-a-Judge는 scalable하고 explainable한 human preference 근사 도구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베이스 논문에서 무엇을 그대로 가져오고, 무엇을 바꿨는가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논문의 설계와 내 재현/확장 사이의 대응 관계를 명확히 연결한다.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그대로 가져온 것: 80문항 MT-Bench, single/pairwise/reference 3종 채점 구조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바꾼 것: GPT-4 judge를 Qwen·InternLM·GPT-4o-mini로 대체하고 raw artifact를 전부 저장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확장한 것: judge scaling, residual bias, ensemble, tinyMT-Bench, exhaustive hold-out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46320" cy="502920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</a:rPr>
              <a:t>이 발표는 ‘원 논문을 흉내 낸 실험’이 아니라, ‘원 논문의 프로토콜을 재현 가능한 오픈소스 파이프라인으로 옮긴 작업’입니다.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47688" y="22585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프로토콜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16568" y="22585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대체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오픈 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47688" y="335584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Phase 3–6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16568" y="335584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raw→paper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그렇다면 내가 재현에서 던진 질문은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원 논문의 공헌과 한계를 바탕으로 내 연구 질문이 어디서 생겼는지 연결한다.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원 논문은 강한 closed-source judge 중심, 오픈소스 judge 신뢰도는 미해결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judge 크기 변화, residual bias, ensemble, 문항 축소는 충분히 통합 분석되지 않음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따라서 재현 + 확장 질문 4개(RQ1–RQ4)를 새로 세움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내 Git 저장소는 무엇을 재현 가능하게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코드베이스가 단순 결과 저장소가 아니라 재현 가능한 연구 파이프라인이라는 점을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Repo 핵심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4297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`src/mtbench_repro/` — judge client, prompts, aggregation, CLI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`scripts/` — generation, judge 실행, phase 분석, 발표용 재집계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`data/` — answer/judgment/raw csv/result summary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`figures/` — 논문 및 발표에 바로 쓰는 핵심 그림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`paper/` — KCC 원고, blind 버전,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417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실행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55648"/>
            <a:ext cx="2926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1. 답변 생성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2. single / pairwise / reference judge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3. aggregate 및 csv 생성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4. figure 생성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5. README / paper 동기화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41732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재현성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55648"/>
            <a:ext cx="3749039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Phase별 raw judgment와 summary csv를 분리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mock / real 결과 분리 및 reference 별도 집계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PowerPoint용 figure까지 repo에서 다시 생성 가능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최종 발표 자료도 script 기반으로 생성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Git에서 실제로 어디를 보면 무엇이 보이는가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랩미팅 이후에도 저장소를 읽을 수 있도록 산출물 탐색 경로를 구체적으로 알려준다.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4864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`README.md`는 전체 서사, `data/`는 raw judgment와 요약 CSV, `figures/`는 발표/논문 그림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`paper/`에는 blind/non-blind 원고와 PDF, `presentation/`에는 오늘 발표자료와 대본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질문이 생기면 ‘결론 → figure → csv → raw jsonl’ 순서로 역추적하면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46320" cy="502920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ple SD Gothic Neo"/>
              </a:rPr>
              <a:t>교수님이 저장소를 훑으실 때는 README만 보지 말고, 결과 figure 옆의 CSV와 raw judgment까지 바로 연결되도록 설계했습니다.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47688" y="22585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서사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1488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16568" y="22585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5328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 +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47688" y="335584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figures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발표/논문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16568" y="335584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63016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ppt + 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1–6 전체 실험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발표 후반 결과를 이해할 수 있도록 phase별 역할을 미리 정렬한다.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3152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Self-judge bias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920240"/>
            <a:ext cx="502920" cy="502920"/>
          </a:xfrm>
          <a:prstGeom prst="ellipse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예비 비교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1920240"/>
            <a:ext cx="502920" cy="502920"/>
          </a:xfrm>
          <a:prstGeom prst="ellipse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메인 scaling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1920240"/>
            <a:ext cx="502920" cy="502920"/>
          </a:xfrm>
          <a:prstGeom prst="ellipse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InternLM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1920240"/>
            <a:ext cx="502920" cy="502920"/>
          </a:xfrm>
          <a:prstGeom prst="ellipse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GPT-4o-mini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1920240"/>
            <a:ext cx="502920" cy="502920"/>
          </a:xfrm>
          <a:prstGeom prst="ellipse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2011680"/>
            <a:ext cx="502920" cy="1371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P6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330 split hold-out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154680"/>
            <a:ext cx="106527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1–2: self-judge 편향과 예비 외부 judge sanity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3: 메인 same-family scaling 실험(Qwen 7B/14B/32B)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4–5: InternLM20B, GPT-4o-mini로 cross-family / external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6: 11개 모델 풀에서 exhaustive leave-4-out hold-out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1–2: self-judge 편향과 예비 sanity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외부 judge가 왜 필요한지, 그리고 메인 실험 전 무엇을 확인했는지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Qwen2.5-7B self-judge는 Math·Coding 점수를 과대평가하는 편향이 나타남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외부 14B judge 도입 후 서열은 안정화되지만 pairwise inconsistency는 여전히 높음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‘오픈소스 judge를 쓰자’보다 ‘어떤 judge를 어떻게 쓰나’가 더 중요함</a:t>
            </a:r>
          </a:p>
        </p:txBody>
      </p:sp>
      <p:pic>
        <p:nvPicPr>
          <p:cNvPr id="8" name="Picture 7" descr="fig0_phase1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2423160" cy="1196589"/>
          </a:xfrm>
          <a:prstGeom prst="rect">
            <a:avLst/>
          </a:prstGeom>
        </p:spPr>
      </p:pic>
      <p:pic>
        <p:nvPicPr>
          <p:cNvPr id="9" name="Picture 8" descr="fig2_overall_rank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1828800"/>
            <a:ext cx="2423160" cy="944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1: self-judge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초기 전체 서열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3: Qwen same-family scaling이 보여준 메인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Judge 크기 증가가 inconsistency를 어떻게 바꾸는지 메인 empirical trend를 각인시킨다.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Pairwise inconsistency: 7B 78.75% → 14B 46.85% → 32B 32.86%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점수 범위도 0.84pt → 1.13pt → 1.47pt로 확대되어 변별력 증가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메인 claim은 `Qwen same-family empirical trend`로 제한해서 읽어야 함</a:t>
            </a:r>
          </a:p>
        </p:txBody>
      </p:sp>
      <p:pic>
        <p:nvPicPr>
          <p:cNvPr id="8" name="Picture 7" descr="fig4_judge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2423160" cy="1043447"/>
          </a:xfrm>
          <a:prstGeom prst="rect">
            <a:avLst/>
          </a:prstGeom>
        </p:spPr>
      </p:pic>
      <p:pic>
        <p:nvPicPr>
          <p:cNvPr id="9" name="Picture 8" descr="fig5_phase3_sc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1828800"/>
            <a:ext cx="2423160" cy="1098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Judge scaling과 카테고리별 inconsistency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3 single-grade 점수 분포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3 심화: residual bias와 문항 변별도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단순히 inconsistency가 줄었다는 사실을 넘어, 남는 오류의 성격까지 설명한다.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32B judge의 남은 불일치 중 94.9%가 first-position win으로 연결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judge가 커질수록 ‘남는 오류’는 위치 편향 중심으로 농축됨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문항 변별도는 Math·Coding·Reasoning에서 특히 높아 tinyMT의 근거가 됨</a:t>
            </a:r>
          </a:p>
        </p:txBody>
      </p:sp>
      <p:pic>
        <p:nvPicPr>
          <p:cNvPr id="8" name="Picture 7" descr="fig11_position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2423160" cy="875057"/>
          </a:xfrm>
          <a:prstGeom prst="rect">
            <a:avLst/>
          </a:prstGeom>
        </p:spPr>
      </p:pic>
      <p:pic>
        <p:nvPicPr>
          <p:cNvPr id="9" name="Picture 8" descr="fig8_discrimin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1828800"/>
            <a:ext cx="2423160" cy="19460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Residual position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문항 변별도 분포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4: InternLM2.5는 무엇을 보여주고 무엇은 못 보여주는가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보조 cross-family judge의 가치와 실패 사례를 동시에 보여줘 신뢰도를 높인다.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InternLM2.5-20B는 Qwen32와 Spearman ρ=0.893로 broad ranking을 유지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반면 InternLM2.5-7B pairwise는 winner=error가 72.6%로 실전 judge로 부적합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‘cross-family check는 됨’, 하지만 ‘아무 7B judge나 pairwise에 쓰면 안 됨’</a:t>
            </a:r>
          </a:p>
        </p:txBody>
      </p:sp>
      <p:pic>
        <p:nvPicPr>
          <p:cNvPr id="8" name="Picture 7" descr="fig17_phase4_intern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83480" cy="20177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4: InternLM judge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Phase 5: GPT-4o-mini는 외부 기준점으로 충분한가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closed API judge를 외부 기준점으로 썼을 때 메인 결과가 얼마나 유지되는지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Qwen32 ↔ GPT-4o-mini: Spearman ρ=0.964, Kendall τ=0.905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Pairwise inconsistency도 33.99%로 Qwen32의 32.86%와 매우 유사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즉 Qwen32 결과는 완전한 closed-source artifact는 아님</a:t>
            </a:r>
          </a:p>
        </p:txBody>
      </p:sp>
      <p:pic>
        <p:nvPicPr>
          <p:cNvPr id="8" name="Picture 7" descr="fig18_phase5_gpt4o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2423160" cy="981098"/>
          </a:xfrm>
          <a:prstGeom prst="rect">
            <a:avLst/>
          </a:prstGeom>
        </p:spPr>
      </p:pic>
      <p:pic>
        <p:nvPicPr>
          <p:cNvPr id="9" name="Picture 8" descr="fig16_phase345_judge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2" y="1828800"/>
            <a:ext cx="2423160" cy="17248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5: GPT-4o-mini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45720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Phase 3/4/5 judge 요약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앙상블은 정말 큰 judge를 이길 수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실무적으로 가장 궁금한 질문 하나에 대해 명확한 yes/no를 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단순 다수결 앙상블은 오히려 단일 32B보다 나쁨: 58.63% &gt; 32.86%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inconsistent를 기권 처리한 abstain ensemble은 24.70%로 가장 낮음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핵심 교훈: 저품질 judge를 그냥 합치면 평균이 아니라 오염이 됨</a:t>
            </a:r>
          </a:p>
        </p:txBody>
      </p:sp>
      <p:pic>
        <p:nvPicPr>
          <p:cNvPr id="8" name="Picture 7" descr="fig13_ensembl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83480" cy="2121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다수결 vs 기권 앙상블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tinyMT-Bench same-set 결과: 왜 40문항이 강했는가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문항 축소 아이디어의 출발점과 same-set 상한을 명확히 설명한다.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same-set 기준 Top-Disc-40은 ρ=1.000으로 full-80 ranking을 완전 보존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Top-Disc-25도 ρ=0.964로 강하지만, 1개 순위 역전이 발생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same-set에서는 40문항이 가장 설득력 있는 비용 절감 upper bound</a:t>
            </a:r>
          </a:p>
        </p:txBody>
      </p:sp>
      <p:pic>
        <p:nvPicPr>
          <p:cNvPr id="8" name="Picture 7" descr="fig9_tiny_mt_b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83480" cy="17751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same-set tinyMT-Bench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Repeated hold-out 결과: 40문항은 강하고, 60문항은 더 안전하다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Phase 6가 lucky draw가 아니라 반복 hold-out 결과라는 점을 데이터로 보여준다.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11개 모델에서 leave-4-out hold-out 330 split, 각 N마다 random 200개 비교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Top-Disc-40 평균 ρ: Qwen 0.968 / InternLM20B 0.922 / GPT-4o-mini 0.959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judge 공통으로 더 안전한 구간은 Top-Disc-60: 0.998 / 0.995 / 0.972</a:t>
            </a:r>
          </a:p>
        </p:txBody>
      </p:sp>
      <p:pic>
        <p:nvPicPr>
          <p:cNvPr id="8" name="Picture 7" descr="fig15_tiny_mt_bench_gener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83480" cy="19429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6D7780"/>
                </a:solidFill>
                <a:latin typeface="Apple SD Gothic Neo"/>
              </a:rPr>
              <a:t>Repeated hold-out generalization 결과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그래서 이 연구에서 무엇을 믿고, 무엇은 아직 조심해야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주장의 범위와 한계를 스스로 통제해 발표 전체 신뢰도를 끌어올린다.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믿을 수 있는 것: Qwen same-family scaling trend, cross-family broad rank stability, repeated hold-out의 60문항 권고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조심할 것: 11개 모델 풀은 7B–11B same-era chat 모델 중심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아직 열린 질문: 70B급, code-specialist, multilingual 환경까지도 같은가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03520" cy="914400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좋은 발표는 강한 결과를 크게 말하고, 약한 결과를 정확히 말합니다.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64808" y="509320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8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same-family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강함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29016" y="509320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29016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cross-family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보조 검증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3496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93224" y="509320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93224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tinyMT hold-out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60문항 권고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7704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457432" y="509320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57432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남은 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cross-scale / multilingual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최종 정리: 베이스 논문을 넘어, 오픈소스 judge를 실제 도구로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097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0972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20/20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7548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3283A"/>
                </a:solidFill>
                <a:latin typeface="Apple SD Gothic Neo"/>
              </a:rPr>
              <a:t>이 슬라이드의 목적: 20분 발표의 메시지를 세 문장으로 남기고 토론으로 넘긴다.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tIns="128016" r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베이스 논문은 GPT-4 judge의 가능성을 열었고, 내 작업은 오픈소스 judge의 실전 신뢰도를 따졌다.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메인 결과는 `32B open-weight judge + abstain ensemble + 60문항 운영점`이다.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Git 저장소는 논문 결과뿐 아니라 raw judgment, figure, deck까지 다시 생성 가능하게 정리했다.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03520" cy="914400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질문 받겠습니다.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64808" y="509320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8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메인 실험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29016" y="509320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29016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보조 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Phase 4–6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3496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93224" y="5093208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93224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최신 점수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87/100 패키지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7704" y="498348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tIns="109728" rIns="109728" bIns="109728" anchor="t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457432" y="5093208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57432" y="51480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발표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432" y="536752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정직한 범위 설정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492240"/>
            <a:ext cx="1138428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4691</Words>
  <Application>Microsoft Macintosh PowerPoint</Application>
  <PresentationFormat>와이드스크린</PresentationFormat>
  <Paragraphs>540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박승현</cp:lastModifiedBy>
  <cp:revision>1</cp:revision>
  <dcterms:created xsi:type="dcterms:W3CDTF">2013-01-27T09:14:16Z</dcterms:created>
  <dcterms:modified xsi:type="dcterms:W3CDTF">2026-04-09T21:33:58Z</dcterms:modified>
  <cp:category/>
</cp:coreProperties>
</file>